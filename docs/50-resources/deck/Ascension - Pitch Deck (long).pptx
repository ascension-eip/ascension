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mo" charset="1" panose="020B0604020202020204"/>
      <p:regular r:id="rId18"/>
    </p:embeddedFont>
    <p:embeddedFont>
      <p:font typeface="DM Sans Bold" charset="1" panose="00000000000000000000"/>
      <p:regular r:id="rId19"/>
    </p:embeddedFont>
    <p:embeddedFont>
      <p:font typeface="DM Sans" charset="1" panose="00000000000000000000"/>
      <p:regular r:id="rId27"/>
    </p:embeddedFont>
    <p:embeddedFont>
      <p:font typeface="Arimo Bold" charset="1" panose="020B0704020202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6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Aujourd'hui, Olivier fait face à plusieurs problèmes, tout comme 3 millions de personnes qui font de l'escalade en France.</a:t>
            </a:r>
          </a:p>
          <a:p>
            <a:r>
              <a:rPr lang="en-US"/>
              <a:t>Olivier pratique régulièrement ce sport, mais il ne sait plus comment progresser car il n'a aucun retour sur sa grimpe.</a:t>
            </a:r>
          </a:p>
          <a:p>
            <a:r>
              <a:rPr lang="en-US"/>
              <a:t>Il est un peu perdu et hésite à prendre un coach, mais il ne peut pas payer un coach 50$ par heure.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 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SOURCES: </a:t>
            </a:r>
          </a:p>
          <a:p>
            <a:r>
              <a:rPr lang="en-US"/>
              <a:t>On estime qu'il y a plus de 3 millions de grimpeur·euses en France, dont au moins 2 millions fréquentent régulièrement les salles. Fait notable, 40 % des inscrit·es n'ont jamais grimpé en extérieur et ne le feront probablement jamais, préférant le confort et la sécurité des environnements indoor.</a:t>
            </a:r>
          </a:p>
          <a:p>
            <a:r>
              <a:rPr lang="en-US"/>
              <a:t>https://lehavre.theroof.fr/news/l-essor-des-salles-d-escalade-en-france-un-marche-en-pleine-ascension-779.html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C'est là qu'intervient  Ascension.</a:t>
            </a:r>
          </a:p>
          <a:p>
            <a:r>
              <a:rPr lang="en-US"/>
              <a:t/>
            </a:r>
          </a:p>
          <a:p>
            <a:r>
              <a:rPr lang="en-US"/>
              <a:t>Avec Ascension, vous pourrez analyser votre manière de grimper avec plusieurs métriques et statistiques, comme les angles de vos articulations et vous pourrez enfin comprendre pourquoi vous avez échoué grâce à l'IA qui vous donnera des conseils à chaque moment clé de votre grimpe. </a:t>
            </a:r>
          </a:p>
          <a:p>
            <a:r>
              <a:rPr lang="en-US"/>
              <a:t>(Par exemple, votre bras droit n'est pas assez tendu et votre bassin pas assez proche du mur)</a:t>
            </a:r>
          </a:p>
          <a:p>
            <a:r>
              <a:rPr lang="en-US"/>
              <a:t/>
            </a:r>
          </a:p>
          <a:p>
            <a:r>
              <a:rPr lang="en-US"/>
              <a:t>A terme, notre solution permettra à n'importe quel grimpeur de comparer sa grimpe avec quelqu'un d'autre, pour voir statistiquement pourquoi il a réussi et pas lui.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Mais c'est pas tout, notre solution propose également le mode fantôme.</a:t>
            </a:r>
          </a:p>
          <a:p>
            <a:r>
              <a:rPr lang="en-US"/>
              <a:t/>
            </a:r>
          </a:p>
          <a:p>
            <a:r>
              <a:rPr lang="en-US"/>
              <a:t>Souvent, en tant que pratiquants d'escalade, nous n'avons aucune idée de l'itinéraire à suivre sur une voie. C'est ce qu'on appelle la lecture de voie.</a:t>
            </a:r>
          </a:p>
          <a:p>
            <a:r>
              <a:rPr lang="en-US"/>
              <a:t>Et le mode fantôme est là pour ça. </a:t>
            </a:r>
          </a:p>
          <a:p>
            <a:r>
              <a:rPr lang="en-US"/>
              <a:t>Vous pourrez préalablement prendre en photo la voie, et laisser l'IA générer le fantôme qui vous montrera le meilleur chemin possible, adapté à votre morphologie et vos points faibles / forts.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Ascension permet également d'avoir des routines d'entraînements personnalisés, en fonction de nos objectifs, afin de s'améliorer continuellement.</a:t>
            </a:r>
          </a:p>
          <a:p>
            <a:r>
              <a:rPr lang="en-US"/>
              <a:t/>
            </a:r>
          </a:p>
          <a:p>
            <a:r>
              <a:rPr lang="en-US"/>
              <a:t>Vous pourrez partager vos routines avec vos amis et d'autres pratiquants.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Notre solution s'adresse à un marché massif : il faut savoir que l'escalade est aujourd'hui un sport en plein essor qui compte déjà 2 millions de pratiquants en France.</a:t>
            </a:r>
          </a:p>
          <a:p>
            <a:r>
              <a:rPr lang="en-US"/>
              <a:t/>
            </a:r>
          </a:p>
          <a:p>
            <a:r>
              <a:rPr lang="en-US"/>
              <a:t>Dans ce contexte, notre</a:t>
            </a:r>
          </a:p>
          <a:p>
            <a:r>
              <a:rPr lang="en-US"/>
              <a:t>Notre solution s'adresse à la fois aux grimpeurs amateurs (qui veulent juste un retour sur leur pratique), aux grimpeurs réguliers (qui souhaiteraient réellement s'améliorer sans avoir à payer un coach), aux coachs (pour analyser plusieurs élèves à la fois et faire les statistiques), mais aussi aux salles d'escalades qui souhaitent être partenaires afin de vendre l'abonnement dans leur offre.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Le marché mondial des infrastructures d'escalade est estimé à près de 2 milliards de dollars, avec une croissance annuelle moyenne de 6 à 7 % (source : Market Research Future).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2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1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Relationship Id="rId5" Target="../media/image15.png" Type="http://schemas.openxmlformats.org/officeDocument/2006/relationships/image"/><Relationship Id="rId6" Target="../embeddings/oleObject1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jpeg" Type="http://schemas.openxmlformats.org/officeDocument/2006/relationships/image"/><Relationship Id="rId7" Target="../media/image19.png" Type="http://schemas.openxmlformats.org/officeDocument/2006/relationships/image"/><Relationship Id="rId8" Target="../media/image2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10317" y="-4035600"/>
            <a:ext cx="10486082" cy="18312479"/>
            <a:chOff x="0" y="0"/>
            <a:chExt cx="13981443" cy="24416639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3981430" cy="24416638"/>
            </a:xfrm>
            <a:custGeom>
              <a:avLst/>
              <a:gdLst/>
              <a:ahLst/>
              <a:cxnLst/>
              <a:rect r="r" b="b" t="t" l="l"/>
              <a:pathLst>
                <a:path h="24416638" w="13981430">
                  <a:moveTo>
                    <a:pt x="13981430" y="0"/>
                  </a:moveTo>
                  <a:lnTo>
                    <a:pt x="0" y="0"/>
                  </a:lnTo>
                  <a:lnTo>
                    <a:pt x="0" y="24416638"/>
                  </a:lnTo>
                  <a:lnTo>
                    <a:pt x="13981430" y="24416638"/>
                  </a:lnTo>
                  <a:lnTo>
                    <a:pt x="13981430" y="0"/>
                  </a:lnTo>
                  <a:close/>
                </a:path>
              </a:pathLst>
            </a:custGeom>
            <a:blipFill>
              <a:blip r:embed="rId2"/>
              <a:stretch>
                <a:fillRect l="-1304" t="0" r="-20921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12336485" y="4386243"/>
            <a:ext cx="10293125" cy="1661036"/>
            <a:chOff x="0" y="0"/>
            <a:chExt cx="13724166" cy="2214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4128" cy="2214753"/>
            </a:xfrm>
            <a:custGeom>
              <a:avLst/>
              <a:gdLst/>
              <a:ahLst/>
              <a:cxnLst/>
              <a:rect r="r" b="b" t="t" l="l"/>
              <a:pathLst>
                <a:path h="2214753" w="13724128">
                  <a:moveTo>
                    <a:pt x="0" y="0"/>
                  </a:moveTo>
                  <a:lnTo>
                    <a:pt x="13724128" y="0"/>
                  </a:lnTo>
                  <a:lnTo>
                    <a:pt x="13724128" y="2214753"/>
                  </a:lnTo>
                  <a:lnTo>
                    <a:pt x="0" y="22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0" t="-70743" r="0" b="-7074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0" y="0"/>
            <a:ext cx="18313565" cy="10287000"/>
          </a:xfrm>
          <a:custGeom>
            <a:avLst/>
            <a:gdLst/>
            <a:ahLst/>
            <a:cxnLst/>
            <a:rect r="r" b="b" t="t" l="l"/>
            <a:pathLst>
              <a:path h="10287000" w="18313565">
                <a:moveTo>
                  <a:pt x="0" y="0"/>
                </a:moveTo>
                <a:lnTo>
                  <a:pt x="18313565" y="0"/>
                </a:lnTo>
                <a:lnTo>
                  <a:pt x="1831356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9416" r="0" b="-9416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-12964"/>
            <a:ext cx="18328319" cy="10298163"/>
            <a:chOff x="0" y="0"/>
            <a:chExt cx="24437759" cy="13730884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24437721" cy="13730860"/>
            </a:xfrm>
            <a:custGeom>
              <a:avLst/>
              <a:gdLst/>
              <a:ahLst/>
              <a:cxnLst/>
              <a:rect r="r" b="b" t="t" l="l"/>
              <a:pathLst>
                <a:path h="13730860" w="24437721">
                  <a:moveTo>
                    <a:pt x="24437721" y="0"/>
                  </a:moveTo>
                  <a:lnTo>
                    <a:pt x="0" y="0"/>
                  </a:lnTo>
                  <a:lnTo>
                    <a:pt x="0" y="13730860"/>
                  </a:lnTo>
                  <a:lnTo>
                    <a:pt x="24437721" y="13730860"/>
                  </a:lnTo>
                  <a:lnTo>
                    <a:pt x="24437721" y="0"/>
                  </a:lnTo>
                  <a:close/>
                </a:path>
              </a:pathLst>
            </a:custGeom>
            <a:blipFill>
              <a:blip r:embed="rId2"/>
              <a:stretch>
                <a:fillRect l="-239" t="0" r="-1008" b="-134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0" y="0"/>
            <a:ext cx="18288000" cy="10273215"/>
            <a:chOff x="0" y="0"/>
            <a:chExt cx="24743994" cy="13899845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0" y="0"/>
              <a:ext cx="24744045" cy="13899896"/>
            </a:xfrm>
            <a:custGeom>
              <a:avLst/>
              <a:gdLst/>
              <a:ahLst/>
              <a:cxnLst/>
              <a:rect r="r" b="b" t="t" l="l"/>
              <a:pathLst>
                <a:path h="13899896" w="24744045">
                  <a:moveTo>
                    <a:pt x="24744045" y="0"/>
                  </a:moveTo>
                  <a:lnTo>
                    <a:pt x="0" y="0"/>
                  </a:lnTo>
                  <a:lnTo>
                    <a:pt x="0" y="13899896"/>
                  </a:lnTo>
                  <a:lnTo>
                    <a:pt x="24744045" y="13899896"/>
                  </a:lnTo>
                  <a:lnTo>
                    <a:pt x="24744045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829" t="0" r="-6728" b="-768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924005" y="6419517"/>
            <a:ext cx="10458002" cy="1085040"/>
            <a:chOff x="0" y="0"/>
            <a:chExt cx="13944003" cy="14467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43964" cy="1446657"/>
            </a:xfrm>
            <a:custGeom>
              <a:avLst/>
              <a:gdLst/>
              <a:ahLst/>
              <a:cxnLst/>
              <a:rect r="r" b="b" t="t" l="l"/>
              <a:pathLst>
                <a:path h="1446657" w="13943964">
                  <a:moveTo>
                    <a:pt x="0" y="0"/>
                  </a:moveTo>
                  <a:lnTo>
                    <a:pt x="13943964" y="0"/>
                  </a:lnTo>
                  <a:lnTo>
                    <a:pt x="13943964" y="1446657"/>
                  </a:lnTo>
                  <a:lnTo>
                    <a:pt x="0" y="1446657"/>
                  </a:lnTo>
                  <a:close/>
                </a:path>
              </a:pathLst>
            </a:custGeom>
            <a:blipFill>
              <a:blip r:embed="rId4"/>
              <a:stretch>
                <a:fillRect l="0" t="-137809" r="0" b="-13781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13944003" cy="1532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6"/>
                </a:lnSpc>
              </a:pPr>
              <a:r>
                <a:rPr lang="en-US" sz="3200">
                  <a:solidFill>
                    <a:srgbClr val="0F2A29"/>
                  </a:solidFill>
                  <a:latin typeface="Arimo"/>
                  <a:ea typeface="Arimo"/>
                  <a:cs typeface="Arimo"/>
                  <a:sym typeface="Arimo"/>
                </a:rPr>
                <a:t>Visualiser l’invisible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924005" y="2781357"/>
            <a:ext cx="10458002" cy="3180959"/>
            <a:chOff x="0" y="0"/>
            <a:chExt cx="13944003" cy="42412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944000" cy="4241280"/>
            </a:xfrm>
            <a:custGeom>
              <a:avLst/>
              <a:gdLst/>
              <a:ahLst/>
              <a:cxnLst/>
              <a:rect r="r" b="b" t="t" l="l"/>
              <a:pathLst>
                <a:path h="4241280" w="13944000">
                  <a:moveTo>
                    <a:pt x="0" y="0"/>
                  </a:moveTo>
                  <a:lnTo>
                    <a:pt x="13944000" y="0"/>
                  </a:lnTo>
                  <a:lnTo>
                    <a:pt x="13944000" y="4241280"/>
                  </a:lnTo>
                  <a:lnTo>
                    <a:pt x="0" y="4241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060" r="0" b="-140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3944003" cy="425080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Ascension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173458" y="180767"/>
            <a:ext cx="11941084" cy="6238750"/>
          </a:xfrm>
          <a:custGeom>
            <a:avLst/>
            <a:gdLst/>
            <a:ahLst/>
            <a:cxnLst/>
            <a:rect r="r" b="b" t="t" l="l"/>
            <a:pathLst>
              <a:path h="6238750" w="11941084">
                <a:moveTo>
                  <a:pt x="0" y="0"/>
                </a:moveTo>
                <a:lnTo>
                  <a:pt x="11941084" y="0"/>
                </a:lnTo>
                <a:lnTo>
                  <a:pt x="11941084" y="6238750"/>
                </a:lnTo>
                <a:lnTo>
                  <a:pt x="0" y="6238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52084" y="-4090321"/>
            <a:ext cx="10365838" cy="18475204"/>
            <a:chOff x="0" y="0"/>
            <a:chExt cx="13821118" cy="24633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21156" cy="24633555"/>
            </a:xfrm>
            <a:custGeom>
              <a:avLst/>
              <a:gdLst/>
              <a:ahLst/>
              <a:cxnLst/>
              <a:rect r="r" b="b" t="t" l="l"/>
              <a:pathLst>
                <a:path h="24633555" w="13821156">
                  <a:moveTo>
                    <a:pt x="0" y="0"/>
                  </a:moveTo>
                  <a:lnTo>
                    <a:pt x="13821156" y="0"/>
                  </a:lnTo>
                  <a:lnTo>
                    <a:pt x="13821156" y="24633555"/>
                  </a:lnTo>
                  <a:lnTo>
                    <a:pt x="0" y="2463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873" t="-1350" r="-225516" b="-35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4006444" y="-4041357"/>
            <a:ext cx="10275837" cy="18287276"/>
            <a:chOff x="0" y="0"/>
            <a:chExt cx="13701116" cy="243830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01140" cy="24382985"/>
            </a:xfrm>
            <a:custGeom>
              <a:avLst/>
              <a:gdLst/>
              <a:ahLst/>
              <a:cxnLst/>
              <a:rect r="r" b="b" t="t" l="l"/>
              <a:pathLst>
                <a:path h="24382985" w="13701140">
                  <a:moveTo>
                    <a:pt x="0" y="0"/>
                  </a:moveTo>
                  <a:lnTo>
                    <a:pt x="13701140" y="0"/>
                  </a:lnTo>
                  <a:lnTo>
                    <a:pt x="13701140" y="24382985"/>
                  </a:lnTo>
                  <a:lnTo>
                    <a:pt x="0" y="2438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16966" t="-3901" r="-46200" b="52337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62157" y="8801069"/>
            <a:ext cx="2781714" cy="2475726"/>
          </a:xfrm>
          <a:custGeom>
            <a:avLst/>
            <a:gdLst/>
            <a:ahLst/>
            <a:cxnLst/>
            <a:rect r="r" b="b" t="t" l="l"/>
            <a:pathLst>
              <a:path h="2475726" w="2781714">
                <a:moveTo>
                  <a:pt x="0" y="0"/>
                </a:moveTo>
                <a:lnTo>
                  <a:pt x="2781714" y="0"/>
                </a:lnTo>
                <a:lnTo>
                  <a:pt x="2781714" y="2475726"/>
                </a:lnTo>
                <a:lnTo>
                  <a:pt x="0" y="24757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9160258">
            <a:off x="13477758" y="-615534"/>
            <a:ext cx="6881480" cy="2640768"/>
          </a:xfrm>
          <a:custGeom>
            <a:avLst/>
            <a:gdLst/>
            <a:ahLst/>
            <a:cxnLst/>
            <a:rect r="r" b="b" t="t" l="l"/>
            <a:pathLst>
              <a:path h="2640768" w="6881480">
                <a:moveTo>
                  <a:pt x="0" y="0"/>
                </a:moveTo>
                <a:lnTo>
                  <a:pt x="6881479" y="0"/>
                </a:lnTo>
                <a:lnTo>
                  <a:pt x="6881479" y="2640768"/>
                </a:lnTo>
                <a:lnTo>
                  <a:pt x="0" y="26407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5000"/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145922" y="7087676"/>
            <a:ext cx="10801" cy="5763"/>
            <a:chOff x="0" y="0"/>
            <a:chExt cx="14402" cy="76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679840" y="6697437"/>
            <a:ext cx="4324" cy="1438"/>
            <a:chOff x="0" y="0"/>
            <a:chExt cx="5766" cy="191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089038" y="7077599"/>
            <a:ext cx="43920" cy="12964"/>
            <a:chOff x="0" y="0"/>
            <a:chExt cx="58560" cy="1728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35120" y="7090562"/>
            <a:ext cx="8639" cy="3600"/>
            <a:chOff x="0" y="0"/>
            <a:chExt cx="11519" cy="480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5145922" y="7094877"/>
            <a:ext cx="10801" cy="5763"/>
            <a:chOff x="0" y="0"/>
            <a:chExt cx="14402" cy="76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381457" y="2854740"/>
            <a:ext cx="5246370" cy="524637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33940" y="0"/>
                  </a:moveTo>
                  <a:lnTo>
                    <a:pt x="778860" y="0"/>
                  </a:lnTo>
                  <a:cubicBezTo>
                    <a:pt x="797604" y="0"/>
                    <a:pt x="812800" y="15196"/>
                    <a:pt x="812800" y="33940"/>
                  </a:cubicBezTo>
                  <a:lnTo>
                    <a:pt x="812800" y="778860"/>
                  </a:lnTo>
                  <a:cubicBezTo>
                    <a:pt x="812800" y="797604"/>
                    <a:pt x="797604" y="812800"/>
                    <a:pt x="778860" y="812800"/>
                  </a:cubicBezTo>
                  <a:lnTo>
                    <a:pt x="33940" y="812800"/>
                  </a:lnTo>
                  <a:cubicBezTo>
                    <a:pt x="15196" y="812800"/>
                    <a:pt x="0" y="797604"/>
                    <a:pt x="0" y="778860"/>
                  </a:cubicBezTo>
                  <a:lnTo>
                    <a:pt x="0" y="33940"/>
                  </a:lnTo>
                  <a:cubicBezTo>
                    <a:pt x="0" y="15196"/>
                    <a:pt x="15196" y="0"/>
                    <a:pt x="3394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39485" r="0" b="-39485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019399" y="2854740"/>
            <a:ext cx="4891519" cy="5246370"/>
            <a:chOff x="0" y="0"/>
            <a:chExt cx="897124" cy="96220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97124" cy="962205"/>
            </a:xfrm>
            <a:custGeom>
              <a:avLst/>
              <a:gdLst/>
              <a:ahLst/>
              <a:cxnLst/>
              <a:rect r="r" b="b" t="t" l="l"/>
              <a:pathLst>
                <a:path h="962205" w="897124">
                  <a:moveTo>
                    <a:pt x="36403" y="0"/>
                  </a:moveTo>
                  <a:lnTo>
                    <a:pt x="860721" y="0"/>
                  </a:lnTo>
                  <a:cubicBezTo>
                    <a:pt x="880826" y="0"/>
                    <a:pt x="897124" y="16298"/>
                    <a:pt x="897124" y="36403"/>
                  </a:cubicBezTo>
                  <a:lnTo>
                    <a:pt x="897124" y="925803"/>
                  </a:lnTo>
                  <a:cubicBezTo>
                    <a:pt x="897124" y="935457"/>
                    <a:pt x="893289" y="944716"/>
                    <a:pt x="886462" y="951543"/>
                  </a:cubicBezTo>
                  <a:cubicBezTo>
                    <a:pt x="879635" y="958370"/>
                    <a:pt x="870376" y="962205"/>
                    <a:pt x="860721" y="962205"/>
                  </a:cubicBezTo>
                  <a:lnTo>
                    <a:pt x="36403" y="962205"/>
                  </a:lnTo>
                  <a:cubicBezTo>
                    <a:pt x="26748" y="962205"/>
                    <a:pt x="17489" y="958370"/>
                    <a:pt x="10662" y="951543"/>
                  </a:cubicBezTo>
                  <a:cubicBezTo>
                    <a:pt x="3835" y="944716"/>
                    <a:pt x="0" y="935457"/>
                    <a:pt x="0" y="925803"/>
                  </a:cubicBezTo>
                  <a:lnTo>
                    <a:pt x="0" y="36403"/>
                  </a:lnTo>
                  <a:cubicBezTo>
                    <a:pt x="0" y="26748"/>
                    <a:pt x="3835" y="17489"/>
                    <a:pt x="10662" y="10662"/>
                  </a:cubicBezTo>
                  <a:cubicBezTo>
                    <a:pt x="17489" y="3835"/>
                    <a:pt x="26748" y="0"/>
                    <a:pt x="36403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42089" r="0" b="-25526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6785258" y="866775"/>
            <a:ext cx="4718209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Problème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10317" y="-4035600"/>
            <a:ext cx="10486082" cy="18312479"/>
            <a:chOff x="0" y="0"/>
            <a:chExt cx="13981443" cy="24416639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3981430" cy="24416638"/>
            </a:xfrm>
            <a:custGeom>
              <a:avLst/>
              <a:gdLst/>
              <a:ahLst/>
              <a:cxnLst/>
              <a:rect r="r" b="b" t="t" l="l"/>
              <a:pathLst>
                <a:path h="24416638" w="13981430">
                  <a:moveTo>
                    <a:pt x="13981430" y="0"/>
                  </a:moveTo>
                  <a:lnTo>
                    <a:pt x="0" y="0"/>
                  </a:lnTo>
                  <a:lnTo>
                    <a:pt x="0" y="24416638"/>
                  </a:lnTo>
                  <a:lnTo>
                    <a:pt x="13981430" y="24416638"/>
                  </a:lnTo>
                  <a:lnTo>
                    <a:pt x="13981430" y="0"/>
                  </a:lnTo>
                  <a:close/>
                </a:path>
              </a:pathLst>
            </a:custGeom>
            <a:blipFill>
              <a:blip r:embed="rId3"/>
              <a:stretch>
                <a:fillRect l="-1304" t="0" r="-20921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12336485" y="4386243"/>
            <a:ext cx="10293125" cy="1661036"/>
            <a:chOff x="0" y="0"/>
            <a:chExt cx="13724166" cy="2214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4128" cy="2214753"/>
            </a:xfrm>
            <a:custGeom>
              <a:avLst/>
              <a:gdLst/>
              <a:ahLst/>
              <a:cxnLst/>
              <a:rect r="r" b="b" t="t" l="l"/>
              <a:pathLst>
                <a:path h="2214753" w="13724128">
                  <a:moveTo>
                    <a:pt x="0" y="0"/>
                  </a:moveTo>
                  <a:lnTo>
                    <a:pt x="13724128" y="0"/>
                  </a:lnTo>
                  <a:lnTo>
                    <a:pt x="13724128" y="2214753"/>
                  </a:lnTo>
                  <a:lnTo>
                    <a:pt x="0" y="22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2218" t="0" r="-89327" b="-56753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5526798" cy="4856397"/>
            <a:chOff x="0" y="0"/>
            <a:chExt cx="20702397" cy="64751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02397" cy="6475222"/>
            </a:xfrm>
            <a:custGeom>
              <a:avLst/>
              <a:gdLst/>
              <a:ahLst/>
              <a:cxnLst/>
              <a:rect r="r" b="b" t="t" l="l"/>
              <a:pathLst>
                <a:path h="6475222" w="20702397">
                  <a:moveTo>
                    <a:pt x="0" y="0"/>
                  </a:moveTo>
                  <a:lnTo>
                    <a:pt x="20702397" y="0"/>
                  </a:lnTo>
                  <a:lnTo>
                    <a:pt x="20702397" y="6475222"/>
                  </a:lnTo>
                  <a:lnTo>
                    <a:pt x="0" y="6475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19646" t="-138025" r="-7357" b="966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0" y="0"/>
            <a:ext cx="9143276" cy="10286638"/>
            <a:chOff x="0" y="0"/>
            <a:chExt cx="12191035" cy="1371551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90984" cy="13715492"/>
            </a:xfrm>
            <a:custGeom>
              <a:avLst/>
              <a:gdLst/>
              <a:ahLst/>
              <a:cxnLst/>
              <a:rect r="r" b="b" t="t" l="l"/>
              <a:pathLst>
                <a:path h="13715492" w="12190984">
                  <a:moveTo>
                    <a:pt x="0" y="0"/>
                  </a:moveTo>
                  <a:lnTo>
                    <a:pt x="12190984" y="0"/>
                  </a:lnTo>
                  <a:lnTo>
                    <a:pt x="12190984" y="13715492"/>
                  </a:lnTo>
                  <a:lnTo>
                    <a:pt x="0" y="1371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705" r="0" b="-16705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555291" y="4446824"/>
            <a:ext cx="4035505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Solution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23304" y="0"/>
            <a:ext cx="9464696" cy="10287000"/>
          </a:xfrm>
          <a:custGeom>
            <a:avLst/>
            <a:gdLst/>
            <a:ahLst/>
            <a:cxnLst/>
            <a:rect r="r" b="b" t="t" l="l"/>
            <a:pathLst>
              <a:path h="10287000" w="9464696">
                <a:moveTo>
                  <a:pt x="0" y="0"/>
                </a:moveTo>
                <a:lnTo>
                  <a:pt x="9464696" y="0"/>
                </a:lnTo>
                <a:lnTo>
                  <a:pt x="94646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3809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8794" y="4373563"/>
            <a:ext cx="7162562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Mode fantôme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787481" y="8582874"/>
            <a:ext cx="2852013" cy="2925141"/>
          </a:xfrm>
          <a:custGeom>
            <a:avLst/>
            <a:gdLst/>
            <a:ahLst/>
            <a:cxnLst/>
            <a:rect r="r" b="b" t="t" l="l"/>
            <a:pathLst>
              <a:path h="2925141" w="2852013">
                <a:moveTo>
                  <a:pt x="0" y="0"/>
                </a:moveTo>
                <a:lnTo>
                  <a:pt x="2852012" y="0"/>
                </a:lnTo>
                <a:lnTo>
                  <a:pt x="2852012" y="2925142"/>
                </a:lnTo>
                <a:lnTo>
                  <a:pt x="0" y="29251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4000"/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23304" y="0"/>
            <a:ext cx="9464696" cy="10287000"/>
          </a:xfrm>
          <a:custGeom>
            <a:avLst/>
            <a:gdLst/>
            <a:ahLst/>
            <a:cxnLst/>
            <a:rect r="r" b="b" t="t" l="l"/>
            <a:pathLst>
              <a:path h="10287000" w="9464696">
                <a:moveTo>
                  <a:pt x="0" y="0"/>
                </a:moveTo>
                <a:lnTo>
                  <a:pt x="9464696" y="0"/>
                </a:lnTo>
                <a:lnTo>
                  <a:pt x="94646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3809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823304" y="0"/>
            <a:ext cx="9464696" cy="10287000"/>
            <a:chOff x="0" y="0"/>
            <a:chExt cx="764492" cy="8309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4492" cy="830912"/>
            </a:xfrm>
            <a:custGeom>
              <a:avLst/>
              <a:gdLst/>
              <a:ahLst/>
              <a:cxnLst/>
              <a:rect r="r" b="b" t="t" l="l"/>
              <a:pathLst>
                <a:path h="830912" w="764492">
                  <a:moveTo>
                    <a:pt x="0" y="0"/>
                  </a:moveTo>
                  <a:lnTo>
                    <a:pt x="764492" y="0"/>
                  </a:lnTo>
                  <a:lnTo>
                    <a:pt x="764492" y="830912"/>
                  </a:lnTo>
                  <a:lnTo>
                    <a:pt x="0" y="830912"/>
                  </a:lnTo>
                  <a:close/>
                </a:path>
              </a:pathLst>
            </a:custGeom>
            <a:blipFill>
              <a:blip r:embed="rId4"/>
              <a:stretch>
                <a:fillRect l="-31567" t="0" r="-31567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24068" y="3914775"/>
            <a:ext cx="7570012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Routines personnalisées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2212975"/>
            <a:ext cx="11301259" cy="6173313"/>
          </a:xfrm>
          <a:custGeom>
            <a:avLst/>
            <a:gdLst/>
            <a:ahLst/>
            <a:cxnLst/>
            <a:rect r="r" b="b" t="t" l="l"/>
            <a:pathLst>
              <a:path h="6173313" w="11301259">
                <a:moveTo>
                  <a:pt x="0" y="0"/>
                </a:moveTo>
                <a:lnTo>
                  <a:pt x="11301258" y="0"/>
                </a:lnTo>
                <a:lnTo>
                  <a:pt x="11301258" y="6173313"/>
                </a:lnTo>
                <a:lnTo>
                  <a:pt x="0" y="61733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93371" y="895350"/>
            <a:ext cx="11301259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Les cibles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10317" y="-4035600"/>
            <a:ext cx="10486082" cy="18312479"/>
            <a:chOff x="0" y="0"/>
            <a:chExt cx="13981443" cy="24416639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3981430" cy="24416638"/>
            </a:xfrm>
            <a:custGeom>
              <a:avLst/>
              <a:gdLst/>
              <a:ahLst/>
              <a:cxnLst/>
              <a:rect r="r" b="b" t="t" l="l"/>
              <a:pathLst>
                <a:path h="24416638" w="13981430">
                  <a:moveTo>
                    <a:pt x="13981430" y="0"/>
                  </a:moveTo>
                  <a:lnTo>
                    <a:pt x="0" y="0"/>
                  </a:lnTo>
                  <a:lnTo>
                    <a:pt x="0" y="24416638"/>
                  </a:lnTo>
                  <a:lnTo>
                    <a:pt x="13981430" y="24416638"/>
                  </a:lnTo>
                  <a:lnTo>
                    <a:pt x="13981430" y="0"/>
                  </a:lnTo>
                  <a:close/>
                </a:path>
              </a:pathLst>
            </a:custGeom>
            <a:blipFill>
              <a:blip r:embed="rId2"/>
              <a:stretch>
                <a:fillRect l="-1304" t="0" r="-20921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12336485" y="4386243"/>
            <a:ext cx="10293125" cy="1661036"/>
            <a:chOff x="0" y="0"/>
            <a:chExt cx="13724166" cy="2214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4128" cy="2214753"/>
            </a:xfrm>
            <a:custGeom>
              <a:avLst/>
              <a:gdLst/>
              <a:ahLst/>
              <a:cxnLst/>
              <a:rect r="r" b="b" t="t" l="l"/>
              <a:pathLst>
                <a:path h="2214753" w="13724128">
                  <a:moveTo>
                    <a:pt x="0" y="0"/>
                  </a:moveTo>
                  <a:lnTo>
                    <a:pt x="13724128" y="0"/>
                  </a:lnTo>
                  <a:lnTo>
                    <a:pt x="13724128" y="2214753"/>
                  </a:lnTo>
                  <a:lnTo>
                    <a:pt x="0" y="22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2218" t="0" r="-89327" b="-56753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5526798" cy="4856397"/>
            <a:chOff x="0" y="0"/>
            <a:chExt cx="20702397" cy="64751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02397" cy="6475222"/>
            </a:xfrm>
            <a:custGeom>
              <a:avLst/>
              <a:gdLst/>
              <a:ahLst/>
              <a:cxnLst/>
              <a:rect r="r" b="b" t="t" l="l"/>
              <a:pathLst>
                <a:path h="6475222" w="20702397">
                  <a:moveTo>
                    <a:pt x="0" y="0"/>
                  </a:moveTo>
                  <a:lnTo>
                    <a:pt x="20702397" y="0"/>
                  </a:lnTo>
                  <a:lnTo>
                    <a:pt x="20702397" y="6475222"/>
                  </a:lnTo>
                  <a:lnTo>
                    <a:pt x="0" y="6475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646" t="-138025" r="-7357" b="966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28700" y="2668675"/>
            <a:ext cx="4052831" cy="6589625"/>
            <a:chOff x="0" y="0"/>
            <a:chExt cx="1067412" cy="17355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7412" cy="1735539"/>
            </a:xfrm>
            <a:custGeom>
              <a:avLst/>
              <a:gdLst/>
              <a:ahLst/>
              <a:cxnLst/>
              <a:rect r="r" b="b" t="t" l="l"/>
              <a:pathLst>
                <a:path h="1735539" w="1067412">
                  <a:moveTo>
                    <a:pt x="97423" y="0"/>
                  </a:moveTo>
                  <a:lnTo>
                    <a:pt x="969990" y="0"/>
                  </a:lnTo>
                  <a:cubicBezTo>
                    <a:pt x="1023795" y="0"/>
                    <a:pt x="1067412" y="43618"/>
                    <a:pt x="1067412" y="97423"/>
                  </a:cubicBezTo>
                  <a:lnTo>
                    <a:pt x="1067412" y="1638116"/>
                  </a:lnTo>
                  <a:cubicBezTo>
                    <a:pt x="1067412" y="1663954"/>
                    <a:pt x="1057148" y="1688734"/>
                    <a:pt x="1038878" y="1707005"/>
                  </a:cubicBezTo>
                  <a:cubicBezTo>
                    <a:pt x="1020607" y="1725275"/>
                    <a:pt x="995828" y="1735539"/>
                    <a:pt x="969990" y="1735539"/>
                  </a:cubicBezTo>
                  <a:lnTo>
                    <a:pt x="97423" y="1735539"/>
                  </a:lnTo>
                  <a:cubicBezTo>
                    <a:pt x="71585" y="1735539"/>
                    <a:pt x="46805" y="1725275"/>
                    <a:pt x="28534" y="1707005"/>
                  </a:cubicBezTo>
                  <a:cubicBezTo>
                    <a:pt x="10264" y="1688734"/>
                    <a:pt x="0" y="1663954"/>
                    <a:pt x="0" y="1638116"/>
                  </a:cubicBezTo>
                  <a:lnTo>
                    <a:pt x="0" y="97423"/>
                  </a:lnTo>
                  <a:cubicBezTo>
                    <a:pt x="0" y="71585"/>
                    <a:pt x="10264" y="46805"/>
                    <a:pt x="28534" y="28534"/>
                  </a:cubicBezTo>
                  <a:cubicBezTo>
                    <a:pt x="46805" y="10264"/>
                    <a:pt x="71585" y="0"/>
                    <a:pt x="97423" y="0"/>
                  </a:cubicBezTo>
                  <a:close/>
                </a:path>
              </a:pathLst>
            </a:custGeom>
            <a:solidFill>
              <a:srgbClr val="0F2A2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67412" cy="17736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117585" y="2668675"/>
            <a:ext cx="4052831" cy="6589625"/>
            <a:chOff x="0" y="0"/>
            <a:chExt cx="1067412" cy="17355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7412" cy="1735539"/>
            </a:xfrm>
            <a:custGeom>
              <a:avLst/>
              <a:gdLst/>
              <a:ahLst/>
              <a:cxnLst/>
              <a:rect r="r" b="b" t="t" l="l"/>
              <a:pathLst>
                <a:path h="1735539" w="1067412">
                  <a:moveTo>
                    <a:pt x="97423" y="0"/>
                  </a:moveTo>
                  <a:lnTo>
                    <a:pt x="969990" y="0"/>
                  </a:lnTo>
                  <a:cubicBezTo>
                    <a:pt x="1023795" y="0"/>
                    <a:pt x="1067412" y="43618"/>
                    <a:pt x="1067412" y="97423"/>
                  </a:cubicBezTo>
                  <a:lnTo>
                    <a:pt x="1067412" y="1638116"/>
                  </a:lnTo>
                  <a:cubicBezTo>
                    <a:pt x="1067412" y="1663954"/>
                    <a:pt x="1057148" y="1688734"/>
                    <a:pt x="1038878" y="1707005"/>
                  </a:cubicBezTo>
                  <a:cubicBezTo>
                    <a:pt x="1020607" y="1725275"/>
                    <a:pt x="995828" y="1735539"/>
                    <a:pt x="969990" y="1735539"/>
                  </a:cubicBezTo>
                  <a:lnTo>
                    <a:pt x="97423" y="1735539"/>
                  </a:lnTo>
                  <a:cubicBezTo>
                    <a:pt x="71585" y="1735539"/>
                    <a:pt x="46805" y="1725275"/>
                    <a:pt x="28534" y="1707005"/>
                  </a:cubicBezTo>
                  <a:cubicBezTo>
                    <a:pt x="10264" y="1688734"/>
                    <a:pt x="0" y="1663954"/>
                    <a:pt x="0" y="1638116"/>
                  </a:cubicBezTo>
                  <a:lnTo>
                    <a:pt x="0" y="97423"/>
                  </a:lnTo>
                  <a:cubicBezTo>
                    <a:pt x="0" y="71585"/>
                    <a:pt x="10264" y="46805"/>
                    <a:pt x="28534" y="28534"/>
                  </a:cubicBezTo>
                  <a:cubicBezTo>
                    <a:pt x="46805" y="10264"/>
                    <a:pt x="71585" y="0"/>
                    <a:pt x="97423" y="0"/>
                  </a:cubicBezTo>
                  <a:close/>
                </a:path>
              </a:pathLst>
            </a:custGeom>
            <a:solidFill>
              <a:srgbClr val="016463"/>
            </a:solidFill>
            <a:ln w="38100" cap="rnd">
              <a:solidFill>
                <a:srgbClr val="0F2A29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67412" cy="17736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117344" y="2668675"/>
            <a:ext cx="4052831" cy="6589625"/>
            <a:chOff x="0" y="0"/>
            <a:chExt cx="1067412" cy="17355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7412" cy="1735539"/>
            </a:xfrm>
            <a:custGeom>
              <a:avLst/>
              <a:gdLst/>
              <a:ahLst/>
              <a:cxnLst/>
              <a:rect r="r" b="b" t="t" l="l"/>
              <a:pathLst>
                <a:path h="1735539" w="1067412">
                  <a:moveTo>
                    <a:pt x="97423" y="0"/>
                  </a:moveTo>
                  <a:lnTo>
                    <a:pt x="969990" y="0"/>
                  </a:lnTo>
                  <a:cubicBezTo>
                    <a:pt x="1023795" y="0"/>
                    <a:pt x="1067412" y="43618"/>
                    <a:pt x="1067412" y="97423"/>
                  </a:cubicBezTo>
                  <a:lnTo>
                    <a:pt x="1067412" y="1638116"/>
                  </a:lnTo>
                  <a:cubicBezTo>
                    <a:pt x="1067412" y="1663954"/>
                    <a:pt x="1057148" y="1688734"/>
                    <a:pt x="1038878" y="1707005"/>
                  </a:cubicBezTo>
                  <a:cubicBezTo>
                    <a:pt x="1020607" y="1725275"/>
                    <a:pt x="995828" y="1735539"/>
                    <a:pt x="969990" y="1735539"/>
                  </a:cubicBezTo>
                  <a:lnTo>
                    <a:pt x="97423" y="1735539"/>
                  </a:lnTo>
                  <a:cubicBezTo>
                    <a:pt x="71585" y="1735539"/>
                    <a:pt x="46805" y="1725275"/>
                    <a:pt x="28534" y="1707005"/>
                  </a:cubicBezTo>
                  <a:cubicBezTo>
                    <a:pt x="10264" y="1688734"/>
                    <a:pt x="0" y="1663954"/>
                    <a:pt x="0" y="1638116"/>
                  </a:cubicBezTo>
                  <a:lnTo>
                    <a:pt x="0" y="97423"/>
                  </a:lnTo>
                  <a:cubicBezTo>
                    <a:pt x="0" y="71585"/>
                    <a:pt x="10264" y="46805"/>
                    <a:pt x="28534" y="28534"/>
                  </a:cubicBezTo>
                  <a:cubicBezTo>
                    <a:pt x="46805" y="10264"/>
                    <a:pt x="71585" y="0"/>
                    <a:pt x="97423" y="0"/>
                  </a:cubicBezTo>
                  <a:close/>
                </a:path>
              </a:pathLst>
            </a:custGeom>
            <a:solidFill>
              <a:srgbClr val="0F2A2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67412" cy="17736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28700" y="1028700"/>
            <a:ext cx="162306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Analyse de la compétition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2851633"/>
            <a:ext cx="4052831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Coaching Privé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126943" y="2851633"/>
            <a:ext cx="404347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Ascension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17344" y="2851633"/>
            <a:ext cx="414195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Crimpd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38058" y="3613633"/>
            <a:ext cx="4043473" cy="549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Analyse du mouvement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Accompagnement individualisé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Accessibilité limitée et coûteuse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Progression continue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~50€ / heure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117585" y="3613633"/>
            <a:ext cx="4043473" cy="549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Analyse du mouvement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Mode Fantome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Reconnaissance de prises automatique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Génération de routines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personnalisées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24h/24 &amp; 7j/7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Gratuit ou 20€/mois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113384" y="3613633"/>
            <a:ext cx="4043473" cy="549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Pas d’analyse</a:t>
            </a:r>
          </a:p>
          <a:p>
            <a:pPr algn="ctr">
              <a:lnSpc>
                <a:spcPts val="2400"/>
              </a:lnSpc>
            </a:pPr>
          </a:p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Génération de routines statiques</a:t>
            </a:r>
          </a:p>
          <a:p>
            <a:pPr algn="ctr">
              <a:lnSpc>
                <a:spcPts val="2400"/>
              </a:lnSpc>
            </a:pPr>
          </a:p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Forte communauté</a:t>
            </a:r>
          </a:p>
          <a:p>
            <a:pPr algn="ctr">
              <a:lnSpc>
                <a:spcPts val="2400"/>
              </a:lnSpc>
            </a:pPr>
          </a:p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24h/24 &amp; 7j/7</a:t>
            </a:r>
          </a:p>
          <a:p>
            <a:pPr algn="ctr">
              <a:lnSpc>
                <a:spcPts val="2400"/>
              </a:lnSpc>
            </a:pPr>
          </a:p>
          <a:p>
            <a:pPr algn="ctr">
              <a:lnSpc>
                <a:spcPts val="2400"/>
              </a:lnSpc>
            </a:pPr>
          </a:p>
          <a:p>
            <a:pPr algn="ctr">
              <a:lnSpc>
                <a:spcPts val="2400"/>
              </a:lnSpc>
            </a:pPr>
          </a:p>
          <a:p>
            <a:pPr algn="ctr">
              <a:lnSpc>
                <a:spcPts val="2400"/>
              </a:lnSpc>
            </a:pPr>
          </a:p>
          <a:p>
            <a:pPr algn="ctr">
              <a:lnSpc>
                <a:spcPts val="2400"/>
              </a:lnSpc>
            </a:pPr>
          </a:p>
          <a:p>
            <a:pPr algn="ctr">
              <a:lnSpc>
                <a:spcPts val="2400"/>
              </a:lnSpc>
            </a:pPr>
          </a:p>
          <a:p>
            <a:pPr algn="ctr">
              <a:lnSpc>
                <a:spcPts val="2400"/>
              </a:lnSpc>
            </a:pPr>
          </a:p>
          <a:p>
            <a:pPr algn="ctr">
              <a:lnSpc>
                <a:spcPts val="2400"/>
              </a:lnSpc>
            </a:pPr>
          </a:p>
          <a:p>
            <a:pPr algn="ctr">
              <a:lnSpc>
                <a:spcPts val="2400"/>
              </a:lnSpc>
            </a:pPr>
          </a:p>
          <a:p>
            <a:pPr algn="ctr">
              <a:lnSpc>
                <a:spcPts val="2400"/>
              </a:lnSpc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Gratuit ou 13€/mois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10317" y="-4035600"/>
            <a:ext cx="10486082" cy="18312479"/>
            <a:chOff x="0" y="0"/>
            <a:chExt cx="13981443" cy="24416639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3981430" cy="24416638"/>
            </a:xfrm>
            <a:custGeom>
              <a:avLst/>
              <a:gdLst/>
              <a:ahLst/>
              <a:cxnLst/>
              <a:rect r="r" b="b" t="t" l="l"/>
              <a:pathLst>
                <a:path h="24416638" w="13981430">
                  <a:moveTo>
                    <a:pt x="13981430" y="0"/>
                  </a:moveTo>
                  <a:lnTo>
                    <a:pt x="0" y="0"/>
                  </a:lnTo>
                  <a:lnTo>
                    <a:pt x="0" y="24416638"/>
                  </a:lnTo>
                  <a:lnTo>
                    <a:pt x="13981430" y="24416638"/>
                  </a:lnTo>
                  <a:lnTo>
                    <a:pt x="13981430" y="0"/>
                  </a:lnTo>
                  <a:close/>
                </a:path>
              </a:pathLst>
            </a:custGeom>
            <a:blipFill>
              <a:blip r:embed="rId3"/>
              <a:stretch>
                <a:fillRect l="-1304" t="0" r="-20921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12336485" y="4386243"/>
            <a:ext cx="10293125" cy="1661036"/>
            <a:chOff x="0" y="0"/>
            <a:chExt cx="13724166" cy="2214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4128" cy="2214753"/>
            </a:xfrm>
            <a:custGeom>
              <a:avLst/>
              <a:gdLst/>
              <a:ahLst/>
              <a:cxnLst/>
              <a:rect r="r" b="b" t="t" l="l"/>
              <a:pathLst>
                <a:path h="2214753" w="13724128">
                  <a:moveTo>
                    <a:pt x="0" y="0"/>
                  </a:moveTo>
                  <a:lnTo>
                    <a:pt x="13724128" y="0"/>
                  </a:lnTo>
                  <a:lnTo>
                    <a:pt x="13724128" y="2214753"/>
                  </a:lnTo>
                  <a:lnTo>
                    <a:pt x="0" y="22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2218" t="0" r="-89327" b="-56753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5526798" cy="4856397"/>
            <a:chOff x="0" y="0"/>
            <a:chExt cx="20702397" cy="64751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02397" cy="6475222"/>
            </a:xfrm>
            <a:custGeom>
              <a:avLst/>
              <a:gdLst/>
              <a:ahLst/>
              <a:cxnLst/>
              <a:rect r="r" b="b" t="t" l="l"/>
              <a:pathLst>
                <a:path h="6475222" w="20702397">
                  <a:moveTo>
                    <a:pt x="0" y="0"/>
                  </a:moveTo>
                  <a:lnTo>
                    <a:pt x="20702397" y="0"/>
                  </a:lnTo>
                  <a:lnTo>
                    <a:pt x="20702397" y="6475222"/>
                  </a:lnTo>
                  <a:lnTo>
                    <a:pt x="0" y="6475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19646" t="-138025" r="-7357" b="9661"/>
              </a:stretch>
            </a:blipFill>
          </p:spPr>
        </p:sp>
      </p:grpSp>
      <p:graphicFrame>
        <p:nvGraphicFramePr>
          <p:cNvPr name="Object 8" id="8"/>
          <p:cNvGraphicFramePr/>
          <p:nvPr/>
        </p:nvGraphicFramePr>
        <p:xfrm>
          <a:off x="3616806" y="2594931"/>
          <a:ext cx="7543800" cy="3771900"/>
        </p:xfrm>
        <a:graphic>
          <a:graphicData uri="http://schemas.openxmlformats.org/presentationml/2006/ole">
            <p:oleObj imgW="9042400" imgH="52705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028700" y="1028700"/>
            <a:ext cx="162306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Notre offre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10317" y="-4035600"/>
            <a:ext cx="10486082" cy="18312479"/>
            <a:chOff x="0" y="0"/>
            <a:chExt cx="13981443" cy="24416639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3981430" cy="24416638"/>
            </a:xfrm>
            <a:custGeom>
              <a:avLst/>
              <a:gdLst/>
              <a:ahLst/>
              <a:cxnLst/>
              <a:rect r="r" b="b" t="t" l="l"/>
              <a:pathLst>
                <a:path h="24416638" w="13981430">
                  <a:moveTo>
                    <a:pt x="13981430" y="0"/>
                  </a:moveTo>
                  <a:lnTo>
                    <a:pt x="0" y="0"/>
                  </a:lnTo>
                  <a:lnTo>
                    <a:pt x="0" y="24416638"/>
                  </a:lnTo>
                  <a:lnTo>
                    <a:pt x="13981430" y="24416638"/>
                  </a:lnTo>
                  <a:lnTo>
                    <a:pt x="13981430" y="0"/>
                  </a:lnTo>
                  <a:close/>
                </a:path>
              </a:pathLst>
            </a:custGeom>
            <a:blipFill>
              <a:blip r:embed="rId2"/>
              <a:stretch>
                <a:fillRect l="-1304" t="0" r="-20921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12336485" y="4386243"/>
            <a:ext cx="10293125" cy="1661036"/>
            <a:chOff x="0" y="0"/>
            <a:chExt cx="13724166" cy="2214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4128" cy="2214753"/>
            </a:xfrm>
            <a:custGeom>
              <a:avLst/>
              <a:gdLst/>
              <a:ahLst/>
              <a:cxnLst/>
              <a:rect r="r" b="b" t="t" l="l"/>
              <a:pathLst>
                <a:path h="2214753" w="13724128">
                  <a:moveTo>
                    <a:pt x="0" y="0"/>
                  </a:moveTo>
                  <a:lnTo>
                    <a:pt x="13724128" y="0"/>
                  </a:lnTo>
                  <a:lnTo>
                    <a:pt x="13724128" y="2214753"/>
                  </a:lnTo>
                  <a:lnTo>
                    <a:pt x="0" y="22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2218" t="0" r="-89327" b="-56753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5526798" cy="4856397"/>
            <a:chOff x="0" y="0"/>
            <a:chExt cx="20702397" cy="64751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02397" cy="6475222"/>
            </a:xfrm>
            <a:custGeom>
              <a:avLst/>
              <a:gdLst/>
              <a:ahLst/>
              <a:cxnLst/>
              <a:rect r="r" b="b" t="t" l="l"/>
              <a:pathLst>
                <a:path h="6475222" w="20702397">
                  <a:moveTo>
                    <a:pt x="0" y="0"/>
                  </a:moveTo>
                  <a:lnTo>
                    <a:pt x="20702397" y="0"/>
                  </a:lnTo>
                  <a:lnTo>
                    <a:pt x="20702397" y="6475222"/>
                  </a:lnTo>
                  <a:lnTo>
                    <a:pt x="0" y="6475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646" t="-138025" r="-7357" b="966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39802" y="6462935"/>
            <a:ext cx="4324" cy="1438"/>
            <a:chOff x="0" y="0"/>
            <a:chExt cx="5766" cy="19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849724" y="6843812"/>
            <a:ext cx="43920" cy="12964"/>
            <a:chOff x="0" y="0"/>
            <a:chExt cx="58560" cy="172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895806" y="6856775"/>
            <a:ext cx="8639" cy="3600"/>
            <a:chOff x="0" y="0"/>
            <a:chExt cx="11519" cy="48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774622" y="4079039"/>
            <a:ext cx="2764772" cy="276477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6009" y="0"/>
                  </a:moveTo>
                  <a:lnTo>
                    <a:pt x="686791" y="0"/>
                  </a:lnTo>
                  <a:cubicBezTo>
                    <a:pt x="720211" y="0"/>
                    <a:pt x="752261" y="13276"/>
                    <a:pt x="775893" y="36907"/>
                  </a:cubicBezTo>
                  <a:cubicBezTo>
                    <a:pt x="799524" y="60538"/>
                    <a:pt x="812800" y="92589"/>
                    <a:pt x="812800" y="126009"/>
                  </a:cubicBezTo>
                  <a:lnTo>
                    <a:pt x="812800" y="686791"/>
                  </a:lnTo>
                  <a:cubicBezTo>
                    <a:pt x="812800" y="720211"/>
                    <a:pt x="799524" y="752261"/>
                    <a:pt x="775893" y="775893"/>
                  </a:cubicBezTo>
                  <a:cubicBezTo>
                    <a:pt x="752261" y="799524"/>
                    <a:pt x="720211" y="812800"/>
                    <a:pt x="686791" y="812800"/>
                  </a:cubicBezTo>
                  <a:lnTo>
                    <a:pt x="126009" y="812800"/>
                  </a:lnTo>
                  <a:cubicBezTo>
                    <a:pt x="92589" y="812800"/>
                    <a:pt x="60538" y="799524"/>
                    <a:pt x="36907" y="775893"/>
                  </a:cubicBezTo>
                  <a:cubicBezTo>
                    <a:pt x="13276" y="752261"/>
                    <a:pt x="0" y="720211"/>
                    <a:pt x="0" y="686791"/>
                  </a:cubicBezTo>
                  <a:lnTo>
                    <a:pt x="0" y="126009"/>
                  </a:lnTo>
                  <a:cubicBezTo>
                    <a:pt x="0" y="92589"/>
                    <a:pt x="13276" y="60538"/>
                    <a:pt x="36907" y="36907"/>
                  </a:cubicBezTo>
                  <a:cubicBezTo>
                    <a:pt x="60538" y="13276"/>
                    <a:pt x="92589" y="0"/>
                    <a:pt x="126009" y="0"/>
                  </a:cubicBezTo>
                  <a:close/>
                </a:path>
              </a:pathLst>
            </a:custGeom>
            <a:blipFill>
              <a:blip r:embed="rId4"/>
              <a:stretch>
                <a:fillRect l="-4166" t="-761" r="-2040" b="-7063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09128" y="4075389"/>
            <a:ext cx="2768422" cy="276842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5843" y="0"/>
                  </a:moveTo>
                  <a:lnTo>
                    <a:pt x="686957" y="0"/>
                  </a:lnTo>
                  <a:cubicBezTo>
                    <a:pt x="756458" y="0"/>
                    <a:pt x="812800" y="56342"/>
                    <a:pt x="812800" y="125843"/>
                  </a:cubicBezTo>
                  <a:lnTo>
                    <a:pt x="812800" y="686957"/>
                  </a:lnTo>
                  <a:cubicBezTo>
                    <a:pt x="812800" y="756458"/>
                    <a:pt x="756458" y="812800"/>
                    <a:pt x="686957" y="812800"/>
                  </a:cubicBezTo>
                  <a:lnTo>
                    <a:pt x="125843" y="812800"/>
                  </a:lnTo>
                  <a:cubicBezTo>
                    <a:pt x="56342" y="812800"/>
                    <a:pt x="0" y="756458"/>
                    <a:pt x="0" y="686957"/>
                  </a:cubicBezTo>
                  <a:lnTo>
                    <a:pt x="0" y="125843"/>
                  </a:lnTo>
                  <a:cubicBezTo>
                    <a:pt x="0" y="56342"/>
                    <a:pt x="56342" y="0"/>
                    <a:pt x="125843" y="0"/>
                  </a:cubicBezTo>
                  <a:close/>
                </a:path>
              </a:pathLst>
            </a:custGeom>
            <a:blipFill>
              <a:blip r:embed="rId5"/>
              <a:stretch>
                <a:fillRect l="-13228" t="0" r="-24403" b="-10019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930991" y="4075389"/>
            <a:ext cx="2768422" cy="2768422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5843" y="0"/>
                  </a:moveTo>
                  <a:lnTo>
                    <a:pt x="686957" y="0"/>
                  </a:lnTo>
                  <a:cubicBezTo>
                    <a:pt x="756458" y="0"/>
                    <a:pt x="812800" y="56342"/>
                    <a:pt x="812800" y="125843"/>
                  </a:cubicBezTo>
                  <a:lnTo>
                    <a:pt x="812800" y="686957"/>
                  </a:lnTo>
                  <a:cubicBezTo>
                    <a:pt x="812800" y="756458"/>
                    <a:pt x="756458" y="812800"/>
                    <a:pt x="686957" y="812800"/>
                  </a:cubicBezTo>
                  <a:lnTo>
                    <a:pt x="125843" y="812800"/>
                  </a:lnTo>
                  <a:cubicBezTo>
                    <a:pt x="56342" y="812800"/>
                    <a:pt x="0" y="756458"/>
                    <a:pt x="0" y="686957"/>
                  </a:cubicBezTo>
                  <a:lnTo>
                    <a:pt x="0" y="125843"/>
                  </a:lnTo>
                  <a:cubicBezTo>
                    <a:pt x="0" y="56342"/>
                    <a:pt x="56342" y="0"/>
                    <a:pt x="125843" y="0"/>
                  </a:cubicBezTo>
                  <a:close/>
                </a:path>
              </a:pathLst>
            </a:custGeom>
            <a:blipFill>
              <a:blip r:embed="rId6"/>
              <a:stretch>
                <a:fillRect l="-11949" t="0" r="-22451" b="-95556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691875" y="4095603"/>
            <a:ext cx="2764772" cy="276477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6009" y="0"/>
                  </a:moveTo>
                  <a:lnTo>
                    <a:pt x="686791" y="0"/>
                  </a:lnTo>
                  <a:cubicBezTo>
                    <a:pt x="720211" y="0"/>
                    <a:pt x="752261" y="13276"/>
                    <a:pt x="775893" y="36907"/>
                  </a:cubicBezTo>
                  <a:cubicBezTo>
                    <a:pt x="799524" y="60538"/>
                    <a:pt x="812800" y="92589"/>
                    <a:pt x="812800" y="126009"/>
                  </a:cubicBezTo>
                  <a:lnTo>
                    <a:pt x="812800" y="686791"/>
                  </a:lnTo>
                  <a:cubicBezTo>
                    <a:pt x="812800" y="720211"/>
                    <a:pt x="799524" y="752261"/>
                    <a:pt x="775893" y="775893"/>
                  </a:cubicBezTo>
                  <a:cubicBezTo>
                    <a:pt x="752261" y="799524"/>
                    <a:pt x="720211" y="812800"/>
                    <a:pt x="686791" y="812800"/>
                  </a:cubicBezTo>
                  <a:lnTo>
                    <a:pt x="126009" y="812800"/>
                  </a:lnTo>
                  <a:cubicBezTo>
                    <a:pt x="92589" y="812800"/>
                    <a:pt x="60538" y="799524"/>
                    <a:pt x="36907" y="775893"/>
                  </a:cubicBezTo>
                  <a:cubicBezTo>
                    <a:pt x="13276" y="752261"/>
                    <a:pt x="0" y="720211"/>
                    <a:pt x="0" y="686791"/>
                  </a:cubicBezTo>
                  <a:lnTo>
                    <a:pt x="0" y="126009"/>
                  </a:lnTo>
                  <a:cubicBezTo>
                    <a:pt x="0" y="92589"/>
                    <a:pt x="13276" y="60538"/>
                    <a:pt x="36907" y="36907"/>
                  </a:cubicBezTo>
                  <a:cubicBezTo>
                    <a:pt x="60538" y="13276"/>
                    <a:pt x="92589" y="0"/>
                    <a:pt x="126009" y="0"/>
                  </a:cubicBezTo>
                  <a:close/>
                </a:path>
              </a:pathLst>
            </a:custGeom>
            <a:blipFill>
              <a:blip r:embed="rId7"/>
              <a:stretch>
                <a:fillRect l="-14551" t="0" r="-22309" b="-99069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852807" y="4075389"/>
            <a:ext cx="2764772" cy="2764772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6009" y="0"/>
                  </a:moveTo>
                  <a:lnTo>
                    <a:pt x="686791" y="0"/>
                  </a:lnTo>
                  <a:cubicBezTo>
                    <a:pt x="720211" y="0"/>
                    <a:pt x="752261" y="13276"/>
                    <a:pt x="775893" y="36907"/>
                  </a:cubicBezTo>
                  <a:cubicBezTo>
                    <a:pt x="799524" y="60538"/>
                    <a:pt x="812800" y="92589"/>
                    <a:pt x="812800" y="126009"/>
                  </a:cubicBezTo>
                  <a:lnTo>
                    <a:pt x="812800" y="686791"/>
                  </a:lnTo>
                  <a:cubicBezTo>
                    <a:pt x="812800" y="720211"/>
                    <a:pt x="799524" y="752261"/>
                    <a:pt x="775893" y="775893"/>
                  </a:cubicBezTo>
                  <a:cubicBezTo>
                    <a:pt x="752261" y="799524"/>
                    <a:pt x="720211" y="812800"/>
                    <a:pt x="686791" y="812800"/>
                  </a:cubicBezTo>
                  <a:lnTo>
                    <a:pt x="126009" y="812800"/>
                  </a:lnTo>
                  <a:cubicBezTo>
                    <a:pt x="92589" y="812800"/>
                    <a:pt x="60538" y="799524"/>
                    <a:pt x="36907" y="775893"/>
                  </a:cubicBezTo>
                  <a:cubicBezTo>
                    <a:pt x="13276" y="752261"/>
                    <a:pt x="0" y="720211"/>
                    <a:pt x="0" y="686791"/>
                  </a:cubicBezTo>
                  <a:lnTo>
                    <a:pt x="0" y="126009"/>
                  </a:lnTo>
                  <a:cubicBezTo>
                    <a:pt x="0" y="92589"/>
                    <a:pt x="13276" y="60538"/>
                    <a:pt x="36907" y="36907"/>
                  </a:cubicBezTo>
                  <a:cubicBezTo>
                    <a:pt x="60538" y="13276"/>
                    <a:pt x="92589" y="0"/>
                    <a:pt x="126009" y="0"/>
                  </a:cubicBezTo>
                  <a:close/>
                </a:path>
              </a:pathLst>
            </a:custGeom>
            <a:blipFill>
              <a:blip r:embed="rId8"/>
              <a:stretch>
                <a:fillRect l="-11905" t="0" r="-24993" b="-99125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28700" y="1019175"/>
            <a:ext cx="1623060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Notre équipe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244198" y="7070405"/>
            <a:ext cx="149463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Developpeur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327032" y="7070405"/>
            <a:ext cx="149445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Developpeur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403988" y="7070405"/>
            <a:ext cx="150604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Developpeur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395723" y="7070405"/>
            <a:ext cx="168076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Chef de Projet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480426" y="7070405"/>
            <a:ext cx="166955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Chef D’équipe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38403" y="3380064"/>
            <a:ext cx="259923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Cristophe VANDEVOIR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161846" y="3380064"/>
            <a:ext cx="182483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Olivier POUECH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169704" y="3380064"/>
            <a:ext cx="196730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Lou PELLEGRINO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429735" y="3380064"/>
            <a:ext cx="161091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Gianni TUERO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461211" y="3380064"/>
            <a:ext cx="160099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Nicolas TORO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57051" y="4524375"/>
            <a:ext cx="7373898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Démonstration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506882" y="-296637"/>
            <a:ext cx="19295278" cy="10865520"/>
            <a:chOff x="0" y="0"/>
            <a:chExt cx="25727038" cy="14487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727025" cy="14487398"/>
            </a:xfrm>
            <a:custGeom>
              <a:avLst/>
              <a:gdLst/>
              <a:ahLst/>
              <a:cxnLst/>
              <a:rect r="r" b="b" t="t" l="l"/>
              <a:pathLst>
                <a:path h="14487398" w="25727025">
                  <a:moveTo>
                    <a:pt x="0" y="0"/>
                  </a:moveTo>
                  <a:lnTo>
                    <a:pt x="25727025" y="0"/>
                  </a:lnTo>
                  <a:lnTo>
                    <a:pt x="25727025" y="14487398"/>
                  </a:lnTo>
                  <a:lnTo>
                    <a:pt x="0" y="144873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2378" t="2613" r="2559" b="244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724" y="-5039"/>
            <a:ext cx="18311755" cy="10298163"/>
            <a:chOff x="0" y="0"/>
            <a:chExt cx="24415674" cy="137308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15623" cy="13730860"/>
            </a:xfrm>
            <a:custGeom>
              <a:avLst/>
              <a:gdLst/>
              <a:ahLst/>
              <a:cxnLst/>
              <a:rect r="r" b="b" t="t" l="l"/>
              <a:pathLst>
                <a:path h="13730860" w="24415623">
                  <a:moveTo>
                    <a:pt x="0" y="0"/>
                  </a:moveTo>
                  <a:lnTo>
                    <a:pt x="24415623" y="0"/>
                  </a:lnTo>
                  <a:lnTo>
                    <a:pt x="24415623" y="13730860"/>
                  </a:lnTo>
                  <a:lnTo>
                    <a:pt x="0" y="13730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109" t="0" r="-6578" b="-769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45922" y="7087676"/>
            <a:ext cx="10801" cy="5763"/>
            <a:chOff x="0" y="0"/>
            <a:chExt cx="14402" cy="76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79840" y="6697437"/>
            <a:ext cx="4324" cy="1438"/>
            <a:chOff x="0" y="0"/>
            <a:chExt cx="5766" cy="19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089038" y="7077599"/>
            <a:ext cx="43920" cy="12964"/>
            <a:chOff x="0" y="0"/>
            <a:chExt cx="58560" cy="172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135120" y="7090562"/>
            <a:ext cx="8639" cy="3600"/>
            <a:chOff x="0" y="0"/>
            <a:chExt cx="11519" cy="48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45922" y="7094877"/>
            <a:ext cx="10801" cy="5763"/>
            <a:chOff x="0" y="0"/>
            <a:chExt cx="14402" cy="7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2015280" y="4221723"/>
            <a:ext cx="8769601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Merci !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15280" y="6021948"/>
            <a:ext cx="876960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Vous avez des questions ?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DAHD0DLKYZI</dc:identifier>
  <dcterms:modified xsi:type="dcterms:W3CDTF">2011-08-01T06:04:30Z</dcterms:modified>
  <cp:revision>1</cp:revision>
  <dc:title>Ascension - Pitch Deck</dc:title>
</cp:coreProperties>
</file>