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Arimo" charset="1" panose="020B0604020202020204"/>
      <p:regular r:id="rId26"/>
    </p:embeddedFont>
    <p:embeddedFont>
      <p:font typeface="DM Sans Bold" charset="1" panose="00000000000000000000"/>
      <p:regular r:id="rId27"/>
    </p:embeddedFont>
    <p:embeddedFont>
      <p:font typeface="DM Sans" charset="1" panose="00000000000000000000"/>
      <p:regular r:id="rId28"/>
    </p:embeddedFont>
    <p:embeddedFont>
      <p:font typeface="Open Sans Bold" charset="1" panose="020B0806030504020204"/>
      <p:regular r:id="rId29"/>
    </p:embeddedFont>
    <p:embeddedFont>
      <p:font typeface="Open Sans" charset="1" panose="020B060603050402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5.png" Type="http://schemas.openxmlformats.org/officeDocument/2006/relationships/image"/><Relationship Id="rId6" Target="../embeddings/oleObject1.bin" Type="http://schemas.openxmlformats.org/officeDocument/2006/relationships/oleObjec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6.png" Type="http://schemas.openxmlformats.org/officeDocument/2006/relationships/image"/><Relationship Id="rId6" Target="../embeddings/oleObject2.bin" Type="http://schemas.openxmlformats.org/officeDocument/2006/relationships/oleObjec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7.png" Type="http://schemas.openxmlformats.org/officeDocument/2006/relationships/image"/><Relationship Id="rId6" Target="../embeddings/oleObject3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8.png" Type="http://schemas.openxmlformats.org/officeDocument/2006/relationships/image"/><Relationship Id="rId6" Target="../embeddings/oleObject4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9.png" Type="http://schemas.openxmlformats.org/officeDocument/2006/relationships/image"/><Relationship Id="rId6" Target="../embeddings/oleObject5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10.png" Type="http://schemas.openxmlformats.org/officeDocument/2006/relationships/image"/><Relationship Id="rId6" Target="../embeddings/oleObject6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13.png" Type="http://schemas.openxmlformats.org/officeDocument/2006/relationships/image"/><Relationship Id="rId6" Target="../embeddings/oleObject7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19.png" Type="http://schemas.openxmlformats.org/officeDocument/2006/relationships/image"/><Relationship Id="rId6" Target="../embeddings/oleObject8.bin" Type="http://schemas.openxmlformats.org/officeDocument/2006/relationships/oleObject"/><Relationship Id="rId7" Target="../media/image20.png" Type="http://schemas.openxmlformats.org/officeDocument/2006/relationships/image"/><Relationship Id="rId8" Target="../embeddings/oleObject9.bin" Type="http://schemas.openxmlformats.org/officeDocument/2006/relationships/oleObjec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embeddings/oleObject10.bin" Type="http://schemas.openxmlformats.org/officeDocument/2006/relationships/oleObjec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23.png" Type="http://schemas.openxmlformats.org/officeDocument/2006/relationships/image"/><Relationship Id="rId6" Target="../embeddings/oleObject11.bin" Type="http://schemas.openxmlformats.org/officeDocument/2006/relationships/oleObjec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24.png" Type="http://schemas.openxmlformats.org/officeDocument/2006/relationships/image"/><Relationship Id="rId6" Target="../embeddings/oleObject12.bin" Type="http://schemas.openxmlformats.org/officeDocument/2006/relationships/oleObject"/><Relationship Id="rId7" Target="../media/image2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26.png" Type="http://schemas.openxmlformats.org/officeDocument/2006/relationships/image"/><Relationship Id="rId6" Target="../embeddings/oleObject13.bin" Type="http://schemas.openxmlformats.org/officeDocument/2006/relationships/oleObjec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27.png" Type="http://schemas.openxmlformats.org/officeDocument/2006/relationships/image"/><Relationship Id="rId6" Target="../embeddings/oleObject14.bin" Type="http://schemas.openxmlformats.org/officeDocument/2006/relationships/oleObjec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-12964"/>
            <a:ext cx="18328319" cy="10298163"/>
            <a:chOff x="0" y="0"/>
            <a:chExt cx="24437759" cy="13730884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24437721" cy="13730860"/>
            </a:xfrm>
            <a:custGeom>
              <a:avLst/>
              <a:gdLst/>
              <a:ahLst/>
              <a:cxnLst/>
              <a:rect r="r" b="b" t="t" l="l"/>
              <a:pathLst>
                <a:path h="13730860" w="24437721">
                  <a:moveTo>
                    <a:pt x="24437721" y="0"/>
                  </a:moveTo>
                  <a:lnTo>
                    <a:pt x="0" y="0"/>
                  </a:lnTo>
                  <a:lnTo>
                    <a:pt x="0" y="13730860"/>
                  </a:lnTo>
                  <a:lnTo>
                    <a:pt x="24437721" y="13730860"/>
                  </a:lnTo>
                  <a:lnTo>
                    <a:pt x="24437721" y="0"/>
                  </a:lnTo>
                  <a:close/>
                </a:path>
              </a:pathLst>
            </a:custGeom>
            <a:blipFill>
              <a:blip r:embed="rId2"/>
              <a:stretch>
                <a:fillRect l="-239" t="0" r="-1008" b="-134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116643" y="-13678"/>
            <a:ext cx="18557996" cy="10424884"/>
            <a:chOff x="0" y="0"/>
            <a:chExt cx="24743994" cy="13899845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0" y="0"/>
              <a:ext cx="24744045" cy="13899896"/>
            </a:xfrm>
            <a:custGeom>
              <a:avLst/>
              <a:gdLst/>
              <a:ahLst/>
              <a:cxnLst/>
              <a:rect r="r" b="b" t="t" l="l"/>
              <a:pathLst>
                <a:path h="13899896" w="24744045">
                  <a:moveTo>
                    <a:pt x="24744045" y="0"/>
                  </a:moveTo>
                  <a:lnTo>
                    <a:pt x="0" y="0"/>
                  </a:lnTo>
                  <a:lnTo>
                    <a:pt x="0" y="13899896"/>
                  </a:lnTo>
                  <a:lnTo>
                    <a:pt x="24744045" y="13899896"/>
                  </a:lnTo>
                  <a:lnTo>
                    <a:pt x="24744045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829" t="0" r="-6728" b="-768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924005" y="6419517"/>
            <a:ext cx="10458002" cy="1085040"/>
            <a:chOff x="0" y="0"/>
            <a:chExt cx="13944003" cy="14467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43964" cy="1446657"/>
            </a:xfrm>
            <a:custGeom>
              <a:avLst/>
              <a:gdLst/>
              <a:ahLst/>
              <a:cxnLst/>
              <a:rect r="r" b="b" t="t" l="l"/>
              <a:pathLst>
                <a:path h="1446657" w="13943964">
                  <a:moveTo>
                    <a:pt x="0" y="0"/>
                  </a:moveTo>
                  <a:lnTo>
                    <a:pt x="13943964" y="0"/>
                  </a:lnTo>
                  <a:lnTo>
                    <a:pt x="13943964" y="1446657"/>
                  </a:lnTo>
                  <a:lnTo>
                    <a:pt x="0" y="1446657"/>
                  </a:lnTo>
                  <a:close/>
                </a:path>
              </a:pathLst>
            </a:custGeom>
            <a:blipFill>
              <a:blip r:embed="rId4"/>
              <a:stretch>
                <a:fillRect l="0" t="-137809" r="0" b="-13781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13944003" cy="1532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6"/>
                </a:lnSpc>
              </a:pPr>
              <a:r>
                <a:rPr lang="en-US" sz="3200">
                  <a:solidFill>
                    <a:srgbClr val="0F2A29"/>
                  </a:solidFill>
                  <a:latin typeface="Arimo"/>
                  <a:ea typeface="Arimo"/>
                  <a:cs typeface="Arimo"/>
                  <a:sym typeface="Arimo"/>
                </a:rPr>
                <a:t>Visualiser l’invisible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924005" y="2781357"/>
            <a:ext cx="10458002" cy="3180959"/>
            <a:chOff x="0" y="0"/>
            <a:chExt cx="13944003" cy="42412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944000" cy="4241280"/>
            </a:xfrm>
            <a:custGeom>
              <a:avLst/>
              <a:gdLst/>
              <a:ahLst/>
              <a:cxnLst/>
              <a:rect r="r" b="b" t="t" l="l"/>
              <a:pathLst>
                <a:path h="4241280" w="13944000">
                  <a:moveTo>
                    <a:pt x="0" y="0"/>
                  </a:moveTo>
                  <a:lnTo>
                    <a:pt x="13944000" y="0"/>
                  </a:lnTo>
                  <a:lnTo>
                    <a:pt x="13944000" y="4241280"/>
                  </a:lnTo>
                  <a:lnTo>
                    <a:pt x="0" y="4241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060" r="0" b="-1406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3944003" cy="425080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Ascension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173458" y="180767"/>
            <a:ext cx="11941084" cy="6238750"/>
          </a:xfrm>
          <a:custGeom>
            <a:avLst/>
            <a:gdLst/>
            <a:ahLst/>
            <a:cxnLst/>
            <a:rect r="r" b="b" t="t" l="l"/>
            <a:pathLst>
              <a:path h="6238750" w="11941084">
                <a:moveTo>
                  <a:pt x="0" y="0"/>
                </a:moveTo>
                <a:lnTo>
                  <a:pt x="11941084" y="0"/>
                </a:lnTo>
                <a:lnTo>
                  <a:pt x="11941084" y="6238750"/>
                </a:lnTo>
                <a:lnTo>
                  <a:pt x="0" y="6238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52084" y="-4090321"/>
            <a:ext cx="10365838" cy="18475204"/>
            <a:chOff x="0" y="0"/>
            <a:chExt cx="13821118" cy="24633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21156" cy="24633555"/>
            </a:xfrm>
            <a:custGeom>
              <a:avLst/>
              <a:gdLst/>
              <a:ahLst/>
              <a:cxnLst/>
              <a:rect r="r" b="b" t="t" l="l"/>
              <a:pathLst>
                <a:path h="24633555" w="13821156">
                  <a:moveTo>
                    <a:pt x="0" y="0"/>
                  </a:moveTo>
                  <a:lnTo>
                    <a:pt x="13821156" y="0"/>
                  </a:lnTo>
                  <a:lnTo>
                    <a:pt x="13821156" y="24633555"/>
                  </a:lnTo>
                  <a:lnTo>
                    <a:pt x="0" y="2463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873" t="-1350" r="-225516" b="-35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3997085" y="-3951356"/>
            <a:ext cx="10275837" cy="18287276"/>
            <a:chOff x="0" y="0"/>
            <a:chExt cx="13701116" cy="243830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01140" cy="24382985"/>
            </a:xfrm>
            <a:custGeom>
              <a:avLst/>
              <a:gdLst/>
              <a:ahLst/>
              <a:cxnLst/>
              <a:rect r="r" b="b" t="t" l="l"/>
              <a:pathLst>
                <a:path h="24382985" w="13701140">
                  <a:moveTo>
                    <a:pt x="0" y="0"/>
                  </a:moveTo>
                  <a:lnTo>
                    <a:pt x="13701140" y="0"/>
                  </a:lnTo>
                  <a:lnTo>
                    <a:pt x="13701140" y="24382985"/>
                  </a:lnTo>
                  <a:lnTo>
                    <a:pt x="0" y="2438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6966" t="-3901" r="-46200" b="5233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45922" y="7087676"/>
            <a:ext cx="10801" cy="5763"/>
            <a:chOff x="0" y="0"/>
            <a:chExt cx="14402" cy="76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79840" y="6697437"/>
            <a:ext cx="4324" cy="1438"/>
            <a:chOff x="0" y="0"/>
            <a:chExt cx="5766" cy="19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089038" y="7077599"/>
            <a:ext cx="43920" cy="12964"/>
            <a:chOff x="0" y="0"/>
            <a:chExt cx="58560" cy="172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135120" y="7090562"/>
            <a:ext cx="8639" cy="3600"/>
            <a:chOff x="0" y="0"/>
            <a:chExt cx="11519" cy="48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145922" y="7094877"/>
            <a:ext cx="10801" cy="5763"/>
            <a:chOff x="0" y="0"/>
            <a:chExt cx="14402" cy="76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28700" y="1085850"/>
            <a:ext cx="6877270" cy="1325753"/>
            <a:chOff x="0" y="0"/>
            <a:chExt cx="9169694" cy="17676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69691" cy="1767673"/>
            </a:xfrm>
            <a:custGeom>
              <a:avLst/>
              <a:gdLst/>
              <a:ahLst/>
              <a:cxnLst/>
              <a:rect r="r" b="b" t="t" l="l"/>
              <a:pathLst>
                <a:path h="1767673" w="9169691">
                  <a:moveTo>
                    <a:pt x="0" y="0"/>
                  </a:moveTo>
                  <a:lnTo>
                    <a:pt x="9169691" y="0"/>
                  </a:lnTo>
                  <a:lnTo>
                    <a:pt x="9169691" y="1767673"/>
                  </a:lnTo>
                  <a:lnTo>
                    <a:pt x="0" y="17676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583" t="0" r="-30465" b="-22758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9169694" cy="177719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400"/>
                </a:lnSpc>
              </a:pPr>
              <a:r>
                <a:rPr lang="en-US" sz="70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Needs &amp; Scope 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30013" y="2838358"/>
            <a:ext cx="14126710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Problématique: </a:t>
            </a:r>
            <a:r>
              <a:rPr lang="en-US" sz="3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Impossibilité d'analyser obje</a:t>
            </a:r>
            <a:r>
              <a:rPr lang="en-US" sz="3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ctivement sa technique d'escalade sans coach professionnel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30013" y="4743247"/>
            <a:ext cx="14126710" cy="370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500 000+ grimpeurs</a:t>
            </a:r>
            <a:r>
              <a:rPr lang="en-US" sz="3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en France (Fédération Française de Montagne et d'Escalade)</a:t>
            </a:r>
          </a:p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Marché mondial en croissance</a:t>
            </a:r>
            <a:r>
              <a:rPr lang="en-US" sz="3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: escalade discipline olympique depuis Tokyo 2020</a:t>
            </a:r>
          </a:p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Coût coach personnel</a:t>
            </a:r>
            <a:r>
              <a:rPr lang="en-US" sz="3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: 50-100€/heure → inaccessible pour majorité des pratiquants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43290" y="1397847"/>
            <a:ext cx="7906485" cy="806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7"/>
              </a:lnSpc>
            </a:pPr>
            <a:r>
              <a:rPr lang="en-US" sz="474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Needs Validation &amp; Inclusion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52084" y="-4090321"/>
            <a:ext cx="10365838" cy="18475204"/>
            <a:chOff x="0" y="0"/>
            <a:chExt cx="13821118" cy="24633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21156" cy="24633555"/>
            </a:xfrm>
            <a:custGeom>
              <a:avLst/>
              <a:gdLst/>
              <a:ahLst/>
              <a:cxnLst/>
              <a:rect r="r" b="b" t="t" l="l"/>
              <a:pathLst>
                <a:path h="24633555" w="13821156">
                  <a:moveTo>
                    <a:pt x="0" y="0"/>
                  </a:moveTo>
                  <a:lnTo>
                    <a:pt x="13821156" y="0"/>
                  </a:lnTo>
                  <a:lnTo>
                    <a:pt x="13821156" y="24633555"/>
                  </a:lnTo>
                  <a:lnTo>
                    <a:pt x="0" y="2463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873" t="-1350" r="-225516" b="-35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3997085" y="-3951356"/>
            <a:ext cx="10275837" cy="18287276"/>
            <a:chOff x="0" y="0"/>
            <a:chExt cx="13701116" cy="243830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01140" cy="24382985"/>
            </a:xfrm>
            <a:custGeom>
              <a:avLst/>
              <a:gdLst/>
              <a:ahLst/>
              <a:cxnLst/>
              <a:rect r="r" b="b" t="t" l="l"/>
              <a:pathLst>
                <a:path h="24382985" w="13701140">
                  <a:moveTo>
                    <a:pt x="0" y="0"/>
                  </a:moveTo>
                  <a:lnTo>
                    <a:pt x="13701140" y="0"/>
                  </a:lnTo>
                  <a:lnTo>
                    <a:pt x="13701140" y="24382985"/>
                  </a:lnTo>
                  <a:lnTo>
                    <a:pt x="0" y="2438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6966" t="-3901" r="-46200" b="5233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45922" y="7087676"/>
            <a:ext cx="10801" cy="5763"/>
            <a:chOff x="0" y="0"/>
            <a:chExt cx="14402" cy="76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79840" y="6697437"/>
            <a:ext cx="4324" cy="1438"/>
            <a:chOff x="0" y="0"/>
            <a:chExt cx="5766" cy="19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089038" y="7077599"/>
            <a:ext cx="43920" cy="12964"/>
            <a:chOff x="0" y="0"/>
            <a:chExt cx="58560" cy="172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135120" y="7090562"/>
            <a:ext cx="8639" cy="3600"/>
            <a:chOff x="0" y="0"/>
            <a:chExt cx="11519" cy="48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145922" y="7094877"/>
            <a:ext cx="10801" cy="5763"/>
            <a:chOff x="0" y="0"/>
            <a:chExt cx="14402" cy="76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28700" y="1085850"/>
            <a:ext cx="6877270" cy="1325753"/>
            <a:chOff x="0" y="0"/>
            <a:chExt cx="9169694" cy="17676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69691" cy="1767673"/>
            </a:xfrm>
            <a:custGeom>
              <a:avLst/>
              <a:gdLst/>
              <a:ahLst/>
              <a:cxnLst/>
              <a:rect r="r" b="b" t="t" l="l"/>
              <a:pathLst>
                <a:path h="1767673" w="9169691">
                  <a:moveTo>
                    <a:pt x="0" y="0"/>
                  </a:moveTo>
                  <a:lnTo>
                    <a:pt x="9169691" y="0"/>
                  </a:lnTo>
                  <a:lnTo>
                    <a:pt x="9169691" y="1767673"/>
                  </a:lnTo>
                  <a:lnTo>
                    <a:pt x="0" y="17676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583" t="0" r="-30465" b="-22758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9169694" cy="177719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400"/>
                </a:lnSpc>
              </a:pPr>
              <a:r>
                <a:rPr lang="en-US" sz="70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Needs &amp; Scope </a:t>
              </a:r>
            </a:p>
          </p:txBody>
        </p:sp>
      </p:grpSp>
      <p:graphicFrame>
        <p:nvGraphicFramePr>
          <p:cNvPr name="Object 25" id="25"/>
          <p:cNvGraphicFramePr/>
          <p:nvPr/>
        </p:nvGraphicFramePr>
        <p:xfrm>
          <a:off x="3364423" y="2714374"/>
          <a:ext cx="9429750" cy="2514600"/>
        </p:xfrm>
        <a:graphic>
          <a:graphicData uri="http://schemas.openxmlformats.org/presentationml/2006/ole">
            <p:oleObj imgW="11315700" imgH="43942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6" id="26"/>
          <p:cNvSpPr txBox="true"/>
          <p:nvPr/>
        </p:nvSpPr>
        <p:spPr>
          <a:xfrm rot="0">
            <a:off x="9343290" y="1397847"/>
            <a:ext cx="7906485" cy="806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7"/>
              </a:lnSpc>
            </a:pPr>
            <a:r>
              <a:rPr lang="en-US" sz="474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Needs Validation &amp; Inclusion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266253" y="7053015"/>
            <a:ext cx="7755493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</a:t>
            </a:r>
            <a:r>
              <a:rPr lang="en-US" b="true" sz="2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ontraintes handicap identifiées dès cette phase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Conformité WCAG 2.1 niveau AA obligatoire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Navigation vocale complète (VoiceOver iOS, TalkBack Android)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Contraste minimum 4.5:1 sur tous les éléments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Taille boutons minimum 48×48px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52084" y="-4090321"/>
            <a:ext cx="10365838" cy="18475204"/>
            <a:chOff x="0" y="0"/>
            <a:chExt cx="13821118" cy="24633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21156" cy="24633555"/>
            </a:xfrm>
            <a:custGeom>
              <a:avLst/>
              <a:gdLst/>
              <a:ahLst/>
              <a:cxnLst/>
              <a:rect r="r" b="b" t="t" l="l"/>
              <a:pathLst>
                <a:path h="24633555" w="13821156">
                  <a:moveTo>
                    <a:pt x="0" y="0"/>
                  </a:moveTo>
                  <a:lnTo>
                    <a:pt x="13821156" y="0"/>
                  </a:lnTo>
                  <a:lnTo>
                    <a:pt x="13821156" y="24633555"/>
                  </a:lnTo>
                  <a:lnTo>
                    <a:pt x="0" y="2463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873" t="-1350" r="-225516" b="-35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3997085" y="-3951356"/>
            <a:ext cx="10275837" cy="18287276"/>
            <a:chOff x="0" y="0"/>
            <a:chExt cx="13701116" cy="243830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01140" cy="24382985"/>
            </a:xfrm>
            <a:custGeom>
              <a:avLst/>
              <a:gdLst/>
              <a:ahLst/>
              <a:cxnLst/>
              <a:rect r="r" b="b" t="t" l="l"/>
              <a:pathLst>
                <a:path h="24382985" w="13701140">
                  <a:moveTo>
                    <a:pt x="0" y="0"/>
                  </a:moveTo>
                  <a:lnTo>
                    <a:pt x="13701140" y="0"/>
                  </a:lnTo>
                  <a:lnTo>
                    <a:pt x="13701140" y="24382985"/>
                  </a:lnTo>
                  <a:lnTo>
                    <a:pt x="0" y="2438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6966" t="-3901" r="-46200" b="5233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45922" y="7087676"/>
            <a:ext cx="10801" cy="5763"/>
            <a:chOff x="0" y="0"/>
            <a:chExt cx="14402" cy="76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79840" y="6697437"/>
            <a:ext cx="4324" cy="1438"/>
            <a:chOff x="0" y="0"/>
            <a:chExt cx="5766" cy="19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089038" y="7077599"/>
            <a:ext cx="43920" cy="12964"/>
            <a:chOff x="0" y="0"/>
            <a:chExt cx="58560" cy="172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135120" y="7090562"/>
            <a:ext cx="8639" cy="3600"/>
            <a:chOff x="0" y="0"/>
            <a:chExt cx="11519" cy="48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145922" y="7094877"/>
            <a:ext cx="10801" cy="5763"/>
            <a:chOff x="0" y="0"/>
            <a:chExt cx="14402" cy="76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28700" y="1028700"/>
            <a:ext cx="6877270" cy="1325753"/>
            <a:chOff x="0" y="0"/>
            <a:chExt cx="9169694" cy="17676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69691" cy="1767673"/>
            </a:xfrm>
            <a:custGeom>
              <a:avLst/>
              <a:gdLst/>
              <a:ahLst/>
              <a:cxnLst/>
              <a:rect r="r" b="b" t="t" l="l"/>
              <a:pathLst>
                <a:path h="1767673" w="9169691">
                  <a:moveTo>
                    <a:pt x="0" y="0"/>
                  </a:moveTo>
                  <a:lnTo>
                    <a:pt x="9169691" y="0"/>
                  </a:lnTo>
                  <a:lnTo>
                    <a:pt x="9169691" y="1767673"/>
                  </a:lnTo>
                  <a:lnTo>
                    <a:pt x="0" y="17676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583" t="0" r="-30465" b="-22758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9169694" cy="177719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400"/>
                </a:lnSpc>
              </a:pPr>
              <a:r>
                <a:rPr lang="en-US" sz="70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Needs &amp; Scope </a:t>
              </a:r>
            </a:p>
          </p:txBody>
        </p:sp>
      </p:grpSp>
      <p:graphicFrame>
        <p:nvGraphicFramePr>
          <p:cNvPr name="Object 25" id="25"/>
          <p:cNvGraphicFramePr/>
          <p:nvPr/>
        </p:nvGraphicFramePr>
        <p:xfrm>
          <a:off x="4418989" y="3121119"/>
          <a:ext cx="7543800" cy="4400550"/>
        </p:xfrm>
        <a:graphic>
          <a:graphicData uri="http://schemas.openxmlformats.org/presentationml/2006/ole">
            <p:oleObj imgW="9042400" imgH="59055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6" id="26"/>
          <p:cNvSpPr txBox="true"/>
          <p:nvPr/>
        </p:nvSpPr>
        <p:spPr>
          <a:xfrm rot="0">
            <a:off x="11620103" y="1394249"/>
            <a:ext cx="5629672" cy="806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7"/>
              </a:lnSpc>
            </a:pPr>
            <a:r>
              <a:rPr lang="en-US" sz="474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Scope Formalization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52084" y="-4090321"/>
            <a:ext cx="10365838" cy="18475204"/>
            <a:chOff x="0" y="0"/>
            <a:chExt cx="13821118" cy="24633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21156" cy="24633555"/>
            </a:xfrm>
            <a:custGeom>
              <a:avLst/>
              <a:gdLst/>
              <a:ahLst/>
              <a:cxnLst/>
              <a:rect r="r" b="b" t="t" l="l"/>
              <a:pathLst>
                <a:path h="24633555" w="13821156">
                  <a:moveTo>
                    <a:pt x="0" y="0"/>
                  </a:moveTo>
                  <a:lnTo>
                    <a:pt x="13821156" y="0"/>
                  </a:lnTo>
                  <a:lnTo>
                    <a:pt x="13821156" y="24633555"/>
                  </a:lnTo>
                  <a:lnTo>
                    <a:pt x="0" y="2463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873" t="-1350" r="-225516" b="-35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3997085" y="-3951356"/>
            <a:ext cx="10275837" cy="18287276"/>
            <a:chOff x="0" y="0"/>
            <a:chExt cx="13701116" cy="243830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01140" cy="24382985"/>
            </a:xfrm>
            <a:custGeom>
              <a:avLst/>
              <a:gdLst/>
              <a:ahLst/>
              <a:cxnLst/>
              <a:rect r="r" b="b" t="t" l="l"/>
              <a:pathLst>
                <a:path h="24382985" w="13701140">
                  <a:moveTo>
                    <a:pt x="0" y="0"/>
                  </a:moveTo>
                  <a:lnTo>
                    <a:pt x="13701140" y="0"/>
                  </a:lnTo>
                  <a:lnTo>
                    <a:pt x="13701140" y="24382985"/>
                  </a:lnTo>
                  <a:lnTo>
                    <a:pt x="0" y="2438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6966" t="-3901" r="-46200" b="5233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45922" y="7087676"/>
            <a:ext cx="10801" cy="5763"/>
            <a:chOff x="0" y="0"/>
            <a:chExt cx="14402" cy="76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79840" y="6697437"/>
            <a:ext cx="4324" cy="1438"/>
            <a:chOff x="0" y="0"/>
            <a:chExt cx="5766" cy="19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089038" y="7077599"/>
            <a:ext cx="43920" cy="12964"/>
            <a:chOff x="0" y="0"/>
            <a:chExt cx="58560" cy="172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135120" y="7090562"/>
            <a:ext cx="8639" cy="3600"/>
            <a:chOff x="0" y="0"/>
            <a:chExt cx="11519" cy="48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145922" y="7094877"/>
            <a:ext cx="10801" cy="5763"/>
            <a:chOff x="0" y="0"/>
            <a:chExt cx="14402" cy="76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28700" y="1086632"/>
            <a:ext cx="6877270" cy="1325753"/>
            <a:chOff x="0" y="0"/>
            <a:chExt cx="9169694" cy="17676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69691" cy="1767673"/>
            </a:xfrm>
            <a:custGeom>
              <a:avLst/>
              <a:gdLst/>
              <a:ahLst/>
              <a:cxnLst/>
              <a:rect r="r" b="b" t="t" l="l"/>
              <a:pathLst>
                <a:path h="1767673" w="9169691">
                  <a:moveTo>
                    <a:pt x="0" y="0"/>
                  </a:moveTo>
                  <a:lnTo>
                    <a:pt x="9169691" y="0"/>
                  </a:lnTo>
                  <a:lnTo>
                    <a:pt x="9169691" y="1767673"/>
                  </a:lnTo>
                  <a:lnTo>
                    <a:pt x="0" y="17676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583" t="0" r="-30465" b="-22758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9169694" cy="177719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400"/>
                </a:lnSpc>
              </a:pPr>
              <a:r>
                <a:rPr lang="en-US" sz="70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Needs &amp; Scope </a:t>
              </a:r>
            </a:p>
          </p:txBody>
        </p:sp>
      </p:grpSp>
      <p:graphicFrame>
        <p:nvGraphicFramePr>
          <p:cNvPr name="Object 25" id="25"/>
          <p:cNvGraphicFramePr/>
          <p:nvPr/>
        </p:nvGraphicFramePr>
        <p:xfrm>
          <a:off x="4848705" y="2999863"/>
          <a:ext cx="7543800" cy="4400550"/>
        </p:xfrm>
        <a:graphic>
          <a:graphicData uri="http://schemas.openxmlformats.org/presentationml/2006/ole">
            <p:oleObj imgW="9042400" imgH="59055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6" id="26"/>
          <p:cNvSpPr txBox="true"/>
          <p:nvPr/>
        </p:nvSpPr>
        <p:spPr>
          <a:xfrm rot="0">
            <a:off x="11257769" y="1398629"/>
            <a:ext cx="5992006" cy="806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7"/>
              </a:lnSpc>
            </a:pPr>
            <a:r>
              <a:rPr lang="en-US" sz="474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Prioritization Strategy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52084" y="-4090321"/>
            <a:ext cx="10365838" cy="18475204"/>
            <a:chOff x="0" y="0"/>
            <a:chExt cx="13821118" cy="24633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21156" cy="24633555"/>
            </a:xfrm>
            <a:custGeom>
              <a:avLst/>
              <a:gdLst/>
              <a:ahLst/>
              <a:cxnLst/>
              <a:rect r="r" b="b" t="t" l="l"/>
              <a:pathLst>
                <a:path h="24633555" w="13821156">
                  <a:moveTo>
                    <a:pt x="0" y="0"/>
                  </a:moveTo>
                  <a:lnTo>
                    <a:pt x="13821156" y="0"/>
                  </a:lnTo>
                  <a:lnTo>
                    <a:pt x="13821156" y="24633555"/>
                  </a:lnTo>
                  <a:lnTo>
                    <a:pt x="0" y="2463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873" t="-1350" r="-225516" b="-35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3997085" y="-3951356"/>
            <a:ext cx="10275837" cy="18287276"/>
            <a:chOff x="0" y="0"/>
            <a:chExt cx="13701116" cy="243830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01140" cy="24382985"/>
            </a:xfrm>
            <a:custGeom>
              <a:avLst/>
              <a:gdLst/>
              <a:ahLst/>
              <a:cxnLst/>
              <a:rect r="r" b="b" t="t" l="l"/>
              <a:pathLst>
                <a:path h="24382985" w="13701140">
                  <a:moveTo>
                    <a:pt x="0" y="0"/>
                  </a:moveTo>
                  <a:lnTo>
                    <a:pt x="13701140" y="0"/>
                  </a:lnTo>
                  <a:lnTo>
                    <a:pt x="13701140" y="24382985"/>
                  </a:lnTo>
                  <a:lnTo>
                    <a:pt x="0" y="2438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6966" t="-3901" r="-46200" b="5233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45922" y="7087676"/>
            <a:ext cx="10801" cy="5763"/>
            <a:chOff x="0" y="0"/>
            <a:chExt cx="14402" cy="76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79840" y="6697437"/>
            <a:ext cx="4324" cy="1438"/>
            <a:chOff x="0" y="0"/>
            <a:chExt cx="5766" cy="19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089038" y="7077599"/>
            <a:ext cx="43920" cy="12964"/>
            <a:chOff x="0" y="0"/>
            <a:chExt cx="58560" cy="172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135120" y="7090562"/>
            <a:ext cx="8639" cy="3600"/>
            <a:chOff x="0" y="0"/>
            <a:chExt cx="11519" cy="48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145922" y="7094877"/>
            <a:ext cx="10801" cy="5763"/>
            <a:chOff x="0" y="0"/>
            <a:chExt cx="14402" cy="76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28700" y="1085850"/>
            <a:ext cx="7122038" cy="1325753"/>
            <a:chOff x="0" y="0"/>
            <a:chExt cx="9496050" cy="17676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496048" cy="1767673"/>
            </a:xfrm>
            <a:custGeom>
              <a:avLst/>
              <a:gdLst/>
              <a:ahLst/>
              <a:cxnLst/>
              <a:rect r="r" b="b" t="t" l="l"/>
              <a:pathLst>
                <a:path h="1767673" w="9496048">
                  <a:moveTo>
                    <a:pt x="0" y="0"/>
                  </a:moveTo>
                  <a:lnTo>
                    <a:pt x="9496048" y="0"/>
                  </a:lnTo>
                  <a:lnTo>
                    <a:pt x="9496048" y="1767673"/>
                  </a:lnTo>
                  <a:lnTo>
                    <a:pt x="0" y="17676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497" t="0" r="-25981" b="-22758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9496050" cy="177719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400"/>
                </a:lnSpc>
              </a:pPr>
              <a:r>
                <a:rPr lang="en-US" sz="70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Context &amp; Audit </a:t>
              </a:r>
            </a:p>
          </p:txBody>
        </p:sp>
      </p:grpSp>
      <p:graphicFrame>
        <p:nvGraphicFramePr>
          <p:cNvPr name="Object 25" id="25"/>
          <p:cNvGraphicFramePr/>
          <p:nvPr/>
        </p:nvGraphicFramePr>
        <p:xfrm>
          <a:off x="2516892" y="2411603"/>
          <a:ext cx="7543800" cy="4400550"/>
        </p:xfrm>
        <a:graphic>
          <a:graphicData uri="http://schemas.openxmlformats.org/presentationml/2006/ole">
            <p:oleObj imgW="9042400" imgH="59055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6" id="26"/>
          <p:cNvSpPr txBox="true"/>
          <p:nvPr/>
        </p:nvSpPr>
        <p:spPr>
          <a:xfrm rot="0">
            <a:off x="11865603" y="1397847"/>
            <a:ext cx="5384172" cy="806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7"/>
              </a:lnSpc>
            </a:pPr>
            <a:r>
              <a:rPr lang="en-US" sz="474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Audit &amp; Benchmark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58364" y="7032250"/>
            <a:ext cx="15171272" cy="2693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19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Pas de réinvention de la r</a:t>
            </a:r>
            <a:r>
              <a:rPr lang="en-US" sz="219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oue :</a:t>
            </a:r>
          </a:p>
          <a:p>
            <a:pPr algn="l" marL="473854" indent="-236927" lvl="1">
              <a:lnSpc>
                <a:spcPts val="3072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MediaPipe (Google) : Détection pose, gratuit</a:t>
            </a:r>
          </a:p>
          <a:p>
            <a:pPr algn="l" marL="473854" indent="-236927" lvl="1">
              <a:lnSpc>
                <a:spcPts val="3072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OpenCV : Traitement vidéo mature, bibliothèque de référence</a:t>
            </a:r>
          </a:p>
          <a:p>
            <a:pPr algn="l" marL="473854" indent="-236927" lvl="1">
              <a:lnSpc>
                <a:spcPts val="3072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Flutter : Framework mobile cross-platform officiel Google</a:t>
            </a:r>
          </a:p>
          <a:p>
            <a:pPr algn="l" marL="473854" indent="-236927" lvl="1">
              <a:lnSpc>
                <a:spcPts val="3072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PostgreSQL : SGBD relationnel robuste avec support JSONB natif</a:t>
            </a:r>
          </a:p>
          <a:p>
            <a:pPr algn="l">
              <a:lnSpc>
                <a:spcPts val="3072"/>
              </a:lnSpc>
            </a:pPr>
            <a:r>
              <a:rPr lang="en-US" sz="219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Différenciation : Intégration spécifique escalade (détection type de prise, calcul d'angles des segments, feedback contextualisé)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52084" y="-4090321"/>
            <a:ext cx="10365838" cy="18475204"/>
            <a:chOff x="0" y="0"/>
            <a:chExt cx="13821118" cy="24633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21156" cy="24633555"/>
            </a:xfrm>
            <a:custGeom>
              <a:avLst/>
              <a:gdLst/>
              <a:ahLst/>
              <a:cxnLst/>
              <a:rect r="r" b="b" t="t" l="l"/>
              <a:pathLst>
                <a:path h="24633555" w="13821156">
                  <a:moveTo>
                    <a:pt x="0" y="0"/>
                  </a:moveTo>
                  <a:lnTo>
                    <a:pt x="13821156" y="0"/>
                  </a:lnTo>
                  <a:lnTo>
                    <a:pt x="13821156" y="24633555"/>
                  </a:lnTo>
                  <a:lnTo>
                    <a:pt x="0" y="2463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873" t="-1350" r="-225516" b="-35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3997085" y="-3951356"/>
            <a:ext cx="10275837" cy="18287276"/>
            <a:chOff x="0" y="0"/>
            <a:chExt cx="13701116" cy="243830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01140" cy="24382985"/>
            </a:xfrm>
            <a:custGeom>
              <a:avLst/>
              <a:gdLst/>
              <a:ahLst/>
              <a:cxnLst/>
              <a:rect r="r" b="b" t="t" l="l"/>
              <a:pathLst>
                <a:path h="24382985" w="13701140">
                  <a:moveTo>
                    <a:pt x="0" y="0"/>
                  </a:moveTo>
                  <a:lnTo>
                    <a:pt x="13701140" y="0"/>
                  </a:lnTo>
                  <a:lnTo>
                    <a:pt x="13701140" y="24382985"/>
                  </a:lnTo>
                  <a:lnTo>
                    <a:pt x="0" y="2438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6966" t="-3901" r="-46200" b="5233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45922" y="7087676"/>
            <a:ext cx="10801" cy="5763"/>
            <a:chOff x="0" y="0"/>
            <a:chExt cx="14402" cy="76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79840" y="6697437"/>
            <a:ext cx="4324" cy="1438"/>
            <a:chOff x="0" y="0"/>
            <a:chExt cx="5766" cy="19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089038" y="7077599"/>
            <a:ext cx="43920" cy="12964"/>
            <a:chOff x="0" y="0"/>
            <a:chExt cx="58560" cy="172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135120" y="7090562"/>
            <a:ext cx="8639" cy="3600"/>
            <a:chOff x="0" y="0"/>
            <a:chExt cx="11519" cy="48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145922" y="7094877"/>
            <a:ext cx="10801" cy="5763"/>
            <a:chOff x="0" y="0"/>
            <a:chExt cx="14402" cy="76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96812" y="365823"/>
            <a:ext cx="7122038" cy="1325753"/>
            <a:chOff x="0" y="0"/>
            <a:chExt cx="9496050" cy="17676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496048" cy="1767673"/>
            </a:xfrm>
            <a:custGeom>
              <a:avLst/>
              <a:gdLst/>
              <a:ahLst/>
              <a:cxnLst/>
              <a:rect r="r" b="b" t="t" l="l"/>
              <a:pathLst>
                <a:path h="1767673" w="9496048">
                  <a:moveTo>
                    <a:pt x="0" y="0"/>
                  </a:moveTo>
                  <a:lnTo>
                    <a:pt x="9496048" y="0"/>
                  </a:lnTo>
                  <a:lnTo>
                    <a:pt x="9496048" y="1767673"/>
                  </a:lnTo>
                  <a:lnTo>
                    <a:pt x="0" y="17676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497" t="0" r="-25981" b="-22758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9496050" cy="177719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400"/>
                </a:lnSpc>
              </a:pPr>
              <a:r>
                <a:rPr lang="en-US" sz="70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Context &amp; Audit </a:t>
              </a:r>
            </a:p>
          </p:txBody>
        </p:sp>
      </p:grpSp>
      <p:graphicFrame>
        <p:nvGraphicFramePr>
          <p:cNvPr name="Object 25" id="25"/>
          <p:cNvGraphicFramePr/>
          <p:nvPr/>
        </p:nvGraphicFramePr>
        <p:xfrm>
          <a:off x="3445777" y="5143500"/>
          <a:ext cx="7543800" cy="4400550"/>
        </p:xfrm>
        <a:graphic>
          <a:graphicData uri="http://schemas.openxmlformats.org/presentationml/2006/ole">
            <p:oleObj imgW="9042400" imgH="59055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6" id="26"/>
          <p:cNvSpPr txBox="true"/>
          <p:nvPr/>
        </p:nvSpPr>
        <p:spPr>
          <a:xfrm rot="0">
            <a:off x="8324115" y="582571"/>
            <a:ext cx="9963885" cy="1647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7"/>
              </a:lnSpc>
            </a:pPr>
            <a:r>
              <a:rPr lang="en-US" sz="474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Legal Constraints &amp; Security Analysis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2192418"/>
            <a:ext cx="15171272" cy="3081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19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Vidéos corporelles = d</a:t>
            </a:r>
            <a:r>
              <a:rPr lang="en-US" sz="219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onnées biométriques (Article 9 RGPD)</a:t>
            </a:r>
          </a:p>
          <a:p>
            <a:pPr algn="l">
              <a:lnSpc>
                <a:spcPts val="3072"/>
              </a:lnSpc>
            </a:pPr>
            <a:r>
              <a:rPr lang="en-US" sz="219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Obligations légales :</a:t>
            </a:r>
          </a:p>
          <a:p>
            <a:pPr algn="l" marL="473854" indent="-236927" lvl="1">
              <a:lnSpc>
                <a:spcPts val="3072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Consentement explicite obligatoire à l'onboarding</a:t>
            </a:r>
          </a:p>
          <a:p>
            <a:pPr algn="l" marL="473854" indent="-236927" lvl="1">
              <a:lnSpc>
                <a:spcPts val="3072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Stockage exclusivement EU (Hetzner Allemagne/Finlande)</a:t>
            </a:r>
          </a:p>
          <a:p>
            <a:pPr algn="l" marL="473854" indent="-236927" lvl="1">
              <a:lnSpc>
                <a:spcPts val="3072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Droit à l'effacement implémenté (suppression cascade vidéo + analyses)</a:t>
            </a:r>
          </a:p>
          <a:p>
            <a:pPr algn="l" marL="473854" indent="-236927" lvl="1">
              <a:lnSpc>
                <a:spcPts val="3072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Notification CNIL sous 72h en cas de breach</a:t>
            </a:r>
          </a:p>
          <a:p>
            <a:pPr algn="l" marL="473854" indent="-236927" lvl="1">
              <a:lnSpc>
                <a:spcPts val="3072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Politique de rétention : 90 jours par défaut (sauf consentement extension)</a:t>
            </a:r>
          </a:p>
          <a:p>
            <a:pPr algn="l">
              <a:lnSpc>
                <a:spcPts val="3072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52084" y="-4090321"/>
            <a:ext cx="10365838" cy="18475204"/>
            <a:chOff x="0" y="0"/>
            <a:chExt cx="13821118" cy="24633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21156" cy="24633555"/>
            </a:xfrm>
            <a:custGeom>
              <a:avLst/>
              <a:gdLst/>
              <a:ahLst/>
              <a:cxnLst/>
              <a:rect r="r" b="b" t="t" l="l"/>
              <a:pathLst>
                <a:path h="24633555" w="13821156">
                  <a:moveTo>
                    <a:pt x="0" y="0"/>
                  </a:moveTo>
                  <a:lnTo>
                    <a:pt x="13821156" y="0"/>
                  </a:lnTo>
                  <a:lnTo>
                    <a:pt x="13821156" y="24633555"/>
                  </a:lnTo>
                  <a:lnTo>
                    <a:pt x="0" y="2463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873" t="-1350" r="-225516" b="-35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3997085" y="-3951356"/>
            <a:ext cx="10275837" cy="18287276"/>
            <a:chOff x="0" y="0"/>
            <a:chExt cx="13701116" cy="243830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01140" cy="24382985"/>
            </a:xfrm>
            <a:custGeom>
              <a:avLst/>
              <a:gdLst/>
              <a:ahLst/>
              <a:cxnLst/>
              <a:rect r="r" b="b" t="t" l="l"/>
              <a:pathLst>
                <a:path h="24382985" w="13701140">
                  <a:moveTo>
                    <a:pt x="0" y="0"/>
                  </a:moveTo>
                  <a:lnTo>
                    <a:pt x="13701140" y="0"/>
                  </a:lnTo>
                  <a:lnTo>
                    <a:pt x="13701140" y="24382985"/>
                  </a:lnTo>
                  <a:lnTo>
                    <a:pt x="0" y="2438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6966" t="-3901" r="-46200" b="5233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45922" y="7087676"/>
            <a:ext cx="10801" cy="5763"/>
            <a:chOff x="0" y="0"/>
            <a:chExt cx="14402" cy="76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79840" y="6697437"/>
            <a:ext cx="4324" cy="1438"/>
            <a:chOff x="0" y="0"/>
            <a:chExt cx="5766" cy="19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089038" y="7077599"/>
            <a:ext cx="43920" cy="12964"/>
            <a:chOff x="0" y="0"/>
            <a:chExt cx="58560" cy="172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135120" y="7090562"/>
            <a:ext cx="8639" cy="3600"/>
            <a:chOff x="0" y="0"/>
            <a:chExt cx="11519" cy="48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145922" y="7094877"/>
            <a:ext cx="10801" cy="5763"/>
            <a:chOff x="0" y="0"/>
            <a:chExt cx="14402" cy="76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28700" y="1085850"/>
            <a:ext cx="7122038" cy="1325753"/>
            <a:chOff x="0" y="0"/>
            <a:chExt cx="9496050" cy="17676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496048" cy="1767673"/>
            </a:xfrm>
            <a:custGeom>
              <a:avLst/>
              <a:gdLst/>
              <a:ahLst/>
              <a:cxnLst/>
              <a:rect r="r" b="b" t="t" l="l"/>
              <a:pathLst>
                <a:path h="1767673" w="9496048">
                  <a:moveTo>
                    <a:pt x="0" y="0"/>
                  </a:moveTo>
                  <a:lnTo>
                    <a:pt x="9496048" y="0"/>
                  </a:lnTo>
                  <a:lnTo>
                    <a:pt x="9496048" y="1767673"/>
                  </a:lnTo>
                  <a:lnTo>
                    <a:pt x="0" y="17676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497" t="0" r="-25981" b="-22758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9496050" cy="177719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400"/>
                </a:lnSpc>
              </a:pPr>
              <a:r>
                <a:rPr lang="en-US" sz="70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Context &amp; Audit </a:t>
              </a:r>
            </a:p>
          </p:txBody>
        </p:sp>
      </p:grpSp>
      <p:graphicFrame>
        <p:nvGraphicFramePr>
          <p:cNvPr name="Object 25" id="25"/>
          <p:cNvGraphicFramePr/>
          <p:nvPr/>
        </p:nvGraphicFramePr>
        <p:xfrm>
          <a:off x="1185109" y="3686048"/>
          <a:ext cx="7543800" cy="4400550"/>
        </p:xfrm>
        <a:graphic>
          <a:graphicData uri="http://schemas.openxmlformats.org/presentationml/2006/ole">
            <p:oleObj imgW="9042400" imgH="59055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6" id="26"/>
          <p:cNvSpPr txBox="true"/>
          <p:nvPr/>
        </p:nvSpPr>
        <p:spPr>
          <a:xfrm rot="0">
            <a:off x="9452322" y="1397847"/>
            <a:ext cx="7797453" cy="806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7"/>
              </a:lnSpc>
            </a:pPr>
            <a:r>
              <a:rPr lang="en-US" sz="474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Resources / Skills Adequacy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52084" y="-4090321"/>
            <a:ext cx="10365838" cy="18475204"/>
            <a:chOff x="0" y="0"/>
            <a:chExt cx="13821118" cy="24633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21156" cy="24633555"/>
            </a:xfrm>
            <a:custGeom>
              <a:avLst/>
              <a:gdLst/>
              <a:ahLst/>
              <a:cxnLst/>
              <a:rect r="r" b="b" t="t" l="l"/>
              <a:pathLst>
                <a:path h="24633555" w="13821156">
                  <a:moveTo>
                    <a:pt x="0" y="0"/>
                  </a:moveTo>
                  <a:lnTo>
                    <a:pt x="13821156" y="0"/>
                  </a:lnTo>
                  <a:lnTo>
                    <a:pt x="13821156" y="24633555"/>
                  </a:lnTo>
                  <a:lnTo>
                    <a:pt x="0" y="2463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873" t="-1350" r="-225516" b="-35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3997085" y="-3951356"/>
            <a:ext cx="10275837" cy="18287276"/>
            <a:chOff x="0" y="0"/>
            <a:chExt cx="13701116" cy="243830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01140" cy="24382985"/>
            </a:xfrm>
            <a:custGeom>
              <a:avLst/>
              <a:gdLst/>
              <a:ahLst/>
              <a:cxnLst/>
              <a:rect r="r" b="b" t="t" l="l"/>
              <a:pathLst>
                <a:path h="24382985" w="13701140">
                  <a:moveTo>
                    <a:pt x="0" y="0"/>
                  </a:moveTo>
                  <a:lnTo>
                    <a:pt x="13701140" y="0"/>
                  </a:lnTo>
                  <a:lnTo>
                    <a:pt x="13701140" y="24382985"/>
                  </a:lnTo>
                  <a:lnTo>
                    <a:pt x="0" y="2438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6966" t="-3901" r="-46200" b="5233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45922" y="7087676"/>
            <a:ext cx="10801" cy="5763"/>
            <a:chOff x="0" y="0"/>
            <a:chExt cx="14402" cy="76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79840" y="6697437"/>
            <a:ext cx="4324" cy="1438"/>
            <a:chOff x="0" y="0"/>
            <a:chExt cx="5766" cy="19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089038" y="7077599"/>
            <a:ext cx="43920" cy="12964"/>
            <a:chOff x="0" y="0"/>
            <a:chExt cx="58560" cy="172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135120" y="7090562"/>
            <a:ext cx="8639" cy="3600"/>
            <a:chOff x="0" y="0"/>
            <a:chExt cx="11519" cy="48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145922" y="7094877"/>
            <a:ext cx="10801" cy="5763"/>
            <a:chOff x="0" y="0"/>
            <a:chExt cx="14402" cy="76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28700" y="1085850"/>
            <a:ext cx="6464984" cy="2383028"/>
            <a:chOff x="0" y="0"/>
            <a:chExt cx="8619979" cy="31773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19975" cy="3177373"/>
            </a:xfrm>
            <a:custGeom>
              <a:avLst/>
              <a:gdLst/>
              <a:ahLst/>
              <a:cxnLst/>
              <a:rect r="r" b="b" t="t" l="l"/>
              <a:pathLst>
                <a:path h="3177373" w="8619975">
                  <a:moveTo>
                    <a:pt x="0" y="0"/>
                  </a:moveTo>
                  <a:lnTo>
                    <a:pt x="8619975" y="0"/>
                  </a:lnTo>
                  <a:lnTo>
                    <a:pt x="8619975" y="3177373"/>
                  </a:lnTo>
                  <a:lnTo>
                    <a:pt x="0" y="31773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3597" t="0" r="-38785" b="-8224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8619979" cy="317737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399"/>
                </a:lnSpc>
              </a:pPr>
              <a:r>
                <a:rPr lang="en-US" sz="6999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Architecture</a:t>
              </a:r>
            </a:p>
            <a:p>
              <a:pPr algn="ctr">
                <a:lnSpc>
                  <a:spcPts val="8400"/>
                </a:lnSpc>
              </a:pPr>
              <a:r>
                <a:rPr lang="en-US" sz="70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&amp; Specs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028700" y="3449828"/>
            <a:ext cx="6026246" cy="6356958"/>
          </a:xfrm>
          <a:custGeom>
            <a:avLst/>
            <a:gdLst/>
            <a:ahLst/>
            <a:cxnLst/>
            <a:rect r="r" b="b" t="t" l="l"/>
            <a:pathLst>
              <a:path h="6356958" w="6026246">
                <a:moveTo>
                  <a:pt x="0" y="0"/>
                </a:moveTo>
                <a:lnTo>
                  <a:pt x="6026246" y="0"/>
                </a:lnTo>
                <a:lnTo>
                  <a:pt x="6026246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59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851654" y="4270569"/>
            <a:ext cx="9398121" cy="4715476"/>
          </a:xfrm>
          <a:custGeom>
            <a:avLst/>
            <a:gdLst/>
            <a:ahLst/>
            <a:cxnLst/>
            <a:rect r="r" b="b" t="t" l="l"/>
            <a:pathLst>
              <a:path h="4715476" w="9398121">
                <a:moveTo>
                  <a:pt x="0" y="0"/>
                </a:moveTo>
                <a:lnTo>
                  <a:pt x="9398121" y="0"/>
                </a:lnTo>
                <a:lnTo>
                  <a:pt x="9398121" y="4715476"/>
                </a:lnTo>
                <a:lnTo>
                  <a:pt x="0" y="47154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5" t="-2329" r="0" b="-4638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9609036" y="1400175"/>
            <a:ext cx="7640739" cy="806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7"/>
              </a:lnSpc>
            </a:pPr>
            <a:r>
              <a:rPr lang="en-US" sz="474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Global System Architecture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52084" y="-4090321"/>
            <a:ext cx="10365838" cy="18475204"/>
            <a:chOff x="0" y="0"/>
            <a:chExt cx="13821118" cy="24633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21156" cy="24633555"/>
            </a:xfrm>
            <a:custGeom>
              <a:avLst/>
              <a:gdLst/>
              <a:ahLst/>
              <a:cxnLst/>
              <a:rect r="r" b="b" t="t" l="l"/>
              <a:pathLst>
                <a:path h="24633555" w="13821156">
                  <a:moveTo>
                    <a:pt x="0" y="0"/>
                  </a:moveTo>
                  <a:lnTo>
                    <a:pt x="13821156" y="0"/>
                  </a:lnTo>
                  <a:lnTo>
                    <a:pt x="13821156" y="24633555"/>
                  </a:lnTo>
                  <a:lnTo>
                    <a:pt x="0" y="2463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873" t="-1350" r="-225516" b="-35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3997085" y="-3951356"/>
            <a:ext cx="10275837" cy="18287276"/>
            <a:chOff x="0" y="0"/>
            <a:chExt cx="13701116" cy="243830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01140" cy="24382985"/>
            </a:xfrm>
            <a:custGeom>
              <a:avLst/>
              <a:gdLst/>
              <a:ahLst/>
              <a:cxnLst/>
              <a:rect r="r" b="b" t="t" l="l"/>
              <a:pathLst>
                <a:path h="24382985" w="13701140">
                  <a:moveTo>
                    <a:pt x="0" y="0"/>
                  </a:moveTo>
                  <a:lnTo>
                    <a:pt x="13701140" y="0"/>
                  </a:lnTo>
                  <a:lnTo>
                    <a:pt x="13701140" y="24382985"/>
                  </a:lnTo>
                  <a:lnTo>
                    <a:pt x="0" y="2438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6966" t="-3901" r="-46200" b="5233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45922" y="7087676"/>
            <a:ext cx="10801" cy="5763"/>
            <a:chOff x="0" y="0"/>
            <a:chExt cx="14402" cy="76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79840" y="6697437"/>
            <a:ext cx="4324" cy="1438"/>
            <a:chOff x="0" y="0"/>
            <a:chExt cx="5766" cy="19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089038" y="7077599"/>
            <a:ext cx="43920" cy="12964"/>
            <a:chOff x="0" y="0"/>
            <a:chExt cx="58560" cy="172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135120" y="7090562"/>
            <a:ext cx="8639" cy="3600"/>
            <a:chOff x="0" y="0"/>
            <a:chExt cx="11519" cy="48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145922" y="7094877"/>
            <a:ext cx="10801" cy="5763"/>
            <a:chOff x="0" y="0"/>
            <a:chExt cx="14402" cy="76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28700" y="1085850"/>
            <a:ext cx="6464984" cy="2383028"/>
            <a:chOff x="0" y="0"/>
            <a:chExt cx="8619979" cy="31773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19975" cy="3177373"/>
            </a:xfrm>
            <a:custGeom>
              <a:avLst/>
              <a:gdLst/>
              <a:ahLst/>
              <a:cxnLst/>
              <a:rect r="r" b="b" t="t" l="l"/>
              <a:pathLst>
                <a:path h="3177373" w="8619975">
                  <a:moveTo>
                    <a:pt x="0" y="0"/>
                  </a:moveTo>
                  <a:lnTo>
                    <a:pt x="8619975" y="0"/>
                  </a:lnTo>
                  <a:lnTo>
                    <a:pt x="8619975" y="3177373"/>
                  </a:lnTo>
                  <a:lnTo>
                    <a:pt x="0" y="31773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3597" t="0" r="-38785" b="-8224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8619979" cy="317737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399"/>
                </a:lnSpc>
              </a:pPr>
              <a:r>
                <a:rPr lang="en-US" sz="6999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Architecture</a:t>
              </a:r>
            </a:p>
            <a:p>
              <a:pPr algn="ctr">
                <a:lnSpc>
                  <a:spcPts val="8400"/>
                </a:lnSpc>
              </a:pPr>
              <a:r>
                <a:rPr lang="en-US" sz="70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&amp; Specs</a:t>
              </a:r>
            </a:p>
          </p:txBody>
        </p:sp>
      </p:grpSp>
      <p:graphicFrame>
        <p:nvGraphicFramePr>
          <p:cNvPr name="Object 25" id="25"/>
          <p:cNvGraphicFramePr/>
          <p:nvPr/>
        </p:nvGraphicFramePr>
        <p:xfrm>
          <a:off x="4614314" y="3863253"/>
          <a:ext cx="16230600" cy="5077358"/>
        </p:xfrm>
        <a:graphic>
          <a:graphicData uri="http://schemas.openxmlformats.org/presentationml/2006/ole">
            <p:oleObj imgW="19469100" imgH="83185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6" id="26"/>
          <p:cNvSpPr txBox="true"/>
          <p:nvPr/>
        </p:nvSpPr>
        <p:spPr>
          <a:xfrm rot="0">
            <a:off x="7938939" y="1396958"/>
            <a:ext cx="9310836" cy="806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7"/>
              </a:lnSpc>
            </a:pPr>
            <a:r>
              <a:rPr lang="en-US" sz="474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Justification of Technical Choices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642764" y="8188160"/>
            <a:ext cx="12984480" cy="1531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19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Chaque choix découle d</a:t>
            </a:r>
            <a:r>
              <a:rPr lang="en-US" sz="219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irectement du benchmark réalisé :</a:t>
            </a:r>
          </a:p>
          <a:p>
            <a:pPr algn="l" marL="473854" indent="-236927" lvl="1">
              <a:lnSpc>
                <a:spcPts val="3072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Flutter : Tests APK générés → mesure réelle 18 MB vs 62 MB React Native</a:t>
            </a:r>
          </a:p>
          <a:p>
            <a:pPr algn="l" marL="473854" indent="-236927" lvl="1">
              <a:lnSpc>
                <a:spcPts val="3072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Rus</a:t>
            </a:r>
            <a:r>
              <a:rPr lang="en-US" sz="219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 : Benchmarks RAM mesurés au runtime → 94 MB idle vs 420 MB Node.js</a:t>
            </a:r>
          </a:p>
          <a:p>
            <a:pPr algn="l" marL="473854" indent="-236927" lvl="1">
              <a:lnSpc>
                <a:spcPts val="3072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</a:t>
            </a:r>
            <a:r>
              <a:rPr lang="en-US" sz="219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tzner : Simulation facture 3 providers → économie 2 592€/an validée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52084" y="-4090321"/>
            <a:ext cx="10365838" cy="18475204"/>
            <a:chOff x="0" y="0"/>
            <a:chExt cx="13821118" cy="24633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21156" cy="24633555"/>
            </a:xfrm>
            <a:custGeom>
              <a:avLst/>
              <a:gdLst/>
              <a:ahLst/>
              <a:cxnLst/>
              <a:rect r="r" b="b" t="t" l="l"/>
              <a:pathLst>
                <a:path h="24633555" w="13821156">
                  <a:moveTo>
                    <a:pt x="0" y="0"/>
                  </a:moveTo>
                  <a:lnTo>
                    <a:pt x="13821156" y="0"/>
                  </a:lnTo>
                  <a:lnTo>
                    <a:pt x="13821156" y="24633555"/>
                  </a:lnTo>
                  <a:lnTo>
                    <a:pt x="0" y="2463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873" t="-1350" r="-225516" b="-35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3997085" y="-3951356"/>
            <a:ext cx="10275837" cy="18287276"/>
            <a:chOff x="0" y="0"/>
            <a:chExt cx="13701116" cy="243830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01140" cy="24382985"/>
            </a:xfrm>
            <a:custGeom>
              <a:avLst/>
              <a:gdLst/>
              <a:ahLst/>
              <a:cxnLst/>
              <a:rect r="r" b="b" t="t" l="l"/>
              <a:pathLst>
                <a:path h="24382985" w="13701140">
                  <a:moveTo>
                    <a:pt x="0" y="0"/>
                  </a:moveTo>
                  <a:lnTo>
                    <a:pt x="13701140" y="0"/>
                  </a:lnTo>
                  <a:lnTo>
                    <a:pt x="13701140" y="24382985"/>
                  </a:lnTo>
                  <a:lnTo>
                    <a:pt x="0" y="2438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6966" t="-3901" r="-46200" b="5233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45922" y="7087676"/>
            <a:ext cx="10801" cy="5763"/>
            <a:chOff x="0" y="0"/>
            <a:chExt cx="14402" cy="76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79840" y="6697437"/>
            <a:ext cx="4324" cy="1438"/>
            <a:chOff x="0" y="0"/>
            <a:chExt cx="5766" cy="19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089038" y="7077599"/>
            <a:ext cx="43920" cy="12964"/>
            <a:chOff x="0" y="0"/>
            <a:chExt cx="58560" cy="172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135120" y="7090562"/>
            <a:ext cx="8639" cy="3600"/>
            <a:chOff x="0" y="0"/>
            <a:chExt cx="11519" cy="48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145922" y="7094877"/>
            <a:ext cx="10801" cy="5763"/>
            <a:chOff x="0" y="0"/>
            <a:chExt cx="14402" cy="76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28700" y="1085850"/>
            <a:ext cx="5621919" cy="2383028"/>
            <a:chOff x="0" y="0"/>
            <a:chExt cx="7495892" cy="31773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95890" cy="3177373"/>
            </a:xfrm>
            <a:custGeom>
              <a:avLst/>
              <a:gdLst/>
              <a:ahLst/>
              <a:cxnLst/>
              <a:rect r="r" b="b" t="t" l="l"/>
              <a:pathLst>
                <a:path h="3177373" w="7495890">
                  <a:moveTo>
                    <a:pt x="0" y="0"/>
                  </a:moveTo>
                  <a:lnTo>
                    <a:pt x="7495890" y="0"/>
                  </a:lnTo>
                  <a:lnTo>
                    <a:pt x="7495890" y="3177373"/>
                  </a:lnTo>
                  <a:lnTo>
                    <a:pt x="0" y="31773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8635" t="0" r="-59598" b="-8224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7495892" cy="318689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400"/>
                </a:lnSpc>
              </a:pPr>
              <a:r>
                <a:rPr lang="en-US" sz="70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Architecture &amp; Specs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614189" y="3649232"/>
            <a:ext cx="3086100" cy="308610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016463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USERS</a:t>
              </a: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id (UUID) PK 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email UNIQUE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password_hash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created_at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last_login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3247669" y="1400175"/>
            <a:ext cx="4002106" cy="806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7"/>
              </a:lnSpc>
            </a:pPr>
            <a:r>
              <a:rPr lang="en-US" sz="474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 Modeling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7600950" y="3649232"/>
            <a:ext cx="3086100" cy="3086100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016463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VIDEOS</a:t>
              </a: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id (UUID) PK 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us</a:t>
              </a: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er_id FK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s3_</a:t>
              </a: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path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size_mb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duration_sec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uploaded_at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592050" y="3649232"/>
            <a:ext cx="3086100" cy="3086100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016463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ANALYSES</a:t>
              </a: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V</a:t>
              </a: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ideo_id FK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landmarks JSONB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force_score DECIMAL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balance_score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recommen</a:t>
              </a: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dations TEXT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cre</a:t>
              </a: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ated_at  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 flipV="true">
            <a:off x="5662399" y="5192282"/>
            <a:ext cx="1938551" cy="83832"/>
          </a:xfrm>
          <a:prstGeom prst="line">
            <a:avLst/>
          </a:prstGeom>
          <a:ln cap="flat" w="38100">
            <a:solidFill>
              <a:srgbClr val="82DCBA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6" id="36"/>
          <p:cNvSpPr/>
          <p:nvPr/>
        </p:nvSpPr>
        <p:spPr>
          <a:xfrm>
            <a:off x="10687050" y="5192282"/>
            <a:ext cx="1878403" cy="0"/>
          </a:xfrm>
          <a:prstGeom prst="line">
            <a:avLst/>
          </a:prstGeom>
          <a:ln cap="flat" w="38100">
            <a:solidFill>
              <a:srgbClr val="82DCBA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37" id="37"/>
          <p:cNvSpPr txBox="true"/>
          <p:nvPr/>
        </p:nvSpPr>
        <p:spPr>
          <a:xfrm rot="0">
            <a:off x="5738720" y="4820285"/>
            <a:ext cx="182379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                        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725150" y="4824066"/>
            <a:ext cx="182379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                        N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52084" y="-4090321"/>
            <a:ext cx="10365838" cy="18475204"/>
            <a:chOff x="0" y="0"/>
            <a:chExt cx="13821118" cy="24633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21156" cy="24633555"/>
            </a:xfrm>
            <a:custGeom>
              <a:avLst/>
              <a:gdLst/>
              <a:ahLst/>
              <a:cxnLst/>
              <a:rect r="r" b="b" t="t" l="l"/>
              <a:pathLst>
                <a:path h="24633555" w="13821156">
                  <a:moveTo>
                    <a:pt x="0" y="0"/>
                  </a:moveTo>
                  <a:lnTo>
                    <a:pt x="13821156" y="0"/>
                  </a:lnTo>
                  <a:lnTo>
                    <a:pt x="13821156" y="24633555"/>
                  </a:lnTo>
                  <a:lnTo>
                    <a:pt x="0" y="2463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873" t="-1350" r="-225516" b="-35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3997085" y="-3951356"/>
            <a:ext cx="10275837" cy="18287276"/>
            <a:chOff x="0" y="0"/>
            <a:chExt cx="13701116" cy="243830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01140" cy="24382985"/>
            </a:xfrm>
            <a:custGeom>
              <a:avLst/>
              <a:gdLst/>
              <a:ahLst/>
              <a:cxnLst/>
              <a:rect r="r" b="b" t="t" l="l"/>
              <a:pathLst>
                <a:path h="24382985" w="13701140">
                  <a:moveTo>
                    <a:pt x="0" y="0"/>
                  </a:moveTo>
                  <a:lnTo>
                    <a:pt x="13701140" y="0"/>
                  </a:lnTo>
                  <a:lnTo>
                    <a:pt x="13701140" y="24382985"/>
                  </a:lnTo>
                  <a:lnTo>
                    <a:pt x="0" y="2438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6966" t="-3901" r="-46200" b="5233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45922" y="7087676"/>
            <a:ext cx="10801" cy="5763"/>
            <a:chOff x="0" y="0"/>
            <a:chExt cx="14402" cy="76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79840" y="6697437"/>
            <a:ext cx="4324" cy="1438"/>
            <a:chOff x="0" y="0"/>
            <a:chExt cx="5766" cy="19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089038" y="7077599"/>
            <a:ext cx="43920" cy="12964"/>
            <a:chOff x="0" y="0"/>
            <a:chExt cx="58560" cy="172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135120" y="7090562"/>
            <a:ext cx="8639" cy="3600"/>
            <a:chOff x="0" y="0"/>
            <a:chExt cx="11519" cy="48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145922" y="7094877"/>
            <a:ext cx="10801" cy="5763"/>
            <a:chOff x="0" y="0"/>
            <a:chExt cx="14402" cy="76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28700" y="1028700"/>
            <a:ext cx="11169101" cy="1325753"/>
            <a:chOff x="0" y="0"/>
            <a:chExt cx="14892134" cy="17676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892130" cy="1767673"/>
            </a:xfrm>
            <a:custGeom>
              <a:avLst/>
              <a:gdLst/>
              <a:ahLst/>
              <a:cxnLst/>
              <a:rect r="r" b="b" t="t" l="l"/>
              <a:pathLst>
                <a:path h="1767673" w="14892130">
                  <a:moveTo>
                    <a:pt x="0" y="0"/>
                  </a:moveTo>
                  <a:lnTo>
                    <a:pt x="14892130" y="0"/>
                  </a:lnTo>
                  <a:lnTo>
                    <a:pt x="14892130" y="1767673"/>
                  </a:lnTo>
                  <a:lnTo>
                    <a:pt x="0" y="17676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447" t="0" r="19666" b="-22758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14892134" cy="177719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400"/>
                </a:lnSpc>
              </a:pPr>
              <a:r>
                <a:rPr lang="en-US" sz="70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Interface Design (UI/UX)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028700" y="2960552"/>
            <a:ext cx="2890231" cy="6297748"/>
          </a:xfrm>
          <a:custGeom>
            <a:avLst/>
            <a:gdLst/>
            <a:ahLst/>
            <a:cxnLst/>
            <a:rect r="r" b="b" t="t" l="l"/>
            <a:pathLst>
              <a:path h="6297748" w="2890231">
                <a:moveTo>
                  <a:pt x="0" y="0"/>
                </a:moveTo>
                <a:lnTo>
                  <a:pt x="2890231" y="0"/>
                </a:lnTo>
                <a:lnTo>
                  <a:pt x="2890231" y="6297748"/>
                </a:lnTo>
                <a:lnTo>
                  <a:pt x="0" y="62977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5472526" y="2960552"/>
            <a:ext cx="2890231" cy="6297748"/>
          </a:xfrm>
          <a:custGeom>
            <a:avLst/>
            <a:gdLst/>
            <a:ahLst/>
            <a:cxnLst/>
            <a:rect r="r" b="b" t="t" l="l"/>
            <a:pathLst>
              <a:path h="6297748" w="2890231">
                <a:moveTo>
                  <a:pt x="0" y="0"/>
                </a:moveTo>
                <a:lnTo>
                  <a:pt x="2890231" y="0"/>
                </a:lnTo>
                <a:lnTo>
                  <a:pt x="2890231" y="6297748"/>
                </a:lnTo>
                <a:lnTo>
                  <a:pt x="0" y="62977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920797" y="2960552"/>
            <a:ext cx="2890231" cy="6297748"/>
          </a:xfrm>
          <a:custGeom>
            <a:avLst/>
            <a:gdLst/>
            <a:ahLst/>
            <a:cxnLst/>
            <a:rect r="r" b="b" t="t" l="l"/>
            <a:pathLst>
              <a:path h="6297748" w="2890231">
                <a:moveTo>
                  <a:pt x="0" y="0"/>
                </a:moveTo>
                <a:lnTo>
                  <a:pt x="2890232" y="0"/>
                </a:lnTo>
                <a:lnTo>
                  <a:pt x="2890232" y="6297748"/>
                </a:lnTo>
                <a:lnTo>
                  <a:pt x="0" y="62977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4369069" y="2960552"/>
            <a:ext cx="2890231" cy="6297748"/>
          </a:xfrm>
          <a:custGeom>
            <a:avLst/>
            <a:gdLst/>
            <a:ahLst/>
            <a:cxnLst/>
            <a:rect r="r" b="b" t="t" l="l"/>
            <a:pathLst>
              <a:path h="6297748" w="2890231">
                <a:moveTo>
                  <a:pt x="0" y="0"/>
                </a:moveTo>
                <a:lnTo>
                  <a:pt x="2890231" y="0"/>
                </a:lnTo>
                <a:lnTo>
                  <a:pt x="2890231" y="6297748"/>
                </a:lnTo>
                <a:lnTo>
                  <a:pt x="0" y="62977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10317" y="-4035600"/>
            <a:ext cx="10486082" cy="18312479"/>
            <a:chOff x="0" y="0"/>
            <a:chExt cx="13981443" cy="24416639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3981430" cy="24416638"/>
            </a:xfrm>
            <a:custGeom>
              <a:avLst/>
              <a:gdLst/>
              <a:ahLst/>
              <a:cxnLst/>
              <a:rect r="r" b="b" t="t" l="l"/>
              <a:pathLst>
                <a:path h="24416638" w="13981430">
                  <a:moveTo>
                    <a:pt x="13981430" y="0"/>
                  </a:moveTo>
                  <a:lnTo>
                    <a:pt x="0" y="0"/>
                  </a:lnTo>
                  <a:lnTo>
                    <a:pt x="0" y="24416638"/>
                  </a:lnTo>
                  <a:lnTo>
                    <a:pt x="13981430" y="24416638"/>
                  </a:lnTo>
                  <a:lnTo>
                    <a:pt x="13981430" y="0"/>
                  </a:lnTo>
                  <a:close/>
                </a:path>
              </a:pathLst>
            </a:custGeom>
            <a:blipFill>
              <a:blip r:embed="rId2"/>
              <a:stretch>
                <a:fillRect l="-1304" t="0" r="-20921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12336485" y="4386243"/>
            <a:ext cx="10293125" cy="1661036"/>
            <a:chOff x="0" y="0"/>
            <a:chExt cx="13724166" cy="2214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4128" cy="2214753"/>
            </a:xfrm>
            <a:custGeom>
              <a:avLst/>
              <a:gdLst/>
              <a:ahLst/>
              <a:cxnLst/>
              <a:rect r="r" b="b" t="t" l="l"/>
              <a:pathLst>
                <a:path h="2214753" w="13724128">
                  <a:moveTo>
                    <a:pt x="0" y="0"/>
                  </a:moveTo>
                  <a:lnTo>
                    <a:pt x="13724128" y="0"/>
                  </a:lnTo>
                  <a:lnTo>
                    <a:pt x="13724128" y="2214753"/>
                  </a:lnTo>
                  <a:lnTo>
                    <a:pt x="0" y="22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2218" t="0" r="-89327" b="-56753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5526798" cy="4856397"/>
            <a:chOff x="0" y="0"/>
            <a:chExt cx="20702397" cy="64751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02397" cy="6475222"/>
            </a:xfrm>
            <a:custGeom>
              <a:avLst/>
              <a:gdLst/>
              <a:ahLst/>
              <a:cxnLst/>
              <a:rect r="r" b="b" t="t" l="l"/>
              <a:pathLst>
                <a:path h="6475222" w="20702397">
                  <a:moveTo>
                    <a:pt x="0" y="0"/>
                  </a:moveTo>
                  <a:lnTo>
                    <a:pt x="20702397" y="0"/>
                  </a:lnTo>
                  <a:lnTo>
                    <a:pt x="20702397" y="6475222"/>
                  </a:lnTo>
                  <a:lnTo>
                    <a:pt x="0" y="6475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9646" t="-138025" r="-7357" b="966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28700" y="1028700"/>
            <a:ext cx="7385807" cy="1325753"/>
            <a:chOff x="0" y="0"/>
            <a:chExt cx="9847742" cy="17676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847739" cy="1767673"/>
            </a:xfrm>
            <a:custGeom>
              <a:avLst/>
              <a:gdLst/>
              <a:ahLst/>
              <a:cxnLst/>
              <a:rect r="r" b="b" t="t" l="l"/>
              <a:pathLst>
                <a:path h="1767673" w="9847739">
                  <a:moveTo>
                    <a:pt x="0" y="0"/>
                  </a:moveTo>
                  <a:lnTo>
                    <a:pt x="9847739" y="0"/>
                  </a:lnTo>
                  <a:lnTo>
                    <a:pt x="9847739" y="1767673"/>
                  </a:lnTo>
                  <a:lnTo>
                    <a:pt x="0" y="17676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408" t="0" r="-21482" b="-22758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9847742" cy="176767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8399"/>
                </a:lnSpc>
              </a:pPr>
              <a:r>
                <a:rPr lang="en-US" sz="6999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Costing &amp; Sizing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554147" y="2640249"/>
            <a:ext cx="8552816" cy="5858679"/>
          </a:xfrm>
          <a:custGeom>
            <a:avLst/>
            <a:gdLst/>
            <a:ahLst/>
            <a:cxnLst/>
            <a:rect r="r" b="b" t="t" l="l"/>
            <a:pathLst>
              <a:path h="5858679" w="8552816">
                <a:moveTo>
                  <a:pt x="0" y="0"/>
                </a:moveTo>
                <a:lnTo>
                  <a:pt x="8552816" y="0"/>
                </a:lnTo>
                <a:lnTo>
                  <a:pt x="8552816" y="5858679"/>
                </a:lnTo>
                <a:lnTo>
                  <a:pt x="0" y="58586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318314" y="2602149"/>
            <a:ext cx="8995251" cy="6990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API Endp</a:t>
            </a: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oints principaux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POST /auth/register</a:t>
            </a:r>
          </a:p>
          <a:p>
            <a:pPr algn="just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Body : {email, password}</a:t>
            </a:r>
          </a:p>
          <a:p>
            <a:pPr algn="just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Response : {user_id, token}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POST /videos/upload-request</a:t>
            </a:r>
          </a:p>
          <a:p>
            <a:pPr algn="just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Headers : Authorization: Bearer {token}</a:t>
            </a:r>
          </a:p>
          <a:p>
            <a:pPr algn="just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Body : {filename, content_type}</a:t>
            </a:r>
          </a:p>
          <a:p>
            <a:pPr algn="just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Response : {video_id, upload_url, job_id}</a:t>
            </a:r>
          </a:p>
          <a:p>
            <a:pPr algn="just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Note : upload_url est l'URI signée pour le PUT vers MinIO.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POST /videos/{id}/confirm-upload</a:t>
            </a:r>
          </a:p>
          <a:p>
            <a:pPr algn="just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Headers : Authorization: Bearer {token}</a:t>
            </a:r>
          </a:p>
          <a:p>
            <a:pPr algn="just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Body : {}</a:t>
            </a:r>
          </a:p>
          <a:p>
            <a:pPr algn="just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Response : {status: "queued"}</a:t>
            </a:r>
          </a:p>
          <a:p>
            <a:pPr algn="just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Note : Déclenche l'envoi du message dans RabbitMQ pour le Python Worker.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GET /videos/{id}/analysis</a:t>
            </a:r>
          </a:p>
          <a:p>
            <a:pPr algn="just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Headers : Authorization: Bearer {token}</a:t>
            </a:r>
          </a:p>
          <a:p>
            <a:pPr algn="just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Response : {landmarks, force_score, balance_score, recommendations}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GET /users/me/stats</a:t>
            </a:r>
          </a:p>
          <a:p>
            <a:pPr algn="just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Headers : Authorization: Bearer {token}</a:t>
            </a:r>
          </a:p>
          <a:p>
            <a:pPr algn="just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Response : {total_videos, avg_force_score, progression_30d}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34038" y="1339673"/>
            <a:ext cx="4324945" cy="80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647"/>
              </a:lnSpc>
            </a:pPr>
            <a:r>
              <a:rPr lang="en-US" sz="474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Technical Flows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10317" y="-4035600"/>
            <a:ext cx="10486082" cy="18312479"/>
            <a:chOff x="0" y="0"/>
            <a:chExt cx="13981443" cy="24416639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3981430" cy="24416638"/>
            </a:xfrm>
            <a:custGeom>
              <a:avLst/>
              <a:gdLst/>
              <a:ahLst/>
              <a:cxnLst/>
              <a:rect r="r" b="b" t="t" l="l"/>
              <a:pathLst>
                <a:path h="24416638" w="13981430">
                  <a:moveTo>
                    <a:pt x="13981430" y="0"/>
                  </a:moveTo>
                  <a:lnTo>
                    <a:pt x="0" y="0"/>
                  </a:lnTo>
                  <a:lnTo>
                    <a:pt x="0" y="24416638"/>
                  </a:lnTo>
                  <a:lnTo>
                    <a:pt x="13981430" y="24416638"/>
                  </a:lnTo>
                  <a:lnTo>
                    <a:pt x="13981430" y="0"/>
                  </a:lnTo>
                  <a:close/>
                </a:path>
              </a:pathLst>
            </a:custGeom>
            <a:blipFill>
              <a:blip r:embed="rId2"/>
              <a:stretch>
                <a:fillRect l="-1304" t="0" r="-20921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12336485" y="4386243"/>
            <a:ext cx="10293125" cy="1661036"/>
            <a:chOff x="0" y="0"/>
            <a:chExt cx="13724166" cy="2214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4128" cy="2214753"/>
            </a:xfrm>
            <a:custGeom>
              <a:avLst/>
              <a:gdLst/>
              <a:ahLst/>
              <a:cxnLst/>
              <a:rect r="r" b="b" t="t" l="l"/>
              <a:pathLst>
                <a:path h="2214753" w="13724128">
                  <a:moveTo>
                    <a:pt x="0" y="0"/>
                  </a:moveTo>
                  <a:lnTo>
                    <a:pt x="13724128" y="0"/>
                  </a:lnTo>
                  <a:lnTo>
                    <a:pt x="13724128" y="2214753"/>
                  </a:lnTo>
                  <a:lnTo>
                    <a:pt x="0" y="22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2218" t="0" r="-89327" b="-56753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5526798" cy="4856397"/>
            <a:chOff x="0" y="0"/>
            <a:chExt cx="20702397" cy="64751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02397" cy="6475222"/>
            </a:xfrm>
            <a:custGeom>
              <a:avLst/>
              <a:gdLst/>
              <a:ahLst/>
              <a:cxnLst/>
              <a:rect r="r" b="b" t="t" l="l"/>
              <a:pathLst>
                <a:path h="6475222" w="20702397">
                  <a:moveTo>
                    <a:pt x="0" y="0"/>
                  </a:moveTo>
                  <a:lnTo>
                    <a:pt x="20702397" y="0"/>
                  </a:lnTo>
                  <a:lnTo>
                    <a:pt x="20702397" y="6475222"/>
                  </a:lnTo>
                  <a:lnTo>
                    <a:pt x="0" y="6475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9646" t="-138025" r="-7357" b="966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28700" y="1028700"/>
            <a:ext cx="8238328" cy="1325753"/>
            <a:chOff x="0" y="0"/>
            <a:chExt cx="10984437" cy="17676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84433" cy="1767673"/>
            </a:xfrm>
            <a:custGeom>
              <a:avLst/>
              <a:gdLst/>
              <a:ahLst/>
              <a:cxnLst/>
              <a:rect r="r" b="b" t="t" l="l"/>
              <a:pathLst>
                <a:path h="1767673" w="10984433">
                  <a:moveTo>
                    <a:pt x="0" y="0"/>
                  </a:moveTo>
                  <a:lnTo>
                    <a:pt x="10984433" y="0"/>
                  </a:lnTo>
                  <a:lnTo>
                    <a:pt x="10984433" y="1767673"/>
                  </a:lnTo>
                  <a:lnTo>
                    <a:pt x="0" y="17676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365" t="0" r="-8911" b="-22758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0984437" cy="176767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399"/>
                </a:lnSpc>
              </a:pPr>
              <a:r>
                <a:rPr lang="en-US" sz="6999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Costing &amp; Sizing</a:t>
              </a:r>
            </a:p>
          </p:txBody>
        </p:sp>
      </p:grpSp>
      <p:graphicFrame>
        <p:nvGraphicFramePr>
          <p:cNvPr name="Object 17" id="17"/>
          <p:cNvGraphicFramePr/>
          <p:nvPr/>
        </p:nvGraphicFramePr>
        <p:xfrm>
          <a:off x="1028700" y="3462938"/>
          <a:ext cx="16230600" cy="6346698"/>
        </p:xfrm>
        <a:graphic>
          <a:graphicData uri="http://schemas.openxmlformats.org/presentationml/2006/ole">
            <p:oleObj imgW="19469100" imgH="95885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18" id="18"/>
          <p:cNvGraphicFramePr/>
          <p:nvPr/>
        </p:nvGraphicFramePr>
        <p:xfrm>
          <a:off x="11431833" y="3462938"/>
          <a:ext cx="13389357" cy="8229600"/>
        </p:xfrm>
        <a:graphic>
          <a:graphicData uri="http://schemas.openxmlformats.org/presentationml/2006/ole">
            <p:oleObj imgW="16065500" imgH="108966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9" id="19"/>
          <p:cNvSpPr txBox="true"/>
          <p:nvPr/>
        </p:nvSpPr>
        <p:spPr>
          <a:xfrm rot="0">
            <a:off x="11917374" y="1340697"/>
            <a:ext cx="5341926" cy="806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7"/>
              </a:lnSpc>
            </a:pPr>
            <a:r>
              <a:rPr lang="en-US" sz="474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Resource Inventory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2856952"/>
            <a:ext cx="6851555" cy="374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4"/>
              </a:lnSpc>
              <a:spcBef>
                <a:spcPct val="0"/>
              </a:spcBef>
            </a:pPr>
            <a:r>
              <a:rPr lang="en-US" b="true" sz="247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Inven</a:t>
            </a:r>
            <a:r>
              <a:rPr lang="en-US" b="true" sz="247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taire exhaustif - Infrastructure cloud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28392" y="2852723"/>
            <a:ext cx="5330908" cy="38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2"/>
              </a:lnSpc>
              <a:spcBef>
                <a:spcPct val="0"/>
              </a:spcBef>
            </a:pPr>
            <a:r>
              <a:rPr lang="en-US" b="true" sz="251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CAPEX - C</a:t>
            </a:r>
            <a:r>
              <a:rPr lang="en-US" b="true" sz="251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oûts uniques lancement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10317" y="-4035600"/>
            <a:ext cx="10486082" cy="18312479"/>
            <a:chOff x="0" y="0"/>
            <a:chExt cx="13981443" cy="24416639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3981430" cy="24416638"/>
            </a:xfrm>
            <a:custGeom>
              <a:avLst/>
              <a:gdLst/>
              <a:ahLst/>
              <a:cxnLst/>
              <a:rect r="r" b="b" t="t" l="l"/>
              <a:pathLst>
                <a:path h="24416638" w="13981430">
                  <a:moveTo>
                    <a:pt x="13981430" y="0"/>
                  </a:moveTo>
                  <a:lnTo>
                    <a:pt x="0" y="0"/>
                  </a:lnTo>
                  <a:lnTo>
                    <a:pt x="0" y="24416638"/>
                  </a:lnTo>
                  <a:lnTo>
                    <a:pt x="13981430" y="24416638"/>
                  </a:lnTo>
                  <a:lnTo>
                    <a:pt x="13981430" y="0"/>
                  </a:lnTo>
                  <a:close/>
                </a:path>
              </a:pathLst>
            </a:custGeom>
            <a:blipFill>
              <a:blip r:embed="rId2"/>
              <a:stretch>
                <a:fillRect l="-1304" t="0" r="-20921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12336485" y="4386243"/>
            <a:ext cx="10293125" cy="1661036"/>
            <a:chOff x="0" y="0"/>
            <a:chExt cx="13724166" cy="2214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4128" cy="2214753"/>
            </a:xfrm>
            <a:custGeom>
              <a:avLst/>
              <a:gdLst/>
              <a:ahLst/>
              <a:cxnLst/>
              <a:rect r="r" b="b" t="t" l="l"/>
              <a:pathLst>
                <a:path h="2214753" w="13724128">
                  <a:moveTo>
                    <a:pt x="0" y="0"/>
                  </a:moveTo>
                  <a:lnTo>
                    <a:pt x="13724128" y="0"/>
                  </a:lnTo>
                  <a:lnTo>
                    <a:pt x="13724128" y="2214753"/>
                  </a:lnTo>
                  <a:lnTo>
                    <a:pt x="0" y="22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2218" t="0" r="-89327" b="-56753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5526798" cy="4856397"/>
            <a:chOff x="0" y="0"/>
            <a:chExt cx="20702397" cy="64751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02397" cy="6475222"/>
            </a:xfrm>
            <a:custGeom>
              <a:avLst/>
              <a:gdLst/>
              <a:ahLst/>
              <a:cxnLst/>
              <a:rect r="r" b="b" t="t" l="l"/>
              <a:pathLst>
                <a:path h="6475222" w="20702397">
                  <a:moveTo>
                    <a:pt x="0" y="0"/>
                  </a:moveTo>
                  <a:lnTo>
                    <a:pt x="20702397" y="0"/>
                  </a:lnTo>
                  <a:lnTo>
                    <a:pt x="20702397" y="6475222"/>
                  </a:lnTo>
                  <a:lnTo>
                    <a:pt x="0" y="6475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9646" t="-138025" r="-7357" b="966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28700" y="1028700"/>
            <a:ext cx="8238328" cy="1325753"/>
            <a:chOff x="0" y="0"/>
            <a:chExt cx="10984437" cy="17676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84433" cy="1767673"/>
            </a:xfrm>
            <a:custGeom>
              <a:avLst/>
              <a:gdLst/>
              <a:ahLst/>
              <a:cxnLst/>
              <a:rect r="r" b="b" t="t" l="l"/>
              <a:pathLst>
                <a:path h="1767673" w="10984433">
                  <a:moveTo>
                    <a:pt x="0" y="0"/>
                  </a:moveTo>
                  <a:lnTo>
                    <a:pt x="10984433" y="0"/>
                  </a:lnTo>
                  <a:lnTo>
                    <a:pt x="10984433" y="1767673"/>
                  </a:lnTo>
                  <a:lnTo>
                    <a:pt x="0" y="17676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365" t="0" r="-8911" b="-22758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0984437" cy="176767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8399"/>
                </a:lnSpc>
              </a:pPr>
              <a:r>
                <a:rPr lang="en-US" sz="6999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Costing &amp; Sizing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113169" y="4856397"/>
            <a:ext cx="7146131" cy="1797561"/>
          </a:xfrm>
          <a:custGeom>
            <a:avLst/>
            <a:gdLst/>
            <a:ahLst/>
            <a:cxnLst/>
            <a:rect r="r" b="b" t="t" l="l"/>
            <a:pathLst>
              <a:path h="1797561" w="7146131">
                <a:moveTo>
                  <a:pt x="0" y="0"/>
                </a:moveTo>
                <a:lnTo>
                  <a:pt x="7146131" y="0"/>
                </a:lnTo>
                <a:lnTo>
                  <a:pt x="7146131" y="1797561"/>
                </a:lnTo>
                <a:lnTo>
                  <a:pt x="0" y="17975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aphicFrame>
        <p:nvGraphicFramePr>
          <p:cNvPr name="Object 18" id="18"/>
          <p:cNvGraphicFramePr/>
          <p:nvPr/>
        </p:nvGraphicFramePr>
        <p:xfrm>
          <a:off x="1028700" y="4846872"/>
          <a:ext cx="8741200" cy="3386138"/>
        </p:xfrm>
        <a:graphic>
          <a:graphicData uri="http://schemas.openxmlformats.org/presentationml/2006/ole">
            <p:oleObj imgW="10477500" imgH="51308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9" id="19"/>
          <p:cNvSpPr txBox="true"/>
          <p:nvPr/>
        </p:nvSpPr>
        <p:spPr>
          <a:xfrm rot="0">
            <a:off x="11541104" y="1340697"/>
            <a:ext cx="5717620" cy="80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647"/>
              </a:lnSpc>
            </a:pPr>
            <a:r>
              <a:rPr lang="en-US" sz="474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Financial Benchmark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4260303"/>
            <a:ext cx="7357219" cy="31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2"/>
              </a:lnSpc>
              <a:spcBef>
                <a:spcPct val="0"/>
              </a:spcBef>
            </a:pPr>
            <a:r>
              <a:rPr lang="en-US" b="true" sz="207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Comparaison prov</a:t>
            </a:r>
            <a:r>
              <a:rPr lang="en-US" b="true" sz="207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iders - Infrastructure MVP équivalente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74689" y="4228915"/>
            <a:ext cx="2458193" cy="357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0"/>
              </a:lnSpc>
              <a:spcBef>
                <a:spcPct val="0"/>
              </a:spcBef>
            </a:pPr>
            <a:r>
              <a:rPr lang="en-US" b="true" sz="236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Graph</a:t>
            </a:r>
            <a:r>
              <a:rPr lang="en-US" b="true" sz="236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ique visuel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10317" y="-4035600"/>
            <a:ext cx="10486082" cy="18312479"/>
            <a:chOff x="0" y="0"/>
            <a:chExt cx="13981443" cy="24416639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3981430" cy="24416638"/>
            </a:xfrm>
            <a:custGeom>
              <a:avLst/>
              <a:gdLst/>
              <a:ahLst/>
              <a:cxnLst/>
              <a:rect r="r" b="b" t="t" l="l"/>
              <a:pathLst>
                <a:path h="24416638" w="13981430">
                  <a:moveTo>
                    <a:pt x="13981430" y="0"/>
                  </a:moveTo>
                  <a:lnTo>
                    <a:pt x="0" y="0"/>
                  </a:lnTo>
                  <a:lnTo>
                    <a:pt x="0" y="24416638"/>
                  </a:lnTo>
                  <a:lnTo>
                    <a:pt x="13981430" y="24416638"/>
                  </a:lnTo>
                  <a:lnTo>
                    <a:pt x="13981430" y="0"/>
                  </a:lnTo>
                  <a:close/>
                </a:path>
              </a:pathLst>
            </a:custGeom>
            <a:blipFill>
              <a:blip r:embed="rId2"/>
              <a:stretch>
                <a:fillRect l="-1304" t="0" r="-20921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12336485" y="4386243"/>
            <a:ext cx="10293125" cy="1661036"/>
            <a:chOff x="0" y="0"/>
            <a:chExt cx="13724166" cy="2214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4128" cy="2214753"/>
            </a:xfrm>
            <a:custGeom>
              <a:avLst/>
              <a:gdLst/>
              <a:ahLst/>
              <a:cxnLst/>
              <a:rect r="r" b="b" t="t" l="l"/>
              <a:pathLst>
                <a:path h="2214753" w="13724128">
                  <a:moveTo>
                    <a:pt x="0" y="0"/>
                  </a:moveTo>
                  <a:lnTo>
                    <a:pt x="13724128" y="0"/>
                  </a:lnTo>
                  <a:lnTo>
                    <a:pt x="13724128" y="2214753"/>
                  </a:lnTo>
                  <a:lnTo>
                    <a:pt x="0" y="22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2218" t="0" r="-89327" b="-56753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5526798" cy="4856397"/>
            <a:chOff x="0" y="0"/>
            <a:chExt cx="20702397" cy="64751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02397" cy="6475222"/>
            </a:xfrm>
            <a:custGeom>
              <a:avLst/>
              <a:gdLst/>
              <a:ahLst/>
              <a:cxnLst/>
              <a:rect r="r" b="b" t="t" l="l"/>
              <a:pathLst>
                <a:path h="6475222" w="20702397">
                  <a:moveTo>
                    <a:pt x="0" y="0"/>
                  </a:moveTo>
                  <a:lnTo>
                    <a:pt x="20702397" y="0"/>
                  </a:lnTo>
                  <a:lnTo>
                    <a:pt x="20702397" y="6475222"/>
                  </a:lnTo>
                  <a:lnTo>
                    <a:pt x="0" y="6475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9646" t="-138025" r="-7357" b="966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28700" y="1028700"/>
            <a:ext cx="8238328" cy="1325753"/>
            <a:chOff x="0" y="0"/>
            <a:chExt cx="10984437" cy="17676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84433" cy="1767673"/>
            </a:xfrm>
            <a:custGeom>
              <a:avLst/>
              <a:gdLst/>
              <a:ahLst/>
              <a:cxnLst/>
              <a:rect r="r" b="b" t="t" l="l"/>
              <a:pathLst>
                <a:path h="1767673" w="10984433">
                  <a:moveTo>
                    <a:pt x="0" y="0"/>
                  </a:moveTo>
                  <a:lnTo>
                    <a:pt x="10984433" y="0"/>
                  </a:lnTo>
                  <a:lnTo>
                    <a:pt x="10984433" y="1767673"/>
                  </a:lnTo>
                  <a:lnTo>
                    <a:pt x="0" y="17676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365" t="0" r="-8911" b="-22758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0984437" cy="176767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8399"/>
                </a:lnSpc>
              </a:pPr>
              <a:r>
                <a:rPr lang="en-US" sz="6999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Costing &amp; Sizing</a:t>
              </a:r>
            </a:p>
          </p:txBody>
        </p:sp>
      </p:grpSp>
      <p:graphicFrame>
        <p:nvGraphicFramePr>
          <p:cNvPr name="Object 17" id="17"/>
          <p:cNvGraphicFramePr/>
          <p:nvPr/>
        </p:nvGraphicFramePr>
        <p:xfrm>
          <a:off x="1028700" y="4909411"/>
          <a:ext cx="12886521" cy="8229600"/>
        </p:xfrm>
        <a:graphic>
          <a:graphicData uri="http://schemas.openxmlformats.org/presentationml/2006/ole">
            <p:oleObj imgW="15455900" imgH="108077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8" id="18"/>
          <p:cNvSpPr txBox="true"/>
          <p:nvPr/>
        </p:nvSpPr>
        <p:spPr>
          <a:xfrm rot="0">
            <a:off x="12717506" y="942975"/>
            <a:ext cx="4541794" cy="1647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7"/>
              </a:lnSpc>
            </a:pPr>
            <a:r>
              <a:rPr lang="en-US" sz="474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Forecast Budget</a:t>
            </a:r>
          </a:p>
          <a:p>
            <a:pPr algn="ctr">
              <a:lnSpc>
                <a:spcPts val="6647"/>
              </a:lnSpc>
            </a:pPr>
            <a:r>
              <a:rPr lang="en-US" sz="474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(CAPEX/OPEX)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110660" y="4419987"/>
            <a:ext cx="299221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Budget prév</a:t>
            </a:r>
            <a:r>
              <a:rPr lang="en-US" b="true" sz="21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isionnel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10987" y="4086612"/>
            <a:ext cx="4859893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Déta</a:t>
            </a:r>
            <a:r>
              <a:rPr lang="en-US" b="true" sz="21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il évolution infrastructure Scale</a:t>
            </a:r>
          </a:p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(1000 users)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22566" y="4918936"/>
            <a:ext cx="6836734" cy="2045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7"/>
              </a:lnSpc>
            </a:pPr>
            <a:r>
              <a:rPr lang="en-US" sz="1972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Upgrades nécessaires :</a:t>
            </a:r>
          </a:p>
          <a:p>
            <a:pPr algn="l" marL="425931" indent="-212966" lvl="1">
              <a:lnSpc>
                <a:spcPts val="2367"/>
              </a:lnSpc>
              <a:buFont typeface="Arial"/>
              <a:buChar char="•"/>
            </a:pPr>
            <a:r>
              <a:rPr lang="en-US" b="true" sz="1972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Machine DB : </a:t>
            </a:r>
            <a:r>
              <a:rPr lang="en-US" sz="197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 vCPU → 8 vCPU, 16 GB → 32 GB (+30€)</a:t>
            </a:r>
          </a:p>
          <a:p>
            <a:pPr algn="l" marL="425931" indent="-212966" lvl="1">
              <a:lnSpc>
                <a:spcPts val="236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972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W</a:t>
            </a:r>
            <a:r>
              <a:rPr lang="en-US" b="true" sz="1972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orkers ML : </a:t>
            </a:r>
            <a:r>
              <a:rPr lang="en-US" sz="197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×2 machines supplémentaires (+90€)</a:t>
            </a:r>
          </a:p>
          <a:p>
            <a:pPr algn="l" marL="425931" indent="-212966" lvl="1">
              <a:lnSpc>
                <a:spcPts val="236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972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Redis dédié : </a:t>
            </a:r>
            <a:r>
              <a:rPr lang="en-US" sz="197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Cache sessions + queue (+12€)</a:t>
            </a:r>
          </a:p>
          <a:p>
            <a:pPr algn="l" marL="425931" indent="-212966" lvl="1">
              <a:lnSpc>
                <a:spcPts val="236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972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CDN BunnyCDN : </a:t>
            </a:r>
            <a:r>
              <a:rPr lang="en-US" sz="197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Servir vidéos rapidement (+8€)</a:t>
            </a:r>
          </a:p>
          <a:p>
            <a:pPr algn="l" marL="425931" indent="-212966" lvl="1">
              <a:lnSpc>
                <a:spcPts val="236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972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Monitoring Pro : </a:t>
            </a:r>
            <a:r>
              <a:rPr lang="en-US" sz="197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Sentry paid tier (+15€)</a:t>
            </a:r>
          </a:p>
          <a:p>
            <a:pPr algn="l" marL="425931" indent="-212966" lvl="1">
              <a:lnSpc>
                <a:spcPts val="236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972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Total : </a:t>
            </a:r>
            <a:r>
              <a:rPr lang="en-US" sz="197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231€/mois (×2.4 vs MVP)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10317" y="-4035600"/>
            <a:ext cx="10486082" cy="18312479"/>
            <a:chOff x="0" y="0"/>
            <a:chExt cx="13981443" cy="24416639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3981430" cy="24416638"/>
            </a:xfrm>
            <a:custGeom>
              <a:avLst/>
              <a:gdLst/>
              <a:ahLst/>
              <a:cxnLst/>
              <a:rect r="r" b="b" t="t" l="l"/>
              <a:pathLst>
                <a:path h="24416638" w="13981430">
                  <a:moveTo>
                    <a:pt x="13981430" y="0"/>
                  </a:moveTo>
                  <a:lnTo>
                    <a:pt x="0" y="0"/>
                  </a:lnTo>
                  <a:lnTo>
                    <a:pt x="0" y="24416638"/>
                  </a:lnTo>
                  <a:lnTo>
                    <a:pt x="13981430" y="24416638"/>
                  </a:lnTo>
                  <a:lnTo>
                    <a:pt x="13981430" y="0"/>
                  </a:lnTo>
                  <a:close/>
                </a:path>
              </a:pathLst>
            </a:custGeom>
            <a:blipFill>
              <a:blip r:embed="rId2"/>
              <a:stretch>
                <a:fillRect l="-1304" t="0" r="-20921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12336485" y="4386243"/>
            <a:ext cx="10293125" cy="1661036"/>
            <a:chOff x="0" y="0"/>
            <a:chExt cx="13724166" cy="2214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4128" cy="2214753"/>
            </a:xfrm>
            <a:custGeom>
              <a:avLst/>
              <a:gdLst/>
              <a:ahLst/>
              <a:cxnLst/>
              <a:rect r="r" b="b" t="t" l="l"/>
              <a:pathLst>
                <a:path h="2214753" w="13724128">
                  <a:moveTo>
                    <a:pt x="0" y="0"/>
                  </a:moveTo>
                  <a:lnTo>
                    <a:pt x="13724128" y="0"/>
                  </a:lnTo>
                  <a:lnTo>
                    <a:pt x="13724128" y="2214753"/>
                  </a:lnTo>
                  <a:lnTo>
                    <a:pt x="0" y="22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2218" t="0" r="-89327" b="-56753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5526798" cy="4856397"/>
            <a:chOff x="0" y="0"/>
            <a:chExt cx="20702397" cy="64751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02397" cy="6475222"/>
            </a:xfrm>
            <a:custGeom>
              <a:avLst/>
              <a:gdLst/>
              <a:ahLst/>
              <a:cxnLst/>
              <a:rect r="r" b="b" t="t" l="l"/>
              <a:pathLst>
                <a:path h="6475222" w="20702397">
                  <a:moveTo>
                    <a:pt x="0" y="0"/>
                  </a:moveTo>
                  <a:lnTo>
                    <a:pt x="20702397" y="0"/>
                  </a:lnTo>
                  <a:lnTo>
                    <a:pt x="20702397" y="6475222"/>
                  </a:lnTo>
                  <a:lnTo>
                    <a:pt x="0" y="6475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9646" t="-138025" r="-7357" b="966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28700" y="1028700"/>
            <a:ext cx="8238328" cy="1325753"/>
            <a:chOff x="0" y="0"/>
            <a:chExt cx="10984437" cy="17676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84433" cy="1767673"/>
            </a:xfrm>
            <a:custGeom>
              <a:avLst/>
              <a:gdLst/>
              <a:ahLst/>
              <a:cxnLst/>
              <a:rect r="r" b="b" t="t" l="l"/>
              <a:pathLst>
                <a:path h="1767673" w="10984433">
                  <a:moveTo>
                    <a:pt x="0" y="0"/>
                  </a:moveTo>
                  <a:lnTo>
                    <a:pt x="10984433" y="0"/>
                  </a:lnTo>
                  <a:lnTo>
                    <a:pt x="10984433" y="1767673"/>
                  </a:lnTo>
                  <a:lnTo>
                    <a:pt x="0" y="17676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365" t="0" r="-8911" b="-22758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0984437" cy="176767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8399"/>
                </a:lnSpc>
              </a:pPr>
              <a:r>
                <a:rPr lang="en-US" sz="6999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Impacts &amp; Risks</a:t>
              </a:r>
            </a:p>
          </p:txBody>
        </p:sp>
      </p:grpSp>
      <p:graphicFrame>
        <p:nvGraphicFramePr>
          <p:cNvPr name="Object 17" id="17"/>
          <p:cNvGraphicFramePr/>
          <p:nvPr/>
        </p:nvGraphicFramePr>
        <p:xfrm>
          <a:off x="6475145" y="2428199"/>
          <a:ext cx="13389357" cy="8229600"/>
        </p:xfrm>
        <a:graphic>
          <a:graphicData uri="http://schemas.openxmlformats.org/presentationml/2006/ole">
            <p:oleObj imgW="16065500" imgH="108966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pic>
        <p:nvPicPr>
          <p:cNvPr name="Picture 18" id="1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11280" y="3598967"/>
            <a:ext cx="6209042" cy="6178392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3722141" y="1340397"/>
            <a:ext cx="3536871" cy="80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647"/>
              </a:lnSpc>
            </a:pPr>
            <a:r>
              <a:rPr lang="en-US" sz="474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Risk Analysis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76496" y="3797053"/>
            <a:ext cx="3678610" cy="31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2"/>
              </a:lnSpc>
              <a:spcBef>
                <a:spcPct val="0"/>
              </a:spcBef>
            </a:pPr>
            <a:r>
              <a:rPr lang="en-US" b="true" sz="207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Matr</a:t>
            </a:r>
            <a:r>
              <a:rPr lang="en-US" b="true" sz="207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ice Probabilité × Impact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575126" y="2070731"/>
            <a:ext cx="2584193" cy="357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0"/>
              </a:lnSpc>
              <a:spcBef>
                <a:spcPct val="0"/>
              </a:spcBef>
            </a:pPr>
            <a:r>
              <a:rPr lang="en-US" b="true" sz="236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</a:t>
            </a:r>
            <a:r>
              <a:rPr lang="en-US" b="true" sz="236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isques identifiés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786660" y="4369136"/>
            <a:ext cx="87154" cy="19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611884" y="4369136"/>
            <a:ext cx="230267" cy="19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8/9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041637" y="4369136"/>
            <a:ext cx="87154" cy="19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916259" y="5311507"/>
            <a:ext cx="87154" cy="19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786660" y="6205239"/>
            <a:ext cx="87154" cy="19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916259" y="6205239"/>
            <a:ext cx="87154" cy="19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041637" y="6205239"/>
            <a:ext cx="87154" cy="19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10317" y="-4035600"/>
            <a:ext cx="10486082" cy="18312479"/>
            <a:chOff x="0" y="0"/>
            <a:chExt cx="13981443" cy="24416639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3981430" cy="24416638"/>
            </a:xfrm>
            <a:custGeom>
              <a:avLst/>
              <a:gdLst/>
              <a:ahLst/>
              <a:cxnLst/>
              <a:rect r="r" b="b" t="t" l="l"/>
              <a:pathLst>
                <a:path h="24416638" w="13981430">
                  <a:moveTo>
                    <a:pt x="13981430" y="0"/>
                  </a:moveTo>
                  <a:lnTo>
                    <a:pt x="0" y="0"/>
                  </a:lnTo>
                  <a:lnTo>
                    <a:pt x="0" y="24416638"/>
                  </a:lnTo>
                  <a:lnTo>
                    <a:pt x="13981430" y="24416638"/>
                  </a:lnTo>
                  <a:lnTo>
                    <a:pt x="13981430" y="0"/>
                  </a:lnTo>
                  <a:close/>
                </a:path>
              </a:pathLst>
            </a:custGeom>
            <a:blipFill>
              <a:blip r:embed="rId2"/>
              <a:stretch>
                <a:fillRect l="-1304" t="0" r="-20921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12336485" y="4386243"/>
            <a:ext cx="10293125" cy="1661036"/>
            <a:chOff x="0" y="0"/>
            <a:chExt cx="13724166" cy="2214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4128" cy="2214753"/>
            </a:xfrm>
            <a:custGeom>
              <a:avLst/>
              <a:gdLst/>
              <a:ahLst/>
              <a:cxnLst/>
              <a:rect r="r" b="b" t="t" l="l"/>
              <a:pathLst>
                <a:path h="2214753" w="13724128">
                  <a:moveTo>
                    <a:pt x="0" y="0"/>
                  </a:moveTo>
                  <a:lnTo>
                    <a:pt x="13724128" y="0"/>
                  </a:lnTo>
                  <a:lnTo>
                    <a:pt x="13724128" y="2214753"/>
                  </a:lnTo>
                  <a:lnTo>
                    <a:pt x="0" y="22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2218" t="0" r="-89327" b="-56753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5526798" cy="4856397"/>
            <a:chOff x="0" y="0"/>
            <a:chExt cx="20702397" cy="64751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02397" cy="6475222"/>
            </a:xfrm>
            <a:custGeom>
              <a:avLst/>
              <a:gdLst/>
              <a:ahLst/>
              <a:cxnLst/>
              <a:rect r="r" b="b" t="t" l="l"/>
              <a:pathLst>
                <a:path h="6475222" w="20702397">
                  <a:moveTo>
                    <a:pt x="0" y="0"/>
                  </a:moveTo>
                  <a:lnTo>
                    <a:pt x="20702397" y="0"/>
                  </a:lnTo>
                  <a:lnTo>
                    <a:pt x="20702397" y="6475222"/>
                  </a:lnTo>
                  <a:lnTo>
                    <a:pt x="0" y="6475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9646" t="-138025" r="-7357" b="966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28700" y="1028700"/>
            <a:ext cx="8238328" cy="1325753"/>
            <a:chOff x="0" y="0"/>
            <a:chExt cx="10984437" cy="17676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84433" cy="1767673"/>
            </a:xfrm>
            <a:custGeom>
              <a:avLst/>
              <a:gdLst/>
              <a:ahLst/>
              <a:cxnLst/>
              <a:rect r="r" b="b" t="t" l="l"/>
              <a:pathLst>
                <a:path h="1767673" w="10984433">
                  <a:moveTo>
                    <a:pt x="0" y="0"/>
                  </a:moveTo>
                  <a:lnTo>
                    <a:pt x="10984433" y="0"/>
                  </a:lnTo>
                  <a:lnTo>
                    <a:pt x="10984433" y="1767673"/>
                  </a:lnTo>
                  <a:lnTo>
                    <a:pt x="0" y="17676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365" t="0" r="-8911" b="-22758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0984437" cy="176767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8399"/>
                </a:lnSpc>
              </a:pPr>
              <a:r>
                <a:rPr lang="en-US" sz="6999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Impacts &amp; Risks</a:t>
              </a:r>
            </a:p>
          </p:txBody>
        </p:sp>
      </p:grpSp>
      <p:graphicFrame>
        <p:nvGraphicFramePr>
          <p:cNvPr name="Object 17" id="17"/>
          <p:cNvGraphicFramePr/>
          <p:nvPr/>
        </p:nvGraphicFramePr>
        <p:xfrm>
          <a:off x="5095708" y="3637600"/>
          <a:ext cx="11689564" cy="8229600"/>
        </p:xfrm>
        <a:graphic>
          <a:graphicData uri="http://schemas.openxmlformats.org/presentationml/2006/ole">
            <p:oleObj imgW="14020800" imgH="105537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8" id="18"/>
          <p:cNvSpPr txBox="true"/>
          <p:nvPr/>
        </p:nvSpPr>
        <p:spPr>
          <a:xfrm rot="0">
            <a:off x="9993231" y="1340697"/>
            <a:ext cx="7265432" cy="80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647"/>
              </a:lnSpc>
            </a:pPr>
            <a:r>
              <a:rPr lang="en-US" sz="474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GreenIT &amp; Societal Impact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967542" y="2982782"/>
            <a:ext cx="8352915" cy="463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8"/>
              </a:lnSpc>
              <a:spcBef>
                <a:spcPct val="0"/>
              </a:spcBef>
            </a:pPr>
            <a:r>
              <a:rPr lang="en-US" b="true" sz="300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Acti</a:t>
            </a:r>
            <a:r>
              <a:rPr lang="en-US" b="true" sz="300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ons éco-conception mises en œuvre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10317" y="-4035600"/>
            <a:ext cx="10486082" cy="18312479"/>
            <a:chOff x="0" y="0"/>
            <a:chExt cx="13981443" cy="24416639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3981430" cy="24416638"/>
            </a:xfrm>
            <a:custGeom>
              <a:avLst/>
              <a:gdLst/>
              <a:ahLst/>
              <a:cxnLst/>
              <a:rect r="r" b="b" t="t" l="l"/>
              <a:pathLst>
                <a:path h="24416638" w="13981430">
                  <a:moveTo>
                    <a:pt x="13981430" y="0"/>
                  </a:moveTo>
                  <a:lnTo>
                    <a:pt x="0" y="0"/>
                  </a:lnTo>
                  <a:lnTo>
                    <a:pt x="0" y="24416638"/>
                  </a:lnTo>
                  <a:lnTo>
                    <a:pt x="13981430" y="24416638"/>
                  </a:lnTo>
                  <a:lnTo>
                    <a:pt x="13981430" y="0"/>
                  </a:lnTo>
                  <a:close/>
                </a:path>
              </a:pathLst>
            </a:custGeom>
            <a:blipFill>
              <a:blip r:embed="rId2"/>
              <a:stretch>
                <a:fillRect l="-1304" t="0" r="-20921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12336485" y="4386243"/>
            <a:ext cx="10293125" cy="1661036"/>
            <a:chOff x="0" y="0"/>
            <a:chExt cx="13724166" cy="2214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4128" cy="2214753"/>
            </a:xfrm>
            <a:custGeom>
              <a:avLst/>
              <a:gdLst/>
              <a:ahLst/>
              <a:cxnLst/>
              <a:rect r="r" b="b" t="t" l="l"/>
              <a:pathLst>
                <a:path h="2214753" w="13724128">
                  <a:moveTo>
                    <a:pt x="0" y="0"/>
                  </a:moveTo>
                  <a:lnTo>
                    <a:pt x="13724128" y="0"/>
                  </a:lnTo>
                  <a:lnTo>
                    <a:pt x="13724128" y="2214753"/>
                  </a:lnTo>
                  <a:lnTo>
                    <a:pt x="0" y="22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2218" t="0" r="-89327" b="-56753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5526798" cy="4856397"/>
            <a:chOff x="0" y="0"/>
            <a:chExt cx="20702397" cy="64751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02397" cy="6475222"/>
            </a:xfrm>
            <a:custGeom>
              <a:avLst/>
              <a:gdLst/>
              <a:ahLst/>
              <a:cxnLst/>
              <a:rect r="r" b="b" t="t" l="l"/>
              <a:pathLst>
                <a:path h="6475222" w="20702397">
                  <a:moveTo>
                    <a:pt x="0" y="0"/>
                  </a:moveTo>
                  <a:lnTo>
                    <a:pt x="20702397" y="0"/>
                  </a:lnTo>
                  <a:lnTo>
                    <a:pt x="20702397" y="6475222"/>
                  </a:lnTo>
                  <a:lnTo>
                    <a:pt x="0" y="6475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9646" t="-138025" r="-7357" b="966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28700" y="1028700"/>
            <a:ext cx="8238328" cy="1325753"/>
            <a:chOff x="0" y="0"/>
            <a:chExt cx="10984437" cy="17676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84433" cy="1767673"/>
            </a:xfrm>
            <a:custGeom>
              <a:avLst/>
              <a:gdLst/>
              <a:ahLst/>
              <a:cxnLst/>
              <a:rect r="r" b="b" t="t" l="l"/>
              <a:pathLst>
                <a:path h="1767673" w="10984433">
                  <a:moveTo>
                    <a:pt x="0" y="0"/>
                  </a:moveTo>
                  <a:lnTo>
                    <a:pt x="10984433" y="0"/>
                  </a:lnTo>
                  <a:lnTo>
                    <a:pt x="10984433" y="1767673"/>
                  </a:lnTo>
                  <a:lnTo>
                    <a:pt x="0" y="17676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365" t="0" r="-8911" b="-22758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0984437" cy="176767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8399"/>
                </a:lnSpc>
              </a:pPr>
              <a:r>
                <a:rPr lang="en-US" sz="6999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Impacts &amp; Risks</a:t>
              </a:r>
            </a:p>
          </p:txBody>
        </p:sp>
      </p:grpSp>
      <p:graphicFrame>
        <p:nvGraphicFramePr>
          <p:cNvPr name="Object 17" id="17"/>
          <p:cNvGraphicFramePr/>
          <p:nvPr/>
        </p:nvGraphicFramePr>
        <p:xfrm>
          <a:off x="3727847" y="3988909"/>
          <a:ext cx="16154826" cy="6005517"/>
        </p:xfrm>
        <a:graphic>
          <a:graphicData uri="http://schemas.openxmlformats.org/presentationml/2006/ole">
            <p:oleObj imgW="19380200" imgH="92329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8" id="18"/>
          <p:cNvSpPr txBox="true"/>
          <p:nvPr/>
        </p:nvSpPr>
        <p:spPr>
          <a:xfrm rot="0">
            <a:off x="10801252" y="1340697"/>
            <a:ext cx="6457474" cy="80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647"/>
              </a:lnSpc>
            </a:pPr>
            <a:r>
              <a:rPr lang="en-US" sz="474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Resilience &amp; Continuity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976901" y="3313991"/>
            <a:ext cx="8352915" cy="463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8"/>
              </a:lnSpc>
              <a:spcBef>
                <a:spcPct val="0"/>
              </a:spcBef>
            </a:pPr>
            <a:r>
              <a:rPr lang="en-US" b="true" sz="300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Points de défaillance uniques identifiés :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506882" y="-296637"/>
            <a:ext cx="19295278" cy="10865520"/>
            <a:chOff x="0" y="0"/>
            <a:chExt cx="25727038" cy="14487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727025" cy="14487398"/>
            </a:xfrm>
            <a:custGeom>
              <a:avLst/>
              <a:gdLst/>
              <a:ahLst/>
              <a:cxnLst/>
              <a:rect r="r" b="b" t="t" l="l"/>
              <a:pathLst>
                <a:path h="14487398" w="25727025">
                  <a:moveTo>
                    <a:pt x="0" y="0"/>
                  </a:moveTo>
                  <a:lnTo>
                    <a:pt x="25727025" y="0"/>
                  </a:lnTo>
                  <a:lnTo>
                    <a:pt x="25727025" y="14487398"/>
                  </a:lnTo>
                  <a:lnTo>
                    <a:pt x="0" y="144873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2378" t="2613" r="2559" b="244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724" y="-5039"/>
            <a:ext cx="18311755" cy="10298163"/>
            <a:chOff x="0" y="0"/>
            <a:chExt cx="24415674" cy="137308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15623" cy="13730860"/>
            </a:xfrm>
            <a:custGeom>
              <a:avLst/>
              <a:gdLst/>
              <a:ahLst/>
              <a:cxnLst/>
              <a:rect r="r" b="b" t="t" l="l"/>
              <a:pathLst>
                <a:path h="13730860" w="24415623">
                  <a:moveTo>
                    <a:pt x="0" y="0"/>
                  </a:moveTo>
                  <a:lnTo>
                    <a:pt x="24415623" y="0"/>
                  </a:lnTo>
                  <a:lnTo>
                    <a:pt x="24415623" y="13730860"/>
                  </a:lnTo>
                  <a:lnTo>
                    <a:pt x="0" y="13730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109" t="0" r="-6578" b="-769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45922" y="7087676"/>
            <a:ext cx="10801" cy="5763"/>
            <a:chOff x="0" y="0"/>
            <a:chExt cx="14402" cy="76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79840" y="6697437"/>
            <a:ext cx="4324" cy="1438"/>
            <a:chOff x="0" y="0"/>
            <a:chExt cx="5766" cy="19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089038" y="7077599"/>
            <a:ext cx="43920" cy="12964"/>
            <a:chOff x="0" y="0"/>
            <a:chExt cx="58560" cy="172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135120" y="7090562"/>
            <a:ext cx="8639" cy="3600"/>
            <a:chOff x="0" y="0"/>
            <a:chExt cx="11519" cy="48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145922" y="7094877"/>
            <a:ext cx="10801" cy="5763"/>
            <a:chOff x="0" y="0"/>
            <a:chExt cx="14402" cy="76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572474" y="1028700"/>
            <a:ext cx="2855705" cy="3336041"/>
            <a:chOff x="0" y="0"/>
            <a:chExt cx="3807607" cy="444805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07607" cy="3807607"/>
            </a:xfrm>
            <a:custGeom>
              <a:avLst/>
              <a:gdLst/>
              <a:ahLst/>
              <a:cxnLst/>
              <a:rect r="r" b="b" t="t" l="l"/>
              <a:pathLst>
                <a:path h="3807607" w="3807607">
                  <a:moveTo>
                    <a:pt x="0" y="0"/>
                  </a:moveTo>
                  <a:lnTo>
                    <a:pt x="3807607" y="0"/>
                  </a:lnTo>
                  <a:lnTo>
                    <a:pt x="3807607" y="3807607"/>
                  </a:lnTo>
                  <a:lnTo>
                    <a:pt x="0" y="38076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0" y="3714892"/>
              <a:ext cx="3807607" cy="7331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92"/>
                </a:lnSpc>
              </a:pPr>
              <a:r>
                <a:rPr lang="en-US" sz="1827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Notre communautée</a:t>
              </a:r>
            </a:p>
            <a:p>
              <a:pPr algn="ctr">
                <a:lnSpc>
                  <a:spcPts val="2192"/>
                </a:lnSpc>
              </a:pPr>
              <a:r>
                <a:rPr lang="en-US" sz="1827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Discord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557699" y="5926099"/>
            <a:ext cx="2885257" cy="3332201"/>
            <a:chOff x="0" y="0"/>
            <a:chExt cx="3847009" cy="44429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3844" y="0"/>
              <a:ext cx="3819321" cy="3819321"/>
            </a:xfrm>
            <a:custGeom>
              <a:avLst/>
              <a:gdLst/>
              <a:ahLst/>
              <a:cxnLst/>
              <a:rect r="r" b="b" t="t" l="l"/>
              <a:pathLst>
                <a:path h="3819321" w="3819321">
                  <a:moveTo>
                    <a:pt x="0" y="0"/>
                  </a:moveTo>
                  <a:lnTo>
                    <a:pt x="3819321" y="0"/>
                  </a:lnTo>
                  <a:lnTo>
                    <a:pt x="3819321" y="3819321"/>
                  </a:lnTo>
                  <a:lnTo>
                    <a:pt x="0" y="3819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0" y="3692561"/>
              <a:ext cx="3847009" cy="7503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15"/>
                </a:lnSpc>
              </a:pPr>
              <a:r>
                <a:rPr lang="en-US" sz="1846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Notre organisation</a:t>
              </a:r>
            </a:p>
            <a:p>
              <a:pPr algn="ctr">
                <a:lnSpc>
                  <a:spcPts val="2215"/>
                </a:lnSpc>
              </a:pPr>
              <a:r>
                <a:rPr lang="en-US" sz="1846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GitHub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5208033" y="7429500"/>
            <a:ext cx="2384096" cy="2384096"/>
          </a:xfrm>
          <a:custGeom>
            <a:avLst/>
            <a:gdLst/>
            <a:ahLst/>
            <a:cxnLst/>
            <a:rect r="r" b="b" t="t" l="l"/>
            <a:pathLst>
              <a:path h="2384096" w="2384096">
                <a:moveTo>
                  <a:pt x="0" y="0"/>
                </a:moveTo>
                <a:lnTo>
                  <a:pt x="2384096" y="0"/>
                </a:lnTo>
                <a:lnTo>
                  <a:pt x="2384096" y="2384096"/>
                </a:lnTo>
                <a:lnTo>
                  <a:pt x="0" y="23840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015280" y="1028700"/>
            <a:ext cx="8769601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Merci.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015280" y="3076575"/>
            <a:ext cx="8769601" cy="412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Hésitez pas à nous suivre !</a:t>
            </a:r>
          </a:p>
          <a:p>
            <a:pPr algn="ctr">
              <a:lnSpc>
                <a:spcPts val="3600"/>
              </a:lnSpc>
            </a:pPr>
          </a:p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Si vous avez des questions, n’hésitez pas à contacter nos membres :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olivier.pouech@epitech.eu (CEO)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gianni.tuero@epitech.eu (chef de projet)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nicolas.toro@epitech.eu (chef d’équipe) 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christophe.vandevoir@epitech.eu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lou.pellegrino@epitech.eu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DAHCPBR7SCQ</dc:identifier>
  <dcterms:modified xsi:type="dcterms:W3CDTF">2011-08-01T06:04:30Z</dcterms:modified>
  <cp:revision>1</cp:revision>
  <dc:title>Ascension - Workshops</dc:title>
</cp:coreProperties>
</file>