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Montserrat Ultra-Bold" charset="1" panose="00000900000000000000"/>
      <p:regular r:id="rId24"/>
    </p:embeddedFont>
    <p:embeddedFont>
      <p:font typeface="Poppins Semi-Bold" charset="1" panose="00000700000000000000"/>
      <p:regular r:id="rId25"/>
    </p:embeddedFont>
    <p:embeddedFont>
      <p:font typeface="More Sugar" charset="1" panose="00000000000000000000"/>
      <p:regular r:id="rId26"/>
    </p:embeddedFont>
    <p:embeddedFont>
      <p:font typeface="DM Sans" charset="1" panose="00000000000000000000"/>
      <p:regular r:id="rId27"/>
    </p:embeddedFont>
    <p:embeddedFont>
      <p:font typeface="Montserrat Bold" charset="1" panose="00000800000000000000"/>
      <p:regular r:id="rId28"/>
    </p:embeddedFont>
    <p:embeddedFont>
      <p:font typeface="Montserrat" charset="1" panose="000005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jpeg" Type="http://schemas.openxmlformats.org/officeDocument/2006/relationships/image"/><Relationship Id="rId7" Target="../media/image8.png" Type="http://schemas.openxmlformats.org/officeDocument/2006/relationships/image"/><Relationship Id="rId8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7.jpeg" Type="http://schemas.openxmlformats.org/officeDocument/2006/relationships/image"/><Relationship Id="rId5" Target="https://www.youtube.com/shorts/LkfplhyR1fQ" TargetMode="External" Type="http://schemas.openxmlformats.org/officeDocument/2006/relationships/video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907507" y="5301095"/>
            <a:ext cx="10066789" cy="8229600"/>
          </a:xfrm>
          <a:custGeom>
            <a:avLst/>
            <a:gdLst/>
            <a:ahLst/>
            <a:cxnLst/>
            <a:rect r="r" b="b" t="t" l="l"/>
            <a:pathLst>
              <a:path h="8229600" w="10066789">
                <a:moveTo>
                  <a:pt x="1006678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0066789" y="0"/>
                </a:lnTo>
                <a:lnTo>
                  <a:pt x="10066789" y="8229600"/>
                </a:lnTo>
                <a:close/>
              </a:path>
            </a:pathLst>
          </a:custGeom>
          <a:blipFill>
            <a:blip r:embed="rId3">
              <a:alphaModFix amt="31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10310479">
            <a:off x="14882737" y="2766937"/>
            <a:ext cx="2229637" cy="222963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7214" y="1500967"/>
            <a:ext cx="6667212" cy="6667212"/>
          </a:xfrm>
          <a:custGeom>
            <a:avLst/>
            <a:gdLst/>
            <a:ahLst/>
            <a:cxnLst/>
            <a:rect r="r" b="b" t="t" l="l"/>
            <a:pathLst>
              <a:path h="6667212" w="6667212">
                <a:moveTo>
                  <a:pt x="0" y="0"/>
                </a:moveTo>
                <a:lnTo>
                  <a:pt x="6667212" y="0"/>
                </a:lnTo>
                <a:lnTo>
                  <a:pt x="6667212" y="6667211"/>
                </a:lnTo>
                <a:lnTo>
                  <a:pt x="0" y="6667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287003" y="3797362"/>
            <a:ext cx="5977772" cy="103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4"/>
              </a:lnSpc>
            </a:pPr>
            <a:r>
              <a:rPr lang="en-US" sz="8510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Ascension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87003" y="5276850"/>
            <a:ext cx="6232016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5000">
                <a:solidFill>
                  <a:srgbClr val="3E67C8"/>
                </a:solidFill>
                <a:latin typeface="More Sugar"/>
                <a:ea typeface="More Sugar"/>
                <a:cs typeface="More Sugar"/>
                <a:sym typeface="More Sugar"/>
              </a:rPr>
              <a:t>Visualiser l’invisible !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34649" y="733932"/>
            <a:ext cx="7618702" cy="103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4"/>
              </a:lnSpc>
            </a:pPr>
            <a:r>
              <a:rPr lang="en-US" sz="8510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Notre Équipe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04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429531" y="6288195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504795" y="845532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550877" y="8468291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64351" y="3904299"/>
            <a:ext cx="2764772" cy="276477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4"/>
              <a:stretch>
                <a:fillRect l="-4166" t="-761" r="-2040" b="-706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98857" y="3900649"/>
            <a:ext cx="2768422" cy="276842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5843" y="0"/>
                  </a:moveTo>
                  <a:lnTo>
                    <a:pt x="686957" y="0"/>
                  </a:lnTo>
                  <a:cubicBezTo>
                    <a:pt x="756458" y="0"/>
                    <a:pt x="812800" y="56342"/>
                    <a:pt x="812800" y="125843"/>
                  </a:cubicBezTo>
                  <a:lnTo>
                    <a:pt x="812800" y="686957"/>
                  </a:lnTo>
                  <a:cubicBezTo>
                    <a:pt x="812800" y="756458"/>
                    <a:pt x="756458" y="812800"/>
                    <a:pt x="686957" y="812800"/>
                  </a:cubicBezTo>
                  <a:lnTo>
                    <a:pt x="125843" y="812800"/>
                  </a:lnTo>
                  <a:cubicBezTo>
                    <a:pt x="56342" y="812800"/>
                    <a:pt x="0" y="756458"/>
                    <a:pt x="0" y="686957"/>
                  </a:cubicBezTo>
                  <a:lnTo>
                    <a:pt x="0" y="125843"/>
                  </a:lnTo>
                  <a:cubicBezTo>
                    <a:pt x="0" y="56342"/>
                    <a:pt x="56342" y="0"/>
                    <a:pt x="125843" y="0"/>
                  </a:cubicBezTo>
                  <a:close/>
                </a:path>
              </a:pathLst>
            </a:custGeom>
            <a:blipFill>
              <a:blip r:embed="rId5"/>
              <a:stretch>
                <a:fillRect l="-13228" t="0" r="-24403" b="-10019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920721" y="3900649"/>
            <a:ext cx="2768422" cy="276842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5843" y="0"/>
                  </a:moveTo>
                  <a:lnTo>
                    <a:pt x="686957" y="0"/>
                  </a:lnTo>
                  <a:cubicBezTo>
                    <a:pt x="756458" y="0"/>
                    <a:pt x="812800" y="56342"/>
                    <a:pt x="812800" y="125843"/>
                  </a:cubicBezTo>
                  <a:lnTo>
                    <a:pt x="812800" y="686957"/>
                  </a:lnTo>
                  <a:cubicBezTo>
                    <a:pt x="812800" y="756458"/>
                    <a:pt x="756458" y="812800"/>
                    <a:pt x="686957" y="812800"/>
                  </a:cubicBezTo>
                  <a:lnTo>
                    <a:pt x="125843" y="812800"/>
                  </a:lnTo>
                  <a:cubicBezTo>
                    <a:pt x="56342" y="812800"/>
                    <a:pt x="0" y="756458"/>
                    <a:pt x="0" y="686957"/>
                  </a:cubicBezTo>
                  <a:lnTo>
                    <a:pt x="0" y="125843"/>
                  </a:lnTo>
                  <a:cubicBezTo>
                    <a:pt x="0" y="56342"/>
                    <a:pt x="56342" y="0"/>
                    <a:pt x="125843" y="0"/>
                  </a:cubicBezTo>
                  <a:close/>
                </a:path>
              </a:pathLst>
            </a:custGeom>
            <a:blipFill>
              <a:blip r:embed="rId6"/>
              <a:stretch>
                <a:fillRect l="-11949" t="0" r="-22451" b="-9555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681604" y="3920863"/>
            <a:ext cx="2764772" cy="276477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7"/>
              <a:stretch>
                <a:fillRect l="-14551" t="0" r="-22309" b="-99069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842536" y="3900649"/>
            <a:ext cx="2764772" cy="276477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8"/>
              <a:stretch>
                <a:fillRect l="-11905" t="0" r="-24993" b="-99125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233928" y="6895665"/>
            <a:ext cx="14946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Developpeur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16762" y="6895665"/>
            <a:ext cx="149445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CEO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93717" y="6895665"/>
            <a:ext cx="150604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Developpeur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385452" y="6895665"/>
            <a:ext cx="168076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Chef de Projet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70155" y="6895665"/>
            <a:ext cx="16695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Chef D’équipe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28132" y="3205324"/>
            <a:ext cx="259923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Cristophe VANDEVOIR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151575" y="3205324"/>
            <a:ext cx="1824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Olivier POUECH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59433" y="3205324"/>
            <a:ext cx="196730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Lou PELLEGRINO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19464" y="3205324"/>
            <a:ext cx="161091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Gianni TUERO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450940" y="3205324"/>
            <a:ext cx="160099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Nicolas TORO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46169" y="1811803"/>
            <a:ext cx="5513724" cy="6663394"/>
          </a:xfrm>
          <a:custGeom>
            <a:avLst/>
            <a:gdLst/>
            <a:ahLst/>
            <a:cxnLst/>
            <a:rect r="r" b="b" t="t" l="l"/>
            <a:pathLst>
              <a:path h="6663394" w="5513724">
                <a:moveTo>
                  <a:pt x="0" y="0"/>
                </a:moveTo>
                <a:lnTo>
                  <a:pt x="5513724" y="0"/>
                </a:lnTo>
                <a:lnTo>
                  <a:pt x="5513724" y="6663394"/>
                </a:lnTo>
                <a:lnTo>
                  <a:pt x="0" y="6663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91470" y="736783"/>
            <a:ext cx="7905060" cy="103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b="true" sz="8510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Constat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8940" y="4354512"/>
            <a:ext cx="7905060" cy="173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5000" b="true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 millions de personnes</a:t>
            </a:r>
          </a:p>
          <a:p>
            <a:pPr algn="ctr">
              <a:lnSpc>
                <a:spcPts val="4450"/>
              </a:lnSpc>
            </a:pPr>
            <a:r>
              <a:rPr lang="en-US" b="true" sz="5000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pratique de l’escalade en France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91470" y="736783"/>
            <a:ext cx="7905060" cy="103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b="true" sz="8510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Problème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379269" y="2663274"/>
            <a:ext cx="5246370" cy="524637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6892" y="0"/>
                  </a:moveTo>
                  <a:lnTo>
                    <a:pt x="775908" y="0"/>
                  </a:lnTo>
                  <a:cubicBezTo>
                    <a:pt x="796283" y="0"/>
                    <a:pt x="812800" y="16517"/>
                    <a:pt x="812800" y="36892"/>
                  </a:cubicBezTo>
                  <a:lnTo>
                    <a:pt x="812800" y="775908"/>
                  </a:lnTo>
                  <a:cubicBezTo>
                    <a:pt x="812800" y="796283"/>
                    <a:pt x="796283" y="812800"/>
                    <a:pt x="775908" y="812800"/>
                  </a:cubicBezTo>
                  <a:lnTo>
                    <a:pt x="36892" y="812800"/>
                  </a:lnTo>
                  <a:cubicBezTo>
                    <a:pt x="16517" y="812800"/>
                    <a:pt x="0" y="796283"/>
                    <a:pt x="0" y="775908"/>
                  </a:cubicBezTo>
                  <a:lnTo>
                    <a:pt x="0" y="36892"/>
                  </a:lnTo>
                  <a:cubicBezTo>
                    <a:pt x="0" y="16517"/>
                    <a:pt x="16517" y="0"/>
                    <a:pt x="3689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9485" r="0" b="-3948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17212" y="2663274"/>
            <a:ext cx="4891519" cy="5246370"/>
            <a:chOff x="0" y="0"/>
            <a:chExt cx="897124" cy="9622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97124" cy="962205"/>
            </a:xfrm>
            <a:custGeom>
              <a:avLst/>
              <a:gdLst/>
              <a:ahLst/>
              <a:cxnLst/>
              <a:rect r="r" b="b" t="t" l="l"/>
              <a:pathLst>
                <a:path h="962205" w="897124">
                  <a:moveTo>
                    <a:pt x="39568" y="0"/>
                  </a:moveTo>
                  <a:lnTo>
                    <a:pt x="857556" y="0"/>
                  </a:lnTo>
                  <a:cubicBezTo>
                    <a:pt x="879409" y="0"/>
                    <a:pt x="897124" y="17715"/>
                    <a:pt x="897124" y="39568"/>
                  </a:cubicBezTo>
                  <a:lnTo>
                    <a:pt x="897124" y="922637"/>
                  </a:lnTo>
                  <a:cubicBezTo>
                    <a:pt x="897124" y="944490"/>
                    <a:pt x="879409" y="962205"/>
                    <a:pt x="857556" y="962205"/>
                  </a:cubicBezTo>
                  <a:lnTo>
                    <a:pt x="39568" y="962205"/>
                  </a:lnTo>
                  <a:cubicBezTo>
                    <a:pt x="17715" y="962205"/>
                    <a:pt x="0" y="944490"/>
                    <a:pt x="0" y="922637"/>
                  </a:cubicBezTo>
                  <a:lnTo>
                    <a:pt x="0" y="39568"/>
                  </a:lnTo>
                  <a:cubicBezTo>
                    <a:pt x="0" y="17715"/>
                    <a:pt x="17715" y="0"/>
                    <a:pt x="3956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2089" r="0" b="-25526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71331" y="1811248"/>
            <a:ext cx="11945338" cy="6664503"/>
          </a:xfrm>
          <a:custGeom>
            <a:avLst/>
            <a:gdLst/>
            <a:ahLst/>
            <a:cxnLst/>
            <a:rect r="r" b="b" t="t" l="l"/>
            <a:pathLst>
              <a:path h="6664503" w="11945338">
                <a:moveTo>
                  <a:pt x="0" y="0"/>
                </a:moveTo>
                <a:lnTo>
                  <a:pt x="11945338" y="0"/>
                </a:lnTo>
                <a:lnTo>
                  <a:pt x="11945338" y="6664504"/>
                </a:lnTo>
                <a:lnTo>
                  <a:pt x="0" y="6664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91470" y="736783"/>
            <a:ext cx="7905060" cy="103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b="true" sz="8510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05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71331" y="1811248"/>
            <a:ext cx="11945338" cy="6664503"/>
          </a:xfrm>
          <a:custGeom>
            <a:avLst/>
            <a:gdLst/>
            <a:ahLst/>
            <a:cxnLst/>
            <a:rect r="r" b="b" t="t" l="l"/>
            <a:pathLst>
              <a:path h="6664503" w="11945338">
                <a:moveTo>
                  <a:pt x="0" y="0"/>
                </a:moveTo>
                <a:lnTo>
                  <a:pt x="11945338" y="0"/>
                </a:lnTo>
                <a:lnTo>
                  <a:pt x="11945338" y="6664504"/>
                </a:lnTo>
                <a:lnTo>
                  <a:pt x="0" y="6664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9" t="0" r="-13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94992" y="733235"/>
            <a:ext cx="8898015" cy="103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b="true" sz="8510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 fantôme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06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71331" y="1811248"/>
            <a:ext cx="11945338" cy="6664503"/>
          </a:xfrm>
          <a:custGeom>
            <a:avLst/>
            <a:gdLst/>
            <a:ahLst/>
            <a:cxnLst/>
            <a:rect r="r" b="b" t="t" l="l"/>
            <a:pathLst>
              <a:path h="6664503" w="11945338">
                <a:moveTo>
                  <a:pt x="0" y="0"/>
                </a:moveTo>
                <a:lnTo>
                  <a:pt x="11945338" y="0"/>
                </a:lnTo>
                <a:lnTo>
                  <a:pt x="11945338" y="6664504"/>
                </a:lnTo>
                <a:lnTo>
                  <a:pt x="0" y="6664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9" t="0" r="-13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33168" y="737343"/>
            <a:ext cx="14021664" cy="103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b="true" sz="8510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Routines personnalisées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07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33168" y="737343"/>
            <a:ext cx="14021664" cy="103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b="true" sz="8510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Les cibles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08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037630" y="1807895"/>
            <a:ext cx="12212740" cy="6671209"/>
          </a:xfrm>
          <a:custGeom>
            <a:avLst/>
            <a:gdLst/>
            <a:ahLst/>
            <a:cxnLst/>
            <a:rect r="r" b="b" t="t" l="l"/>
            <a:pathLst>
              <a:path h="6671209" w="12212740">
                <a:moveTo>
                  <a:pt x="0" y="0"/>
                </a:moveTo>
                <a:lnTo>
                  <a:pt x="12212740" y="0"/>
                </a:lnTo>
                <a:lnTo>
                  <a:pt x="12212740" y="6671210"/>
                </a:lnTo>
                <a:lnTo>
                  <a:pt x="0" y="66712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1675" y="4689475"/>
            <a:ext cx="11924651" cy="121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99"/>
              </a:lnSpc>
            </a:pPr>
            <a:r>
              <a:rPr lang="en-US" b="true" sz="9999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Démonstration 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09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10</a:t>
            </a:r>
          </a:p>
        </p:txBody>
      </p:sp>
      <p:pic>
        <p:nvPicPr>
          <p:cNvPr name="Picture 5" id="5"/>
          <p:cNvPicPr>
            <a:picLocks noChangeAspect="true"/>
          </p:cNvPicPr>
          <p:nvPr>
            <a:videoFile r:link="rId5"/>
          </p:nvPr>
        </p:nvPicPr>
        <p:blipFill>
          <a:blip r:embed="rId4"/>
          <a:stretch>
            <a:fillRect/>
          </a:stretch>
        </p:blipFill>
        <p:spPr>
          <a:xfrm rot="0">
            <a:off x="7270829" y="1810817"/>
            <a:ext cx="3746341" cy="6665365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133168" y="737343"/>
            <a:ext cx="14021664" cy="103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b="true" sz="8510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Demonstration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81675" y="4127500"/>
            <a:ext cx="11924651" cy="233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99"/>
              </a:lnSpc>
            </a:pPr>
            <a:r>
              <a:rPr lang="en-US" sz="9999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Les objectifs EIP</a:t>
            </a:r>
          </a:p>
          <a:p>
            <a:pPr algn="ctr">
              <a:lnSpc>
                <a:spcPts val="8899"/>
              </a:lnSpc>
            </a:pPr>
            <a:r>
              <a:rPr lang="en-US" b="true" sz="9999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qu’on souhaitait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79633"/>
            <a:ext cx="16230600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9"/>
              </a:lnSpc>
            </a:pPr>
            <a:r>
              <a:rPr lang="en-US" sz="6999" b="true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 – Work with</a:t>
            </a:r>
          </a:p>
          <a:p>
            <a:pPr algn="ctr">
              <a:lnSpc>
                <a:spcPts val="6229"/>
              </a:lnSpc>
            </a:pPr>
            <a:r>
              <a:rPr lang="en-US" b="true" sz="6999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technical experts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23563" y="4354512"/>
            <a:ext cx="12440874" cy="173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5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Faire relire nos choix techniques par des spécialistes et améliorer le code grâce à leurs retours.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79633"/>
            <a:ext cx="16230600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9"/>
              </a:lnSpc>
            </a:pPr>
            <a:r>
              <a:rPr lang="en-US" b="true" sz="6999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 – Measure, test and optimize technical performance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08433" y="4354512"/>
            <a:ext cx="12871134" cy="173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5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Mesurer où le projet rame ou consomme trop, corriger les problèmes et prouver le gain avec des chiffres.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81675" y="4127500"/>
            <a:ext cx="11924651" cy="233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99"/>
              </a:lnSpc>
            </a:pPr>
            <a:r>
              <a:rPr lang="en-US" b="true" sz="9999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Les autres objectifs EIP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79633"/>
            <a:ext cx="16230600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9"/>
              </a:lnSpc>
            </a:pPr>
            <a:r>
              <a:rPr lang="en-US" b="true" sz="6999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– Protect and make the most of your technology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08433" y="3792537"/>
            <a:ext cx="12871134" cy="285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5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Sécuriser ce qui a de la valeur dans notre projet et apprendre à bien l'expliquer à des personnes extérieures.</a:t>
            </a:r>
          </a:p>
          <a:p>
            <a:pPr algn="ctr">
              <a:lnSpc>
                <a:spcPts val="4450"/>
              </a:lnSpc>
            </a:pPr>
          </a:p>
          <a:p>
            <a:pPr algn="ctr">
              <a:lnSpc>
                <a:spcPts val="4450"/>
              </a:lnSpc>
            </a:pPr>
            <a:r>
              <a:rPr lang="en-US" sz="5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⟶ Très administratif et théorique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79633"/>
            <a:ext cx="16230600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9"/>
              </a:lnSpc>
            </a:pPr>
            <a:r>
              <a:rPr lang="en-US" b="true" sz="6999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 – Open your project to outside contributions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08433" y="3792537"/>
            <a:ext cx="12871134" cy="285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5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Rendre le projet facile à reprendre pour que d'autres devs puissent nous aider et contribuer.</a:t>
            </a:r>
          </a:p>
          <a:p>
            <a:pPr algn="ctr">
              <a:lnSpc>
                <a:spcPts val="4450"/>
              </a:lnSpc>
            </a:pPr>
          </a:p>
          <a:p>
            <a:pPr algn="ctr">
              <a:lnSpc>
                <a:spcPts val="4450"/>
              </a:lnSpc>
            </a:pPr>
            <a:r>
              <a:rPr lang="en-US" sz="5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⟶ Trouver de bons contributeurs</a:t>
            </a:r>
          </a:p>
        </p:txBody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33168" y="737343"/>
            <a:ext cx="14021664" cy="103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b="true" sz="8510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 prochain suivi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33168" y="3624580"/>
            <a:ext cx="14021664" cy="323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9"/>
              </a:lnSpc>
            </a:pPr>
            <a:r>
              <a:rPr lang="en-US" sz="6999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Vendredi 3 octobre</a:t>
            </a:r>
          </a:p>
          <a:p>
            <a:pPr algn="l" marL="1511299" indent="-755650" lvl="1">
              <a:lnSpc>
                <a:spcPts val="6229"/>
              </a:lnSpc>
              <a:buFont typeface="Arial"/>
              <a:buChar char="•"/>
            </a:pPr>
            <a:r>
              <a:rPr lang="en-US" sz="6999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à 9h en France</a:t>
            </a:r>
          </a:p>
          <a:p>
            <a:pPr algn="l" marL="1511299" indent="-755650" lvl="1">
              <a:lnSpc>
                <a:spcPts val="6229"/>
              </a:lnSpc>
              <a:buFont typeface="Arial"/>
              <a:buChar char="•"/>
            </a:pPr>
            <a:r>
              <a:rPr lang="en-US" sz="6999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à 10h en Lituanie</a:t>
            </a:r>
          </a:p>
          <a:p>
            <a:pPr algn="l" marL="1511299" indent="-755650" lvl="1">
              <a:lnSpc>
                <a:spcPts val="6229"/>
              </a:lnSpc>
              <a:buFont typeface="Arial"/>
              <a:buChar char="•"/>
            </a:pPr>
            <a:r>
              <a:rPr lang="en-US" sz="6999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à 16h en Corée</a:t>
            </a:r>
          </a:p>
        </p:txBody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34649" y="4689475"/>
            <a:ext cx="7618702" cy="121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99"/>
              </a:lnSpc>
            </a:pPr>
            <a:r>
              <a:rPr lang="en-US" b="true" sz="9999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Merci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DAHUnbzpBc0</dc:identifier>
  <dcterms:modified xsi:type="dcterms:W3CDTF">2011-08-01T06:04:30Z</dcterms:modified>
  <cp:revision>1</cp:revision>
  <dc:title>Suivi Mentorat 1</dc:title>
</cp:coreProperties>
</file>