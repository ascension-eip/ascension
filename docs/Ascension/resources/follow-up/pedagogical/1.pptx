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Arimo" charset="1" panose="020B0604020202020204"/>
      <p:regular r:id="rId26"/>
    </p:embeddedFont>
    <p:embeddedFont>
      <p:font typeface="DM Sans Bold" charset="1" panose="00000000000000000000"/>
      <p:regular r:id="rId27"/>
    </p:embeddedFont>
    <p:embeddedFont>
      <p:font typeface="DM Sans" charset="1" panose="0000000000000000000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notesMasters/notesMaster1.xml" Type="http://schemas.openxmlformats.org/officeDocument/2006/relationships/notesMaster"/><Relationship Id="rId29" Target="theme/theme2.xml" Type="http://schemas.openxmlformats.org/officeDocument/2006/relationships/theme"/><Relationship Id="rId3" Target="viewProps.xml" Type="http://schemas.openxmlformats.org/officeDocument/2006/relationships/viewProps"/><Relationship Id="rId30" Target="notesSlides/notesSlide1.xml" Type="http://schemas.openxmlformats.org/officeDocument/2006/relationships/notesSlide"/><Relationship Id="rId31" Target="notesSlides/notesSlide2.xml" Type="http://schemas.openxmlformats.org/officeDocument/2006/relationships/notesSlide"/><Relationship Id="rId32" Target="notesSlides/notesSlide3.xml" Type="http://schemas.openxmlformats.org/officeDocument/2006/relationships/notesSlide"/><Relationship Id="rId33" Target="notesSlides/notesSlide4.xml" Type="http://schemas.openxmlformats.org/officeDocument/2006/relationships/notesSlide"/><Relationship Id="rId34" Target="fonts/font34.fntdata" Type="http://schemas.openxmlformats.org/officeDocument/2006/relationships/font"/><Relationship Id="rId35" Target="notesSlides/notesSlide5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Bonjour. Je vous présente Olivier un membre de notre équipe qui escaladeurs en bloc.</a:t>
            </a:r>
          </a:p>
          <a:p>
            <a:r>
              <a:rPr lang="en-US"/>
              <a:t>Et Aujourd'hui, Olivier fait face à plusieurs problèmes, tout comme 3 millions de personnes qui font de l'escalade en France.</a:t>
            </a:r>
          </a:p>
          <a:p>
            <a:r>
              <a:rPr lang="en-US"/>
              <a:t>Olivier pratique régulièrement ce sport, mais il ne sait plus comment progresser car il n'a aucun retour sur sa grimpe.</a:t>
            </a:r>
          </a:p>
          <a:p>
            <a:r>
              <a:rPr lang="en-US"/>
              <a:t>Il est un peu perdu et hésite à prendre un coach, mais il ne peut pas payer un coach 50$ par heure.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 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SOURCES: </a:t>
            </a:r>
          </a:p>
          <a:p>
            <a:r>
              <a:rPr lang="en-US"/>
              <a:t>On estime qu'il y a plus de 3 millions de grimpeur·euses en France, dont au moins 2 millions fréquentent régulièrement les salles. Fait notable, 40 % des inscrit·es n'ont jamais grimpé en extérieur et ne le feront probablement jamais, préférant le confort et la sécurité des environnements indoor.</a:t>
            </a:r>
          </a:p>
          <a:p>
            <a:r>
              <a:rPr lang="en-US"/>
              <a:t>https://lehavre.theroof.fr/news/l-essor-des-salles-d-escalade-en-france-un-marche-en-pleine-ascension-779.html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C'est là qu'intervient  Ascension.</a:t>
            </a:r>
          </a:p>
          <a:p>
            <a:r>
              <a:rPr lang="en-US"/>
              <a:t/>
            </a:r>
          </a:p>
          <a:p>
            <a:r>
              <a:rPr lang="en-US"/>
              <a:t>Avec Ascension, vous pourrez analyser votre manière de grimper avec plusieurs métriques et statistiques, comme les angles de vos articulations et vous pourrez enfin comprendre pourquoi vous avez échoué grâce à l'IA qui vous donnera des conseils à chaque moment clé de votre grimpe. </a:t>
            </a:r>
          </a:p>
          <a:p>
            <a:r>
              <a:rPr lang="en-US"/>
              <a:t>(Par exemple, votre bras droit n'est pas assez tendu et votre bassin pas assez proche du mur)</a:t>
            </a:r>
          </a:p>
          <a:p>
            <a:r>
              <a:rPr lang="en-US"/>
              <a:t/>
            </a:r>
          </a:p>
          <a:p>
            <a:r>
              <a:rPr lang="en-US"/>
              <a:t>A terme, notre solution permettra à n'importe quel grimpeur de comparer sa grimpe avec quelqu'un d'autre, pour voir statistiquement pourquoi il a réussi et pas vous.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Mais c'est pas tout, notre solution propose également le mode fantôme.</a:t>
            </a:r>
          </a:p>
          <a:p>
            <a:r>
              <a:rPr lang="en-US"/>
              <a:t/>
            </a:r>
          </a:p>
          <a:p>
            <a:r>
              <a:rPr lang="en-US"/>
              <a:t>Souvent, en tant que pratiquants d'escalade, nous n'avons aucune idée de l'itinéraire à suivre sur une voie. C'est ce qu'on appelle la lecture de voie.</a:t>
            </a:r>
          </a:p>
          <a:p>
            <a:r>
              <a:rPr lang="en-US"/>
              <a:t>Et le mode fantôme est là pour ça. </a:t>
            </a:r>
          </a:p>
          <a:p>
            <a:r>
              <a:rPr lang="en-US"/>
              <a:t>Vous pourrez préalablement prendre en photo la voie, et laisser l'IA générer le fantôme qui vous montrera le meilleur chemin possible, adapté à votre morphologie et vos points faibles / forts.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Ascension permet également d'avoir des routines d'entraînements personnalisés, en fonction de nos objectifs, afin de s'améliorer continuellement.</a:t>
            </a:r>
          </a:p>
          <a:p>
            <a:r>
              <a:rPr lang="en-US"/>
              <a:t/>
            </a:r>
          </a:p>
          <a:p>
            <a:r>
              <a:rPr lang="en-US"/>
              <a:t>Vous pourrez partager vos routines avec vos amis et d'autres pratiquants.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On devait aller vite, sur des langages et technologies qu'on ne métrissait pas et ça nous as poussé à utiliser l'IA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0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0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png" Type="http://schemas.openxmlformats.org/officeDocument/2006/relationships/image"/><Relationship Id="rId12" Target="../media/image21.png" Type="http://schemas.openxmlformats.org/officeDocument/2006/relationships/image"/><Relationship Id="rId13" Target="../media/image22.png" Type="http://schemas.openxmlformats.org/officeDocument/2006/relationships/image"/><Relationship Id="rId14" Target="../media/image23.png" Type="http://schemas.openxmlformats.org/officeDocument/2006/relationships/image"/><Relationship Id="rId15" Target="../media/image24.png" Type="http://schemas.openxmlformats.org/officeDocument/2006/relationships/image"/><Relationship Id="rId16" Target="../media/image25.png" Type="http://schemas.openxmlformats.org/officeDocument/2006/relationships/image"/><Relationship Id="rId17" Target="../media/image26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jpeg" Type="http://schemas.openxmlformats.org/officeDocument/2006/relationships/image"/><Relationship Id="rId7" Target="../media/image16.png" Type="http://schemas.openxmlformats.org/officeDocument/2006/relationships/image"/><Relationship Id="rId8" Target="../media/image17.jpe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jpe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Relationship Id="rId8" Target="../media/image2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3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1.png" Type="http://schemas.openxmlformats.org/officeDocument/2006/relationships/image"/><Relationship Id="rId5" Target="../media/image32.png" Type="http://schemas.openxmlformats.org/officeDocument/2006/relationships/image"/><Relationship Id="rId6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-12964"/>
            <a:ext cx="18328319" cy="10298163"/>
            <a:chOff x="0" y="0"/>
            <a:chExt cx="24437759" cy="13730884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24437721" cy="13730860"/>
            </a:xfrm>
            <a:custGeom>
              <a:avLst/>
              <a:gdLst/>
              <a:ahLst/>
              <a:cxnLst/>
              <a:rect r="r" b="b" t="t" l="l"/>
              <a:pathLst>
                <a:path h="13730860" w="24437721">
                  <a:moveTo>
                    <a:pt x="24437721" y="0"/>
                  </a:moveTo>
                  <a:lnTo>
                    <a:pt x="0" y="0"/>
                  </a:lnTo>
                  <a:lnTo>
                    <a:pt x="0" y="13730860"/>
                  </a:lnTo>
                  <a:lnTo>
                    <a:pt x="24437721" y="13730860"/>
                  </a:lnTo>
                  <a:lnTo>
                    <a:pt x="24437721" y="0"/>
                  </a:lnTo>
                  <a:close/>
                </a:path>
              </a:pathLst>
            </a:custGeom>
            <a:blipFill>
              <a:blip r:embed="rId2"/>
              <a:stretch>
                <a:fillRect l="-239" t="0" r="-1008" b="-134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-116643" y="-13678"/>
            <a:ext cx="18557996" cy="10424884"/>
            <a:chOff x="0" y="0"/>
            <a:chExt cx="24743994" cy="13899845"/>
          </a:xfrm>
        </p:grpSpPr>
        <p:sp>
          <p:nvSpPr>
            <p:cNvPr name="Freeform 5" id="5"/>
            <p:cNvSpPr/>
            <p:nvPr/>
          </p:nvSpPr>
          <p:spPr>
            <a:xfrm flipH="true" flipV="false" rot="0">
              <a:off x="0" y="0"/>
              <a:ext cx="24744045" cy="13899896"/>
            </a:xfrm>
            <a:custGeom>
              <a:avLst/>
              <a:gdLst/>
              <a:ahLst/>
              <a:cxnLst/>
              <a:rect r="r" b="b" t="t" l="l"/>
              <a:pathLst>
                <a:path h="13899896" w="24744045">
                  <a:moveTo>
                    <a:pt x="24744045" y="0"/>
                  </a:moveTo>
                  <a:lnTo>
                    <a:pt x="0" y="0"/>
                  </a:lnTo>
                  <a:lnTo>
                    <a:pt x="0" y="13899896"/>
                  </a:lnTo>
                  <a:lnTo>
                    <a:pt x="24744045" y="13899896"/>
                  </a:lnTo>
                  <a:lnTo>
                    <a:pt x="24744045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829" t="0" r="-6728" b="-768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3924005" y="6419517"/>
            <a:ext cx="10458002" cy="1085040"/>
            <a:chOff x="0" y="0"/>
            <a:chExt cx="13944003" cy="14467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943964" cy="1446657"/>
            </a:xfrm>
            <a:custGeom>
              <a:avLst/>
              <a:gdLst/>
              <a:ahLst/>
              <a:cxnLst/>
              <a:rect r="r" b="b" t="t" l="l"/>
              <a:pathLst>
                <a:path h="1446657" w="13943964">
                  <a:moveTo>
                    <a:pt x="0" y="0"/>
                  </a:moveTo>
                  <a:lnTo>
                    <a:pt x="13943964" y="0"/>
                  </a:lnTo>
                  <a:lnTo>
                    <a:pt x="13943964" y="1446657"/>
                  </a:lnTo>
                  <a:lnTo>
                    <a:pt x="0" y="1446657"/>
                  </a:lnTo>
                  <a:close/>
                </a:path>
              </a:pathLst>
            </a:custGeom>
            <a:blipFill>
              <a:blip r:embed="rId4"/>
              <a:stretch>
                <a:fillRect l="0" t="-137809" r="0" b="-137814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85725"/>
              <a:ext cx="13944003" cy="15324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6"/>
                </a:lnSpc>
              </a:pPr>
              <a:r>
                <a:rPr lang="en-US" sz="3200">
                  <a:solidFill>
                    <a:srgbClr val="0F2A29"/>
                  </a:solidFill>
                  <a:latin typeface="Arimo"/>
                  <a:ea typeface="Arimo"/>
                  <a:cs typeface="Arimo"/>
                  <a:sym typeface="Arimo"/>
                </a:rPr>
                <a:t>Visualiser l’invisible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924005" y="2781357"/>
            <a:ext cx="10458002" cy="3180959"/>
            <a:chOff x="0" y="0"/>
            <a:chExt cx="13944003" cy="424127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944000" cy="4241280"/>
            </a:xfrm>
            <a:custGeom>
              <a:avLst/>
              <a:gdLst/>
              <a:ahLst/>
              <a:cxnLst/>
              <a:rect r="r" b="b" t="t" l="l"/>
              <a:pathLst>
                <a:path h="4241280" w="13944000">
                  <a:moveTo>
                    <a:pt x="0" y="0"/>
                  </a:moveTo>
                  <a:lnTo>
                    <a:pt x="13944000" y="0"/>
                  </a:lnTo>
                  <a:lnTo>
                    <a:pt x="13944000" y="4241280"/>
                  </a:lnTo>
                  <a:lnTo>
                    <a:pt x="0" y="4241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060" r="0" b="-1406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3944003" cy="4250804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9600"/>
                </a:lnSpc>
              </a:pPr>
              <a:r>
                <a:rPr lang="en-US" sz="800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Ascension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762841" y="400198"/>
            <a:ext cx="4762319" cy="4762319"/>
          </a:xfrm>
          <a:custGeom>
            <a:avLst/>
            <a:gdLst/>
            <a:ahLst/>
            <a:cxnLst/>
            <a:rect r="r" b="b" t="t" l="l"/>
            <a:pathLst>
              <a:path h="4762319" w="4762319">
                <a:moveTo>
                  <a:pt x="0" y="0"/>
                </a:moveTo>
                <a:lnTo>
                  <a:pt x="4762318" y="0"/>
                </a:lnTo>
                <a:lnTo>
                  <a:pt x="4762318" y="4762319"/>
                </a:lnTo>
                <a:lnTo>
                  <a:pt x="0" y="47623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3952084" y="-4090321"/>
            <a:ext cx="10365838" cy="18475204"/>
            <a:chOff x="0" y="0"/>
            <a:chExt cx="13821118" cy="246336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821156" cy="24633555"/>
            </a:xfrm>
            <a:custGeom>
              <a:avLst/>
              <a:gdLst/>
              <a:ahLst/>
              <a:cxnLst/>
              <a:rect r="r" b="b" t="t" l="l"/>
              <a:pathLst>
                <a:path h="24633555" w="13821156">
                  <a:moveTo>
                    <a:pt x="0" y="0"/>
                  </a:moveTo>
                  <a:lnTo>
                    <a:pt x="13821156" y="0"/>
                  </a:lnTo>
                  <a:lnTo>
                    <a:pt x="13821156" y="24633555"/>
                  </a:lnTo>
                  <a:lnTo>
                    <a:pt x="0" y="24633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873" t="-1350" r="-225516" b="-353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4006444" y="-4041357"/>
            <a:ext cx="10275837" cy="18287276"/>
            <a:chOff x="0" y="0"/>
            <a:chExt cx="13701116" cy="2438303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01140" cy="24382985"/>
            </a:xfrm>
            <a:custGeom>
              <a:avLst/>
              <a:gdLst/>
              <a:ahLst/>
              <a:cxnLst/>
              <a:rect r="r" b="b" t="t" l="l"/>
              <a:pathLst>
                <a:path h="24382985" w="13701140">
                  <a:moveTo>
                    <a:pt x="0" y="0"/>
                  </a:moveTo>
                  <a:lnTo>
                    <a:pt x="13701140" y="0"/>
                  </a:lnTo>
                  <a:lnTo>
                    <a:pt x="13701140" y="24382985"/>
                  </a:lnTo>
                  <a:lnTo>
                    <a:pt x="0" y="24382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 l="-16966" t="-3901" r="-46200" b="52337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362157" y="8801069"/>
            <a:ext cx="2781714" cy="2475726"/>
          </a:xfrm>
          <a:custGeom>
            <a:avLst/>
            <a:gdLst/>
            <a:ahLst/>
            <a:cxnLst/>
            <a:rect r="r" b="b" t="t" l="l"/>
            <a:pathLst>
              <a:path h="2475726" w="2781714">
                <a:moveTo>
                  <a:pt x="0" y="0"/>
                </a:moveTo>
                <a:lnTo>
                  <a:pt x="2781714" y="0"/>
                </a:lnTo>
                <a:lnTo>
                  <a:pt x="2781714" y="2475726"/>
                </a:lnTo>
                <a:lnTo>
                  <a:pt x="0" y="24757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5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9160258">
            <a:off x="13477758" y="-615534"/>
            <a:ext cx="6881480" cy="2640768"/>
          </a:xfrm>
          <a:custGeom>
            <a:avLst/>
            <a:gdLst/>
            <a:ahLst/>
            <a:cxnLst/>
            <a:rect r="r" b="b" t="t" l="l"/>
            <a:pathLst>
              <a:path h="2640768" w="6881480">
                <a:moveTo>
                  <a:pt x="0" y="0"/>
                </a:moveTo>
                <a:lnTo>
                  <a:pt x="6881479" y="0"/>
                </a:lnTo>
                <a:lnTo>
                  <a:pt x="6881479" y="2640768"/>
                </a:lnTo>
                <a:lnTo>
                  <a:pt x="0" y="26407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5000"/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679116" y="6689522"/>
            <a:ext cx="4324" cy="1438"/>
            <a:chOff x="0" y="0"/>
            <a:chExt cx="5766" cy="19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089038" y="7070398"/>
            <a:ext cx="43920" cy="12964"/>
            <a:chOff x="0" y="0"/>
            <a:chExt cx="58560" cy="1728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135120" y="7083362"/>
            <a:ext cx="8639" cy="3600"/>
            <a:chOff x="0" y="0"/>
            <a:chExt cx="11519" cy="480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5145922" y="7087676"/>
            <a:ext cx="10801" cy="5763"/>
            <a:chOff x="0" y="0"/>
            <a:chExt cx="14402" cy="76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254"/>
              <a:ext cx="14097" cy="7493"/>
            </a:xfrm>
            <a:custGeom>
              <a:avLst/>
              <a:gdLst/>
              <a:ahLst/>
              <a:cxnLst/>
              <a:rect r="r" b="b" t="t" l="l"/>
              <a:pathLst>
                <a:path h="7493" w="14097">
                  <a:moveTo>
                    <a:pt x="0" y="0"/>
                  </a:moveTo>
                  <a:cubicBezTo>
                    <a:pt x="0" y="2540"/>
                    <a:pt x="0" y="2540"/>
                    <a:pt x="0" y="2540"/>
                  </a:cubicBezTo>
                  <a:cubicBezTo>
                    <a:pt x="5588" y="2540"/>
                    <a:pt x="8509" y="5080"/>
                    <a:pt x="14097" y="7493"/>
                  </a:cubicBezTo>
                  <a:cubicBezTo>
                    <a:pt x="8509" y="4953"/>
                    <a:pt x="5588" y="241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679840" y="6697437"/>
            <a:ext cx="4324" cy="1438"/>
            <a:chOff x="0" y="0"/>
            <a:chExt cx="5766" cy="191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089038" y="7077599"/>
            <a:ext cx="43920" cy="12964"/>
            <a:chOff x="0" y="0"/>
            <a:chExt cx="58560" cy="1728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5135120" y="7090562"/>
            <a:ext cx="8639" cy="3600"/>
            <a:chOff x="0" y="0"/>
            <a:chExt cx="11519" cy="480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5145922" y="7094877"/>
            <a:ext cx="10801" cy="5763"/>
            <a:chOff x="0" y="0"/>
            <a:chExt cx="14402" cy="768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254"/>
              <a:ext cx="14097" cy="7493"/>
            </a:xfrm>
            <a:custGeom>
              <a:avLst/>
              <a:gdLst/>
              <a:ahLst/>
              <a:cxnLst/>
              <a:rect r="r" b="b" t="t" l="l"/>
              <a:pathLst>
                <a:path h="7493" w="14097">
                  <a:moveTo>
                    <a:pt x="0" y="0"/>
                  </a:moveTo>
                  <a:cubicBezTo>
                    <a:pt x="0" y="2540"/>
                    <a:pt x="0" y="2540"/>
                    <a:pt x="0" y="2540"/>
                  </a:cubicBezTo>
                  <a:cubicBezTo>
                    <a:pt x="5588" y="2540"/>
                    <a:pt x="8509" y="5080"/>
                    <a:pt x="14097" y="7493"/>
                  </a:cubicBezTo>
                  <a:cubicBezTo>
                    <a:pt x="8509" y="4953"/>
                    <a:pt x="5588" y="241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381457" y="2854740"/>
            <a:ext cx="5246370" cy="5246370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33940" y="0"/>
                  </a:moveTo>
                  <a:lnTo>
                    <a:pt x="778860" y="0"/>
                  </a:lnTo>
                  <a:cubicBezTo>
                    <a:pt x="797604" y="0"/>
                    <a:pt x="812800" y="15196"/>
                    <a:pt x="812800" y="33940"/>
                  </a:cubicBezTo>
                  <a:lnTo>
                    <a:pt x="812800" y="778860"/>
                  </a:lnTo>
                  <a:cubicBezTo>
                    <a:pt x="812800" y="797604"/>
                    <a:pt x="797604" y="812800"/>
                    <a:pt x="778860" y="812800"/>
                  </a:cubicBezTo>
                  <a:lnTo>
                    <a:pt x="33940" y="812800"/>
                  </a:lnTo>
                  <a:cubicBezTo>
                    <a:pt x="15196" y="812800"/>
                    <a:pt x="0" y="797604"/>
                    <a:pt x="0" y="778860"/>
                  </a:cubicBezTo>
                  <a:lnTo>
                    <a:pt x="0" y="33940"/>
                  </a:lnTo>
                  <a:cubicBezTo>
                    <a:pt x="0" y="15196"/>
                    <a:pt x="15196" y="0"/>
                    <a:pt x="3394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39485" r="0" b="-39485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019399" y="2854740"/>
            <a:ext cx="4891519" cy="5246370"/>
            <a:chOff x="0" y="0"/>
            <a:chExt cx="897124" cy="96220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97124" cy="962205"/>
            </a:xfrm>
            <a:custGeom>
              <a:avLst/>
              <a:gdLst/>
              <a:ahLst/>
              <a:cxnLst/>
              <a:rect r="r" b="b" t="t" l="l"/>
              <a:pathLst>
                <a:path h="962205" w="897124">
                  <a:moveTo>
                    <a:pt x="36403" y="0"/>
                  </a:moveTo>
                  <a:lnTo>
                    <a:pt x="860721" y="0"/>
                  </a:lnTo>
                  <a:cubicBezTo>
                    <a:pt x="880826" y="0"/>
                    <a:pt x="897124" y="16298"/>
                    <a:pt x="897124" y="36403"/>
                  </a:cubicBezTo>
                  <a:lnTo>
                    <a:pt x="897124" y="925803"/>
                  </a:lnTo>
                  <a:cubicBezTo>
                    <a:pt x="897124" y="935457"/>
                    <a:pt x="893289" y="944716"/>
                    <a:pt x="886462" y="951543"/>
                  </a:cubicBezTo>
                  <a:cubicBezTo>
                    <a:pt x="879635" y="958370"/>
                    <a:pt x="870376" y="962205"/>
                    <a:pt x="860721" y="962205"/>
                  </a:cubicBezTo>
                  <a:lnTo>
                    <a:pt x="36403" y="962205"/>
                  </a:lnTo>
                  <a:cubicBezTo>
                    <a:pt x="26748" y="962205"/>
                    <a:pt x="17489" y="958370"/>
                    <a:pt x="10662" y="951543"/>
                  </a:cubicBezTo>
                  <a:cubicBezTo>
                    <a:pt x="3835" y="944716"/>
                    <a:pt x="0" y="935457"/>
                    <a:pt x="0" y="925803"/>
                  </a:cubicBezTo>
                  <a:lnTo>
                    <a:pt x="0" y="36403"/>
                  </a:lnTo>
                  <a:cubicBezTo>
                    <a:pt x="0" y="26748"/>
                    <a:pt x="3835" y="17489"/>
                    <a:pt x="10662" y="10662"/>
                  </a:cubicBezTo>
                  <a:cubicBezTo>
                    <a:pt x="17489" y="3835"/>
                    <a:pt x="26748" y="0"/>
                    <a:pt x="36403" y="0"/>
                  </a:cubicBezTo>
                  <a:close/>
                </a:path>
              </a:pathLst>
            </a:custGeom>
            <a:blipFill>
              <a:blip r:embed="rId8"/>
              <a:stretch>
                <a:fillRect l="0" t="-42089" r="0" b="-25526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6785258" y="866775"/>
            <a:ext cx="4718209" cy="13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Problème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3910317" y="-4035600"/>
            <a:ext cx="10486082" cy="18312479"/>
            <a:chOff x="0" y="0"/>
            <a:chExt cx="13981443" cy="24416639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13981430" cy="24416638"/>
            </a:xfrm>
            <a:custGeom>
              <a:avLst/>
              <a:gdLst/>
              <a:ahLst/>
              <a:cxnLst/>
              <a:rect r="r" b="b" t="t" l="l"/>
              <a:pathLst>
                <a:path h="24416638" w="13981430">
                  <a:moveTo>
                    <a:pt x="13981430" y="0"/>
                  </a:moveTo>
                  <a:lnTo>
                    <a:pt x="0" y="0"/>
                  </a:lnTo>
                  <a:lnTo>
                    <a:pt x="0" y="24416638"/>
                  </a:lnTo>
                  <a:lnTo>
                    <a:pt x="13981430" y="24416638"/>
                  </a:lnTo>
                  <a:lnTo>
                    <a:pt x="13981430" y="0"/>
                  </a:lnTo>
                  <a:close/>
                </a:path>
              </a:pathLst>
            </a:custGeom>
            <a:blipFill>
              <a:blip r:embed="rId3"/>
              <a:stretch>
                <a:fillRect l="-1304" t="0" r="-20921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5400000">
            <a:off x="12336485" y="4386243"/>
            <a:ext cx="10293125" cy="1661036"/>
            <a:chOff x="0" y="0"/>
            <a:chExt cx="13724166" cy="2214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24128" cy="2214753"/>
            </a:xfrm>
            <a:custGeom>
              <a:avLst/>
              <a:gdLst/>
              <a:ahLst/>
              <a:cxnLst/>
              <a:rect r="r" b="b" t="t" l="l"/>
              <a:pathLst>
                <a:path h="2214753" w="13724128">
                  <a:moveTo>
                    <a:pt x="0" y="0"/>
                  </a:moveTo>
                  <a:lnTo>
                    <a:pt x="13724128" y="0"/>
                  </a:lnTo>
                  <a:lnTo>
                    <a:pt x="13724128" y="2214753"/>
                  </a:lnTo>
                  <a:lnTo>
                    <a:pt x="0" y="22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 l="-2218" t="0" r="-89327" b="-56753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5526798" cy="4856397"/>
            <a:chOff x="0" y="0"/>
            <a:chExt cx="20702397" cy="64751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02397" cy="6475222"/>
            </a:xfrm>
            <a:custGeom>
              <a:avLst/>
              <a:gdLst/>
              <a:ahLst/>
              <a:cxnLst/>
              <a:rect r="r" b="b" t="t" l="l"/>
              <a:pathLst>
                <a:path h="6475222" w="20702397">
                  <a:moveTo>
                    <a:pt x="0" y="0"/>
                  </a:moveTo>
                  <a:lnTo>
                    <a:pt x="20702397" y="0"/>
                  </a:lnTo>
                  <a:lnTo>
                    <a:pt x="20702397" y="6475222"/>
                  </a:lnTo>
                  <a:lnTo>
                    <a:pt x="0" y="6475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 l="-19646" t="-138025" r="-7357" b="966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679116" y="6689522"/>
            <a:ext cx="4324" cy="1438"/>
            <a:chOff x="0" y="0"/>
            <a:chExt cx="5766" cy="19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089038" y="7070398"/>
            <a:ext cx="43920" cy="12964"/>
            <a:chOff x="0" y="0"/>
            <a:chExt cx="58560" cy="1728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135120" y="7083362"/>
            <a:ext cx="8639" cy="3600"/>
            <a:chOff x="0" y="0"/>
            <a:chExt cx="11519" cy="480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0" y="0"/>
            <a:ext cx="9143276" cy="10286638"/>
            <a:chOff x="0" y="0"/>
            <a:chExt cx="12191035" cy="1371551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190984" cy="13715492"/>
            </a:xfrm>
            <a:custGeom>
              <a:avLst/>
              <a:gdLst/>
              <a:ahLst/>
              <a:cxnLst/>
              <a:rect r="r" b="b" t="t" l="l"/>
              <a:pathLst>
                <a:path h="13715492" w="12190984">
                  <a:moveTo>
                    <a:pt x="0" y="0"/>
                  </a:moveTo>
                  <a:lnTo>
                    <a:pt x="12190984" y="0"/>
                  </a:lnTo>
                  <a:lnTo>
                    <a:pt x="12190984" y="13715492"/>
                  </a:lnTo>
                  <a:lnTo>
                    <a:pt x="0" y="13715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6705" r="0" b="-16705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2555291" y="4446824"/>
            <a:ext cx="4035505" cy="13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Solution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23304" y="0"/>
            <a:ext cx="9464696" cy="10287000"/>
          </a:xfrm>
          <a:custGeom>
            <a:avLst/>
            <a:gdLst/>
            <a:ahLst/>
            <a:cxnLst/>
            <a:rect r="r" b="b" t="t" l="l"/>
            <a:pathLst>
              <a:path h="10287000" w="9464696">
                <a:moveTo>
                  <a:pt x="0" y="0"/>
                </a:moveTo>
                <a:lnTo>
                  <a:pt x="9464696" y="0"/>
                </a:lnTo>
                <a:lnTo>
                  <a:pt x="946469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3809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28794" y="4373563"/>
            <a:ext cx="7162562" cy="13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Mode fantôme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787481" y="8582874"/>
            <a:ext cx="2852013" cy="2925141"/>
          </a:xfrm>
          <a:custGeom>
            <a:avLst/>
            <a:gdLst/>
            <a:ahLst/>
            <a:cxnLst/>
            <a:rect r="r" b="b" t="t" l="l"/>
            <a:pathLst>
              <a:path h="2925141" w="2852013">
                <a:moveTo>
                  <a:pt x="0" y="0"/>
                </a:moveTo>
                <a:lnTo>
                  <a:pt x="2852012" y="0"/>
                </a:lnTo>
                <a:lnTo>
                  <a:pt x="2852012" y="2925142"/>
                </a:lnTo>
                <a:lnTo>
                  <a:pt x="0" y="29251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4000"/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23304" y="0"/>
            <a:ext cx="9464696" cy="10287000"/>
          </a:xfrm>
          <a:custGeom>
            <a:avLst/>
            <a:gdLst/>
            <a:ahLst/>
            <a:cxnLst/>
            <a:rect r="r" b="b" t="t" l="l"/>
            <a:pathLst>
              <a:path h="10287000" w="9464696">
                <a:moveTo>
                  <a:pt x="0" y="0"/>
                </a:moveTo>
                <a:lnTo>
                  <a:pt x="9464696" y="0"/>
                </a:lnTo>
                <a:lnTo>
                  <a:pt x="946469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3809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823304" y="0"/>
            <a:ext cx="9464696" cy="10287000"/>
            <a:chOff x="0" y="0"/>
            <a:chExt cx="764492" cy="8309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64492" cy="830912"/>
            </a:xfrm>
            <a:custGeom>
              <a:avLst/>
              <a:gdLst/>
              <a:ahLst/>
              <a:cxnLst/>
              <a:rect r="r" b="b" t="t" l="l"/>
              <a:pathLst>
                <a:path h="830912" w="764492">
                  <a:moveTo>
                    <a:pt x="0" y="0"/>
                  </a:moveTo>
                  <a:lnTo>
                    <a:pt x="764492" y="0"/>
                  </a:lnTo>
                  <a:lnTo>
                    <a:pt x="764492" y="830912"/>
                  </a:lnTo>
                  <a:lnTo>
                    <a:pt x="0" y="830912"/>
                  </a:lnTo>
                  <a:close/>
                </a:path>
              </a:pathLst>
            </a:custGeom>
            <a:blipFill>
              <a:blip r:embed="rId4"/>
              <a:stretch>
                <a:fillRect l="-31567" t="0" r="-31567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624068" y="3914775"/>
            <a:ext cx="7570012" cy="244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  <a:spcBef>
                <a:spcPct val="0"/>
              </a:spcBef>
            </a:pPr>
            <a:r>
              <a:rPr lang="en-US" b="true" sz="80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Routines personnalisées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3910317" y="-4035600"/>
            <a:ext cx="10486082" cy="18312479"/>
            <a:chOff x="0" y="0"/>
            <a:chExt cx="13981443" cy="24416639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13981430" cy="24416638"/>
            </a:xfrm>
            <a:custGeom>
              <a:avLst/>
              <a:gdLst/>
              <a:ahLst/>
              <a:cxnLst/>
              <a:rect r="r" b="b" t="t" l="l"/>
              <a:pathLst>
                <a:path h="24416638" w="13981430">
                  <a:moveTo>
                    <a:pt x="13981430" y="0"/>
                  </a:moveTo>
                  <a:lnTo>
                    <a:pt x="0" y="0"/>
                  </a:lnTo>
                  <a:lnTo>
                    <a:pt x="0" y="24416638"/>
                  </a:lnTo>
                  <a:lnTo>
                    <a:pt x="13981430" y="24416638"/>
                  </a:lnTo>
                  <a:lnTo>
                    <a:pt x="13981430" y="0"/>
                  </a:lnTo>
                  <a:close/>
                </a:path>
              </a:pathLst>
            </a:custGeom>
            <a:blipFill>
              <a:blip r:embed="rId2"/>
              <a:stretch>
                <a:fillRect l="-1304" t="0" r="-20921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5400000">
            <a:off x="12336485" y="4386243"/>
            <a:ext cx="10293125" cy="1661036"/>
            <a:chOff x="0" y="0"/>
            <a:chExt cx="13724166" cy="2214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24128" cy="2214753"/>
            </a:xfrm>
            <a:custGeom>
              <a:avLst/>
              <a:gdLst/>
              <a:ahLst/>
              <a:cxnLst/>
              <a:rect r="r" b="b" t="t" l="l"/>
              <a:pathLst>
                <a:path h="2214753" w="13724128">
                  <a:moveTo>
                    <a:pt x="0" y="0"/>
                  </a:moveTo>
                  <a:lnTo>
                    <a:pt x="13724128" y="0"/>
                  </a:lnTo>
                  <a:lnTo>
                    <a:pt x="13724128" y="2214753"/>
                  </a:lnTo>
                  <a:lnTo>
                    <a:pt x="0" y="22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2218" t="0" r="-89327" b="-56753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5526798" cy="4856397"/>
            <a:chOff x="0" y="0"/>
            <a:chExt cx="20702397" cy="64751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02397" cy="6475222"/>
            </a:xfrm>
            <a:custGeom>
              <a:avLst/>
              <a:gdLst/>
              <a:ahLst/>
              <a:cxnLst/>
              <a:rect r="r" b="b" t="t" l="l"/>
              <a:pathLst>
                <a:path h="6475222" w="20702397">
                  <a:moveTo>
                    <a:pt x="0" y="0"/>
                  </a:moveTo>
                  <a:lnTo>
                    <a:pt x="20702397" y="0"/>
                  </a:lnTo>
                  <a:lnTo>
                    <a:pt x="20702397" y="6475222"/>
                  </a:lnTo>
                  <a:lnTo>
                    <a:pt x="0" y="6475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19646" t="-138025" r="-7357" b="966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679116" y="6689522"/>
            <a:ext cx="4324" cy="1438"/>
            <a:chOff x="0" y="0"/>
            <a:chExt cx="5766" cy="19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089038" y="7070398"/>
            <a:ext cx="43920" cy="12964"/>
            <a:chOff x="0" y="0"/>
            <a:chExt cx="58560" cy="1728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135120" y="7083362"/>
            <a:ext cx="8639" cy="3600"/>
            <a:chOff x="0" y="0"/>
            <a:chExt cx="11519" cy="480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44359" y="1028700"/>
            <a:ext cx="16199282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Roadmap</a:t>
            </a:r>
          </a:p>
        </p:txBody>
      </p:sp>
      <p:sp>
        <p:nvSpPr>
          <p:cNvPr name="AutoShape 15" id="15"/>
          <p:cNvSpPr/>
          <p:nvPr/>
        </p:nvSpPr>
        <p:spPr>
          <a:xfrm>
            <a:off x="1478462" y="8108191"/>
            <a:ext cx="0" cy="1178516"/>
          </a:xfrm>
          <a:prstGeom prst="line">
            <a:avLst/>
          </a:prstGeom>
          <a:ln cap="rnd" w="952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2528878" y="8529784"/>
            <a:ext cx="0" cy="756922"/>
          </a:xfrm>
          <a:prstGeom prst="line">
            <a:avLst/>
          </a:prstGeom>
          <a:ln cap="rnd" w="95250">
            <a:solidFill>
              <a:srgbClr val="FF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028700" y="9286707"/>
            <a:ext cx="16230600" cy="0"/>
          </a:xfrm>
          <a:prstGeom prst="line">
            <a:avLst/>
          </a:prstGeom>
          <a:ln cap="rnd" w="9525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8" id="18"/>
          <p:cNvSpPr txBox="true"/>
          <p:nvPr/>
        </p:nvSpPr>
        <p:spPr>
          <a:xfrm rot="0">
            <a:off x="119601" y="7144112"/>
            <a:ext cx="2717721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Prototype Pool</a:t>
            </a:r>
          </a:p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Mars 2026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1822" y="2860472"/>
            <a:ext cx="16764357" cy="3381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9"/>
              </a:lnSpc>
            </a:pPr>
            <a:r>
              <a:rPr lang="en-US" sz="4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Documentation compléte avec un Action Plan et un BTP finalisé</a:t>
            </a:r>
          </a:p>
          <a:p>
            <a:pPr algn="ctr">
              <a:lnSpc>
                <a:spcPts val="5399"/>
              </a:lnSpc>
            </a:pPr>
            <a:r>
              <a:rPr lang="en-US" sz="4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1er POC</a:t>
            </a:r>
          </a:p>
          <a:p>
            <a:pPr algn="ctr">
              <a:lnSpc>
                <a:spcPts val="5399"/>
              </a:lnSpc>
            </a:pPr>
            <a:r>
              <a:rPr lang="en-US" sz="4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Architecture compléte</a:t>
            </a:r>
          </a:p>
          <a:p>
            <a:pPr algn="ctr">
              <a:lnSpc>
                <a:spcPts val="5399"/>
              </a:lnSpc>
            </a:pPr>
            <a:r>
              <a:rPr lang="en-US" sz="4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Analyse de pose V1 avec Media Pipe en 2D</a:t>
            </a:r>
          </a:p>
          <a:p>
            <a:pPr algn="ctr">
              <a:lnSpc>
                <a:spcPts val="5399"/>
              </a:lnSpc>
              <a:spcBef>
                <a:spcPct val="0"/>
              </a:spcBef>
            </a:pPr>
            <a:r>
              <a:rPr lang="en-US" sz="4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Génération de conseil V1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885152" y="1847850"/>
            <a:ext cx="2517696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FF0000"/>
                </a:solidFill>
                <a:latin typeface="DM Sans Bold"/>
                <a:ea typeface="DM Sans Bold"/>
                <a:cs typeface="DM Sans Bold"/>
                <a:sym typeface="DM Sans Bold"/>
              </a:rPr>
              <a:t>Actuellement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3910317" y="-4035600"/>
            <a:ext cx="10486082" cy="18312479"/>
            <a:chOff x="0" y="0"/>
            <a:chExt cx="13981443" cy="24416639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13981430" cy="24416638"/>
            </a:xfrm>
            <a:custGeom>
              <a:avLst/>
              <a:gdLst/>
              <a:ahLst/>
              <a:cxnLst/>
              <a:rect r="r" b="b" t="t" l="l"/>
              <a:pathLst>
                <a:path h="24416638" w="13981430">
                  <a:moveTo>
                    <a:pt x="13981430" y="0"/>
                  </a:moveTo>
                  <a:lnTo>
                    <a:pt x="0" y="0"/>
                  </a:lnTo>
                  <a:lnTo>
                    <a:pt x="0" y="24416638"/>
                  </a:lnTo>
                  <a:lnTo>
                    <a:pt x="13981430" y="24416638"/>
                  </a:lnTo>
                  <a:lnTo>
                    <a:pt x="13981430" y="0"/>
                  </a:lnTo>
                  <a:close/>
                </a:path>
              </a:pathLst>
            </a:custGeom>
            <a:blipFill>
              <a:blip r:embed="rId2"/>
              <a:stretch>
                <a:fillRect l="-1304" t="0" r="-20921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5400000">
            <a:off x="12336485" y="4386243"/>
            <a:ext cx="10293125" cy="1661036"/>
            <a:chOff x="0" y="0"/>
            <a:chExt cx="13724166" cy="2214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24128" cy="2214753"/>
            </a:xfrm>
            <a:custGeom>
              <a:avLst/>
              <a:gdLst/>
              <a:ahLst/>
              <a:cxnLst/>
              <a:rect r="r" b="b" t="t" l="l"/>
              <a:pathLst>
                <a:path h="2214753" w="13724128">
                  <a:moveTo>
                    <a:pt x="0" y="0"/>
                  </a:moveTo>
                  <a:lnTo>
                    <a:pt x="13724128" y="0"/>
                  </a:lnTo>
                  <a:lnTo>
                    <a:pt x="13724128" y="2214753"/>
                  </a:lnTo>
                  <a:lnTo>
                    <a:pt x="0" y="22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2218" t="0" r="-89327" b="-56753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5526798" cy="4856397"/>
            <a:chOff x="0" y="0"/>
            <a:chExt cx="20702397" cy="64751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02397" cy="6475222"/>
            </a:xfrm>
            <a:custGeom>
              <a:avLst/>
              <a:gdLst/>
              <a:ahLst/>
              <a:cxnLst/>
              <a:rect r="r" b="b" t="t" l="l"/>
              <a:pathLst>
                <a:path h="6475222" w="20702397">
                  <a:moveTo>
                    <a:pt x="0" y="0"/>
                  </a:moveTo>
                  <a:lnTo>
                    <a:pt x="20702397" y="0"/>
                  </a:lnTo>
                  <a:lnTo>
                    <a:pt x="20702397" y="6475222"/>
                  </a:lnTo>
                  <a:lnTo>
                    <a:pt x="0" y="6475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19646" t="-138025" r="-7357" b="966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679116" y="6689522"/>
            <a:ext cx="4324" cy="1438"/>
            <a:chOff x="0" y="0"/>
            <a:chExt cx="5766" cy="19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089038" y="7070398"/>
            <a:ext cx="43920" cy="12964"/>
            <a:chOff x="0" y="0"/>
            <a:chExt cx="58560" cy="1728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135120" y="7083362"/>
            <a:ext cx="8639" cy="3600"/>
            <a:chOff x="0" y="0"/>
            <a:chExt cx="11519" cy="480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44359" y="1028700"/>
            <a:ext cx="16199282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Roadmap</a:t>
            </a:r>
          </a:p>
        </p:txBody>
      </p:sp>
      <p:sp>
        <p:nvSpPr>
          <p:cNvPr name="AutoShape 15" id="15"/>
          <p:cNvSpPr/>
          <p:nvPr/>
        </p:nvSpPr>
        <p:spPr>
          <a:xfrm>
            <a:off x="1478462" y="8108191"/>
            <a:ext cx="0" cy="1178516"/>
          </a:xfrm>
          <a:prstGeom prst="line">
            <a:avLst/>
          </a:prstGeom>
          <a:ln cap="rnd" w="952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2528878" y="8529784"/>
            <a:ext cx="0" cy="756922"/>
          </a:xfrm>
          <a:prstGeom prst="line">
            <a:avLst/>
          </a:prstGeom>
          <a:ln cap="rnd" w="95250">
            <a:solidFill>
              <a:srgbClr val="FF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028700" y="9286707"/>
            <a:ext cx="16230600" cy="0"/>
          </a:xfrm>
          <a:prstGeom prst="line">
            <a:avLst/>
          </a:prstGeom>
          <a:ln cap="rnd" w="9525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8" id="18"/>
          <p:cNvSpPr txBox="true"/>
          <p:nvPr/>
        </p:nvSpPr>
        <p:spPr>
          <a:xfrm rot="0">
            <a:off x="119601" y="7144112"/>
            <a:ext cx="2717721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FFFFFF">
                    <a:alpha val="49804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Prototype Pool</a:t>
            </a:r>
          </a:p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>
                    <a:alpha val="49804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Mars 2026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951452" y="2857500"/>
            <a:ext cx="8385096" cy="270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9"/>
              </a:lnSpc>
            </a:pPr>
            <a:r>
              <a:rPr lang="en-US" sz="4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Infrastructure technique propre</a:t>
            </a:r>
          </a:p>
          <a:p>
            <a:pPr algn="ctr">
              <a:lnSpc>
                <a:spcPts val="5399"/>
              </a:lnSpc>
            </a:pPr>
            <a:r>
              <a:rPr lang="en-US" sz="4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Migration Rust → Go</a:t>
            </a:r>
          </a:p>
          <a:p>
            <a:pPr algn="ctr">
              <a:lnSpc>
                <a:spcPts val="5399"/>
              </a:lnSpc>
            </a:pPr>
            <a:r>
              <a:rPr lang="en-US" sz="4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Refonte mobile</a:t>
            </a:r>
          </a:p>
          <a:p>
            <a:pPr algn="ctr">
              <a:lnSpc>
                <a:spcPts val="5399"/>
              </a:lnSpc>
              <a:spcBef>
                <a:spcPct val="0"/>
              </a:spcBef>
            </a:pPr>
            <a:r>
              <a:rPr lang="en-US" sz="4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Stabilité</a:t>
            </a:r>
          </a:p>
        </p:txBody>
      </p:sp>
      <p:sp>
        <p:nvSpPr>
          <p:cNvPr name="AutoShape 20" id="20"/>
          <p:cNvSpPr/>
          <p:nvPr/>
        </p:nvSpPr>
        <p:spPr>
          <a:xfrm>
            <a:off x="4430584" y="8108191"/>
            <a:ext cx="0" cy="1178516"/>
          </a:xfrm>
          <a:prstGeom prst="line">
            <a:avLst/>
          </a:prstGeom>
          <a:ln cap="rnd" w="952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2883486" y="7184266"/>
            <a:ext cx="3094196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Début Tek4</a:t>
            </a:r>
          </a:p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Septembre 2026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3910317" y="-4035600"/>
            <a:ext cx="10486082" cy="18312479"/>
            <a:chOff x="0" y="0"/>
            <a:chExt cx="13981443" cy="24416639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13981430" cy="24416638"/>
            </a:xfrm>
            <a:custGeom>
              <a:avLst/>
              <a:gdLst/>
              <a:ahLst/>
              <a:cxnLst/>
              <a:rect r="r" b="b" t="t" l="l"/>
              <a:pathLst>
                <a:path h="24416638" w="13981430">
                  <a:moveTo>
                    <a:pt x="13981430" y="0"/>
                  </a:moveTo>
                  <a:lnTo>
                    <a:pt x="0" y="0"/>
                  </a:lnTo>
                  <a:lnTo>
                    <a:pt x="0" y="24416638"/>
                  </a:lnTo>
                  <a:lnTo>
                    <a:pt x="13981430" y="24416638"/>
                  </a:lnTo>
                  <a:lnTo>
                    <a:pt x="13981430" y="0"/>
                  </a:lnTo>
                  <a:close/>
                </a:path>
              </a:pathLst>
            </a:custGeom>
            <a:blipFill>
              <a:blip r:embed="rId2"/>
              <a:stretch>
                <a:fillRect l="-1304" t="0" r="-20921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5400000">
            <a:off x="12336485" y="4386243"/>
            <a:ext cx="10293125" cy="1661036"/>
            <a:chOff x="0" y="0"/>
            <a:chExt cx="13724166" cy="2214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24128" cy="2214753"/>
            </a:xfrm>
            <a:custGeom>
              <a:avLst/>
              <a:gdLst/>
              <a:ahLst/>
              <a:cxnLst/>
              <a:rect r="r" b="b" t="t" l="l"/>
              <a:pathLst>
                <a:path h="2214753" w="13724128">
                  <a:moveTo>
                    <a:pt x="0" y="0"/>
                  </a:moveTo>
                  <a:lnTo>
                    <a:pt x="13724128" y="0"/>
                  </a:lnTo>
                  <a:lnTo>
                    <a:pt x="13724128" y="2214753"/>
                  </a:lnTo>
                  <a:lnTo>
                    <a:pt x="0" y="22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2218" t="0" r="-89327" b="-56753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5526798" cy="4856397"/>
            <a:chOff x="0" y="0"/>
            <a:chExt cx="20702397" cy="64751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02397" cy="6475222"/>
            </a:xfrm>
            <a:custGeom>
              <a:avLst/>
              <a:gdLst/>
              <a:ahLst/>
              <a:cxnLst/>
              <a:rect r="r" b="b" t="t" l="l"/>
              <a:pathLst>
                <a:path h="6475222" w="20702397">
                  <a:moveTo>
                    <a:pt x="0" y="0"/>
                  </a:moveTo>
                  <a:lnTo>
                    <a:pt x="20702397" y="0"/>
                  </a:lnTo>
                  <a:lnTo>
                    <a:pt x="20702397" y="6475222"/>
                  </a:lnTo>
                  <a:lnTo>
                    <a:pt x="0" y="6475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19646" t="-138025" r="-7357" b="966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679116" y="6689522"/>
            <a:ext cx="4324" cy="1438"/>
            <a:chOff x="0" y="0"/>
            <a:chExt cx="5766" cy="19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089038" y="7070398"/>
            <a:ext cx="43920" cy="12964"/>
            <a:chOff x="0" y="0"/>
            <a:chExt cx="58560" cy="1728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135120" y="7083362"/>
            <a:ext cx="8639" cy="3600"/>
            <a:chOff x="0" y="0"/>
            <a:chExt cx="11519" cy="480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44359" y="1028700"/>
            <a:ext cx="16199282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Roadmap</a:t>
            </a:r>
          </a:p>
        </p:txBody>
      </p:sp>
      <p:sp>
        <p:nvSpPr>
          <p:cNvPr name="AutoShape 15" id="15"/>
          <p:cNvSpPr/>
          <p:nvPr/>
        </p:nvSpPr>
        <p:spPr>
          <a:xfrm>
            <a:off x="1478462" y="8108191"/>
            <a:ext cx="0" cy="1178516"/>
          </a:xfrm>
          <a:prstGeom prst="line">
            <a:avLst/>
          </a:prstGeom>
          <a:ln cap="rnd" w="952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2528878" y="8529784"/>
            <a:ext cx="0" cy="756922"/>
          </a:xfrm>
          <a:prstGeom prst="line">
            <a:avLst/>
          </a:prstGeom>
          <a:ln cap="rnd" w="95250">
            <a:solidFill>
              <a:srgbClr val="FF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119601" y="7144112"/>
            <a:ext cx="2717721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FFFFFF">
                    <a:alpha val="49804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Prototype Pool</a:t>
            </a:r>
          </a:p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>
                    <a:alpha val="49804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Mars 2026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957334" y="2860472"/>
            <a:ext cx="12373332" cy="3381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9"/>
              </a:lnSpc>
            </a:pPr>
            <a:r>
              <a:rPr lang="en-US" sz="4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Analyse de pose V2 avec Sam3D</a:t>
            </a:r>
          </a:p>
          <a:p>
            <a:pPr algn="ctr">
              <a:lnSpc>
                <a:spcPts val="5399"/>
              </a:lnSpc>
            </a:pPr>
            <a:r>
              <a:rPr lang="en-US" sz="4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Expérience mobile 3D suite à l’analyse de pose</a:t>
            </a:r>
          </a:p>
          <a:p>
            <a:pPr algn="ctr">
              <a:lnSpc>
                <a:spcPts val="5399"/>
              </a:lnSpc>
            </a:pPr>
            <a:r>
              <a:rPr lang="en-US" sz="4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Mode fantôme MVP</a:t>
            </a:r>
          </a:p>
          <a:p>
            <a:pPr algn="ctr">
              <a:lnSpc>
                <a:spcPts val="5399"/>
              </a:lnSpc>
            </a:pPr>
            <a:r>
              <a:rPr lang="en-US" sz="4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Parcours utilisateur complet</a:t>
            </a:r>
          </a:p>
          <a:p>
            <a:pPr algn="ctr">
              <a:lnSpc>
                <a:spcPts val="5399"/>
              </a:lnSpc>
              <a:spcBef>
                <a:spcPct val="0"/>
              </a:spcBef>
            </a:pPr>
            <a:r>
              <a:rPr lang="en-US" sz="4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Accessibilité &amp; Onboarding</a:t>
            </a:r>
          </a:p>
        </p:txBody>
      </p:sp>
      <p:sp>
        <p:nvSpPr>
          <p:cNvPr name="AutoShape 19" id="19"/>
          <p:cNvSpPr/>
          <p:nvPr/>
        </p:nvSpPr>
        <p:spPr>
          <a:xfrm>
            <a:off x="4430584" y="8108191"/>
            <a:ext cx="0" cy="1178516"/>
          </a:xfrm>
          <a:prstGeom prst="line">
            <a:avLst/>
          </a:prstGeom>
          <a:ln cap="rnd" w="952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2883486" y="7184266"/>
            <a:ext cx="3094196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FFFFFF">
                    <a:alpha val="49804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Début Tek4</a:t>
            </a:r>
          </a:p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>
                    <a:alpha val="49804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Septembre 2026</a:t>
            </a:r>
          </a:p>
        </p:txBody>
      </p:sp>
      <p:sp>
        <p:nvSpPr>
          <p:cNvPr name="AutoShape 21" id="21"/>
          <p:cNvSpPr/>
          <p:nvPr/>
        </p:nvSpPr>
        <p:spPr>
          <a:xfrm>
            <a:off x="9744926" y="8108191"/>
            <a:ext cx="0" cy="1178516"/>
          </a:xfrm>
          <a:prstGeom prst="line">
            <a:avLst/>
          </a:prstGeom>
          <a:ln cap="rnd" w="952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8266646" y="7184266"/>
            <a:ext cx="295656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Jury GreenLight</a:t>
            </a:r>
          </a:p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Juillet 2027</a:t>
            </a:r>
          </a:p>
        </p:txBody>
      </p:sp>
      <p:sp>
        <p:nvSpPr>
          <p:cNvPr name="AutoShape 23" id="23"/>
          <p:cNvSpPr/>
          <p:nvPr/>
        </p:nvSpPr>
        <p:spPr>
          <a:xfrm>
            <a:off x="6564375" y="8529784"/>
            <a:ext cx="0" cy="756922"/>
          </a:xfrm>
          <a:prstGeom prst="line">
            <a:avLst/>
          </a:prstGeom>
          <a:ln cap="rnd" w="952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1028700" y="9286707"/>
            <a:ext cx="16230600" cy="0"/>
          </a:xfrm>
          <a:prstGeom prst="line">
            <a:avLst/>
          </a:prstGeom>
          <a:ln cap="rnd" w="9525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5" id="25"/>
          <p:cNvSpPr txBox="true"/>
          <p:nvPr/>
        </p:nvSpPr>
        <p:spPr>
          <a:xfrm rot="0">
            <a:off x="6109794" y="8063059"/>
            <a:ext cx="909161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2027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3910317" y="-4035600"/>
            <a:ext cx="10486082" cy="18312479"/>
            <a:chOff x="0" y="0"/>
            <a:chExt cx="13981443" cy="24416639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13981430" cy="24416638"/>
            </a:xfrm>
            <a:custGeom>
              <a:avLst/>
              <a:gdLst/>
              <a:ahLst/>
              <a:cxnLst/>
              <a:rect r="r" b="b" t="t" l="l"/>
              <a:pathLst>
                <a:path h="24416638" w="13981430">
                  <a:moveTo>
                    <a:pt x="13981430" y="0"/>
                  </a:moveTo>
                  <a:lnTo>
                    <a:pt x="0" y="0"/>
                  </a:lnTo>
                  <a:lnTo>
                    <a:pt x="0" y="24416638"/>
                  </a:lnTo>
                  <a:lnTo>
                    <a:pt x="13981430" y="24416638"/>
                  </a:lnTo>
                  <a:lnTo>
                    <a:pt x="13981430" y="0"/>
                  </a:lnTo>
                  <a:close/>
                </a:path>
              </a:pathLst>
            </a:custGeom>
            <a:blipFill>
              <a:blip r:embed="rId2"/>
              <a:stretch>
                <a:fillRect l="-1304" t="0" r="-20921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5400000">
            <a:off x="12336485" y="4386243"/>
            <a:ext cx="10293125" cy="1661036"/>
            <a:chOff x="0" y="0"/>
            <a:chExt cx="13724166" cy="2214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24128" cy="2214753"/>
            </a:xfrm>
            <a:custGeom>
              <a:avLst/>
              <a:gdLst/>
              <a:ahLst/>
              <a:cxnLst/>
              <a:rect r="r" b="b" t="t" l="l"/>
              <a:pathLst>
                <a:path h="2214753" w="13724128">
                  <a:moveTo>
                    <a:pt x="0" y="0"/>
                  </a:moveTo>
                  <a:lnTo>
                    <a:pt x="13724128" y="0"/>
                  </a:lnTo>
                  <a:lnTo>
                    <a:pt x="13724128" y="2214753"/>
                  </a:lnTo>
                  <a:lnTo>
                    <a:pt x="0" y="22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2218" t="0" r="-89327" b="-56753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5526798" cy="4856397"/>
            <a:chOff x="0" y="0"/>
            <a:chExt cx="20702397" cy="64751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02397" cy="6475222"/>
            </a:xfrm>
            <a:custGeom>
              <a:avLst/>
              <a:gdLst/>
              <a:ahLst/>
              <a:cxnLst/>
              <a:rect r="r" b="b" t="t" l="l"/>
              <a:pathLst>
                <a:path h="6475222" w="20702397">
                  <a:moveTo>
                    <a:pt x="0" y="0"/>
                  </a:moveTo>
                  <a:lnTo>
                    <a:pt x="20702397" y="0"/>
                  </a:lnTo>
                  <a:lnTo>
                    <a:pt x="20702397" y="6475222"/>
                  </a:lnTo>
                  <a:lnTo>
                    <a:pt x="0" y="6475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19646" t="-138025" r="-7357" b="966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679116" y="6689522"/>
            <a:ext cx="4324" cy="1438"/>
            <a:chOff x="0" y="0"/>
            <a:chExt cx="5766" cy="19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089038" y="7070398"/>
            <a:ext cx="43920" cy="12964"/>
            <a:chOff x="0" y="0"/>
            <a:chExt cx="58560" cy="1728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135120" y="7083362"/>
            <a:ext cx="8639" cy="3600"/>
            <a:chOff x="0" y="0"/>
            <a:chExt cx="11519" cy="480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44359" y="1028700"/>
            <a:ext cx="16199282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Roadmap</a:t>
            </a:r>
          </a:p>
        </p:txBody>
      </p:sp>
      <p:sp>
        <p:nvSpPr>
          <p:cNvPr name="AutoShape 15" id="15"/>
          <p:cNvSpPr/>
          <p:nvPr/>
        </p:nvSpPr>
        <p:spPr>
          <a:xfrm>
            <a:off x="1478462" y="8108191"/>
            <a:ext cx="0" cy="1178516"/>
          </a:xfrm>
          <a:prstGeom prst="line">
            <a:avLst/>
          </a:prstGeom>
          <a:ln cap="rnd" w="952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2528878" y="8529784"/>
            <a:ext cx="0" cy="756922"/>
          </a:xfrm>
          <a:prstGeom prst="line">
            <a:avLst/>
          </a:prstGeom>
          <a:ln cap="rnd" w="95250">
            <a:solidFill>
              <a:srgbClr val="FF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119601" y="7144112"/>
            <a:ext cx="2717721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FFFFFF">
                    <a:alpha val="49804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Prototype Pool</a:t>
            </a:r>
          </a:p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>
                    <a:alpha val="49804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Mars 2026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002536" y="2856147"/>
            <a:ext cx="6282928" cy="405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9"/>
              </a:lnSpc>
            </a:pPr>
            <a:r>
              <a:rPr lang="en-US" sz="4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Mode fantôme avancé</a:t>
            </a:r>
          </a:p>
          <a:p>
            <a:pPr algn="ctr">
              <a:lnSpc>
                <a:spcPts val="5399"/>
              </a:lnSpc>
            </a:pPr>
            <a:r>
              <a:rPr lang="en-US" sz="4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IA de lecture de prises</a:t>
            </a:r>
          </a:p>
          <a:p>
            <a:pPr algn="ctr">
              <a:lnSpc>
                <a:spcPts val="5399"/>
              </a:lnSpc>
            </a:pPr>
            <a:r>
              <a:rPr lang="en-US" sz="4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Coaching en temps réel</a:t>
            </a:r>
          </a:p>
          <a:p>
            <a:pPr algn="ctr">
              <a:lnSpc>
                <a:spcPts val="5399"/>
              </a:lnSpc>
            </a:pPr>
            <a:r>
              <a:rPr lang="en-US" sz="4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Routine personnalisées </a:t>
            </a:r>
          </a:p>
          <a:p>
            <a:pPr algn="ctr">
              <a:lnSpc>
                <a:spcPts val="5399"/>
              </a:lnSpc>
            </a:pPr>
            <a:r>
              <a:rPr lang="en-US" sz="4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Communauté</a:t>
            </a:r>
          </a:p>
          <a:p>
            <a:pPr algn="ctr">
              <a:lnSpc>
                <a:spcPts val="5399"/>
              </a:lnSpc>
              <a:spcBef>
                <a:spcPct val="0"/>
              </a:spcBef>
            </a:pPr>
            <a:r>
              <a:rPr lang="en-US" sz="4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Monétisation</a:t>
            </a:r>
          </a:p>
        </p:txBody>
      </p:sp>
      <p:sp>
        <p:nvSpPr>
          <p:cNvPr name="AutoShape 19" id="19"/>
          <p:cNvSpPr/>
          <p:nvPr/>
        </p:nvSpPr>
        <p:spPr>
          <a:xfrm>
            <a:off x="4430584" y="8108191"/>
            <a:ext cx="0" cy="1178516"/>
          </a:xfrm>
          <a:prstGeom prst="line">
            <a:avLst/>
          </a:prstGeom>
          <a:ln cap="rnd" w="952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2883486" y="7184266"/>
            <a:ext cx="3094196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FFFFFF">
                    <a:alpha val="49804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Début Tek4</a:t>
            </a:r>
          </a:p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>
                    <a:alpha val="49804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Septembre 2026</a:t>
            </a:r>
          </a:p>
        </p:txBody>
      </p:sp>
      <p:sp>
        <p:nvSpPr>
          <p:cNvPr name="AutoShape 21" id="21"/>
          <p:cNvSpPr/>
          <p:nvPr/>
        </p:nvSpPr>
        <p:spPr>
          <a:xfrm>
            <a:off x="9744926" y="8108191"/>
            <a:ext cx="0" cy="1178516"/>
          </a:xfrm>
          <a:prstGeom prst="line">
            <a:avLst/>
          </a:prstGeom>
          <a:ln cap="rnd" w="952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8266646" y="7184266"/>
            <a:ext cx="295656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FFFFFF">
                    <a:alpha val="49804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Jury GreenLight</a:t>
            </a:r>
          </a:p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>
                    <a:alpha val="49804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Juillet 2027</a:t>
            </a:r>
          </a:p>
        </p:txBody>
      </p:sp>
      <p:sp>
        <p:nvSpPr>
          <p:cNvPr name="AutoShape 23" id="23"/>
          <p:cNvSpPr/>
          <p:nvPr/>
        </p:nvSpPr>
        <p:spPr>
          <a:xfrm>
            <a:off x="16814454" y="8108191"/>
            <a:ext cx="0" cy="1178516"/>
          </a:xfrm>
          <a:prstGeom prst="line">
            <a:avLst/>
          </a:prstGeom>
          <a:ln cap="rnd" w="952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15838170" y="7144112"/>
            <a:ext cx="194310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Jury ATP</a:t>
            </a:r>
          </a:p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Mars 2028</a:t>
            </a:r>
          </a:p>
        </p:txBody>
      </p:sp>
      <p:sp>
        <p:nvSpPr>
          <p:cNvPr name="AutoShape 25" id="25"/>
          <p:cNvSpPr/>
          <p:nvPr/>
        </p:nvSpPr>
        <p:spPr>
          <a:xfrm>
            <a:off x="6564375" y="8529784"/>
            <a:ext cx="0" cy="756922"/>
          </a:xfrm>
          <a:prstGeom prst="line">
            <a:avLst/>
          </a:prstGeom>
          <a:ln cap="rnd" w="952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6109794" y="8063059"/>
            <a:ext cx="909161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2027</a:t>
            </a:r>
          </a:p>
        </p:txBody>
      </p:sp>
      <p:sp>
        <p:nvSpPr>
          <p:cNvPr name="AutoShape 27" id="27"/>
          <p:cNvSpPr/>
          <p:nvPr/>
        </p:nvSpPr>
        <p:spPr>
          <a:xfrm>
            <a:off x="14190481" y="8529784"/>
            <a:ext cx="0" cy="756922"/>
          </a:xfrm>
          <a:prstGeom prst="line">
            <a:avLst/>
          </a:prstGeom>
          <a:ln cap="rnd" w="952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1028700" y="9286707"/>
            <a:ext cx="16230600" cy="0"/>
          </a:xfrm>
          <a:prstGeom prst="line">
            <a:avLst/>
          </a:prstGeom>
          <a:ln cap="rnd" w="9525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9" id="29"/>
          <p:cNvSpPr txBox="true"/>
          <p:nvPr/>
        </p:nvSpPr>
        <p:spPr>
          <a:xfrm rot="0">
            <a:off x="13717803" y="8063059"/>
            <a:ext cx="945356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2028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3910317" y="-4035600"/>
            <a:ext cx="10486082" cy="18312479"/>
            <a:chOff x="0" y="0"/>
            <a:chExt cx="13981443" cy="24416639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13981430" cy="24416638"/>
            </a:xfrm>
            <a:custGeom>
              <a:avLst/>
              <a:gdLst/>
              <a:ahLst/>
              <a:cxnLst/>
              <a:rect r="r" b="b" t="t" l="l"/>
              <a:pathLst>
                <a:path h="24416638" w="13981430">
                  <a:moveTo>
                    <a:pt x="13981430" y="0"/>
                  </a:moveTo>
                  <a:lnTo>
                    <a:pt x="0" y="0"/>
                  </a:lnTo>
                  <a:lnTo>
                    <a:pt x="0" y="24416638"/>
                  </a:lnTo>
                  <a:lnTo>
                    <a:pt x="13981430" y="24416638"/>
                  </a:lnTo>
                  <a:lnTo>
                    <a:pt x="13981430" y="0"/>
                  </a:lnTo>
                  <a:close/>
                </a:path>
              </a:pathLst>
            </a:custGeom>
            <a:blipFill>
              <a:blip r:embed="rId2"/>
              <a:stretch>
                <a:fillRect l="-1304" t="0" r="-20921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14739" y="6526961"/>
            <a:ext cx="2381250" cy="2381250"/>
            <a:chOff x="0" y="0"/>
            <a:chExt cx="627160" cy="627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7161" cy="627161"/>
            </a:xfrm>
            <a:custGeom>
              <a:avLst/>
              <a:gdLst/>
              <a:ahLst/>
              <a:cxnLst/>
              <a:rect r="r" b="b" t="t" l="l"/>
              <a:pathLst>
                <a:path h="627161" w="627161">
                  <a:moveTo>
                    <a:pt x="165811" y="0"/>
                  </a:moveTo>
                  <a:lnTo>
                    <a:pt x="461349" y="0"/>
                  </a:lnTo>
                  <a:cubicBezTo>
                    <a:pt x="552924" y="0"/>
                    <a:pt x="627161" y="74236"/>
                    <a:pt x="627161" y="165811"/>
                  </a:cubicBezTo>
                  <a:lnTo>
                    <a:pt x="627161" y="461349"/>
                  </a:lnTo>
                  <a:cubicBezTo>
                    <a:pt x="627161" y="505325"/>
                    <a:pt x="609691" y="547500"/>
                    <a:pt x="578596" y="578596"/>
                  </a:cubicBezTo>
                  <a:cubicBezTo>
                    <a:pt x="547500" y="609691"/>
                    <a:pt x="505325" y="627161"/>
                    <a:pt x="461349" y="627161"/>
                  </a:cubicBezTo>
                  <a:lnTo>
                    <a:pt x="165811" y="627161"/>
                  </a:lnTo>
                  <a:cubicBezTo>
                    <a:pt x="121835" y="627161"/>
                    <a:pt x="79661" y="609691"/>
                    <a:pt x="48565" y="578596"/>
                  </a:cubicBezTo>
                  <a:cubicBezTo>
                    <a:pt x="17469" y="547500"/>
                    <a:pt x="0" y="505325"/>
                    <a:pt x="0" y="461349"/>
                  </a:cubicBezTo>
                  <a:lnTo>
                    <a:pt x="0" y="165811"/>
                  </a:lnTo>
                  <a:cubicBezTo>
                    <a:pt x="0" y="74236"/>
                    <a:pt x="74236" y="0"/>
                    <a:pt x="165811" y="0"/>
                  </a:cubicBezTo>
                  <a:close/>
                </a:path>
              </a:pathLst>
            </a:custGeom>
            <a:ln w="476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627160" cy="636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5400000">
            <a:off x="12336485" y="4386243"/>
            <a:ext cx="10293125" cy="1661036"/>
            <a:chOff x="0" y="0"/>
            <a:chExt cx="13724166" cy="22147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724128" cy="2214753"/>
            </a:xfrm>
            <a:custGeom>
              <a:avLst/>
              <a:gdLst/>
              <a:ahLst/>
              <a:cxnLst/>
              <a:rect r="r" b="b" t="t" l="l"/>
              <a:pathLst>
                <a:path h="2214753" w="13724128">
                  <a:moveTo>
                    <a:pt x="0" y="0"/>
                  </a:moveTo>
                  <a:lnTo>
                    <a:pt x="13724128" y="0"/>
                  </a:lnTo>
                  <a:lnTo>
                    <a:pt x="13724128" y="2214753"/>
                  </a:lnTo>
                  <a:lnTo>
                    <a:pt x="0" y="22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2218" t="0" r="-89327" b="-567539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0" y="0"/>
            <a:ext cx="15526798" cy="4856397"/>
            <a:chOff x="0" y="0"/>
            <a:chExt cx="20702397" cy="647519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702397" cy="6475222"/>
            </a:xfrm>
            <a:custGeom>
              <a:avLst/>
              <a:gdLst/>
              <a:ahLst/>
              <a:cxnLst/>
              <a:rect r="r" b="b" t="t" l="l"/>
              <a:pathLst>
                <a:path h="6475222" w="20702397">
                  <a:moveTo>
                    <a:pt x="0" y="0"/>
                  </a:moveTo>
                  <a:lnTo>
                    <a:pt x="20702397" y="0"/>
                  </a:lnTo>
                  <a:lnTo>
                    <a:pt x="20702397" y="6475222"/>
                  </a:lnTo>
                  <a:lnTo>
                    <a:pt x="0" y="6475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19646" t="-138025" r="-7357" b="9661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430900" y="5540669"/>
            <a:ext cx="4324" cy="1438"/>
            <a:chOff x="0" y="0"/>
            <a:chExt cx="5766" cy="191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5849724" y="6843812"/>
            <a:ext cx="43920" cy="12964"/>
            <a:chOff x="0" y="0"/>
            <a:chExt cx="58560" cy="1728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5895806" y="6856775"/>
            <a:ext cx="8639" cy="3600"/>
            <a:chOff x="0" y="0"/>
            <a:chExt cx="11519" cy="480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765720" y="3156773"/>
            <a:ext cx="2764772" cy="276477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6009" y="0"/>
                  </a:moveTo>
                  <a:lnTo>
                    <a:pt x="686791" y="0"/>
                  </a:lnTo>
                  <a:cubicBezTo>
                    <a:pt x="720211" y="0"/>
                    <a:pt x="752261" y="13276"/>
                    <a:pt x="775893" y="36907"/>
                  </a:cubicBezTo>
                  <a:cubicBezTo>
                    <a:pt x="799524" y="60538"/>
                    <a:pt x="812800" y="92589"/>
                    <a:pt x="812800" y="126009"/>
                  </a:cubicBezTo>
                  <a:lnTo>
                    <a:pt x="812800" y="686791"/>
                  </a:lnTo>
                  <a:cubicBezTo>
                    <a:pt x="812800" y="720211"/>
                    <a:pt x="799524" y="752261"/>
                    <a:pt x="775893" y="775893"/>
                  </a:cubicBezTo>
                  <a:cubicBezTo>
                    <a:pt x="752261" y="799524"/>
                    <a:pt x="720211" y="812800"/>
                    <a:pt x="686791" y="812800"/>
                  </a:cubicBezTo>
                  <a:lnTo>
                    <a:pt x="126009" y="812800"/>
                  </a:lnTo>
                  <a:cubicBezTo>
                    <a:pt x="92589" y="812800"/>
                    <a:pt x="60538" y="799524"/>
                    <a:pt x="36907" y="775893"/>
                  </a:cubicBezTo>
                  <a:cubicBezTo>
                    <a:pt x="13276" y="752261"/>
                    <a:pt x="0" y="720211"/>
                    <a:pt x="0" y="686791"/>
                  </a:cubicBezTo>
                  <a:lnTo>
                    <a:pt x="0" y="126009"/>
                  </a:lnTo>
                  <a:cubicBezTo>
                    <a:pt x="0" y="92589"/>
                    <a:pt x="13276" y="60538"/>
                    <a:pt x="36907" y="36907"/>
                  </a:cubicBezTo>
                  <a:cubicBezTo>
                    <a:pt x="60538" y="13276"/>
                    <a:pt x="92589" y="0"/>
                    <a:pt x="126009" y="0"/>
                  </a:cubicBezTo>
                  <a:close/>
                </a:path>
              </a:pathLst>
            </a:custGeom>
            <a:blipFill>
              <a:blip r:embed="rId4"/>
              <a:stretch>
                <a:fillRect l="-4166" t="-761" r="-2040" b="-7063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600226" y="3153123"/>
            <a:ext cx="2768422" cy="2768422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5843" y="0"/>
                  </a:moveTo>
                  <a:lnTo>
                    <a:pt x="686957" y="0"/>
                  </a:lnTo>
                  <a:cubicBezTo>
                    <a:pt x="756458" y="0"/>
                    <a:pt x="812800" y="56342"/>
                    <a:pt x="812800" y="125843"/>
                  </a:cubicBezTo>
                  <a:lnTo>
                    <a:pt x="812800" y="686957"/>
                  </a:lnTo>
                  <a:cubicBezTo>
                    <a:pt x="812800" y="756458"/>
                    <a:pt x="756458" y="812800"/>
                    <a:pt x="686957" y="812800"/>
                  </a:cubicBezTo>
                  <a:lnTo>
                    <a:pt x="125843" y="812800"/>
                  </a:lnTo>
                  <a:cubicBezTo>
                    <a:pt x="56342" y="812800"/>
                    <a:pt x="0" y="756458"/>
                    <a:pt x="0" y="686957"/>
                  </a:cubicBezTo>
                  <a:lnTo>
                    <a:pt x="0" y="125843"/>
                  </a:lnTo>
                  <a:cubicBezTo>
                    <a:pt x="0" y="56342"/>
                    <a:pt x="56342" y="0"/>
                    <a:pt x="125843" y="0"/>
                  </a:cubicBezTo>
                  <a:close/>
                </a:path>
              </a:pathLst>
            </a:custGeom>
            <a:blipFill>
              <a:blip r:embed="rId5"/>
              <a:stretch>
                <a:fillRect l="-13228" t="0" r="-24403" b="-100192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4682973" y="3153123"/>
            <a:ext cx="2768422" cy="2768422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5843" y="0"/>
                  </a:moveTo>
                  <a:lnTo>
                    <a:pt x="686957" y="0"/>
                  </a:lnTo>
                  <a:cubicBezTo>
                    <a:pt x="756458" y="0"/>
                    <a:pt x="812800" y="56342"/>
                    <a:pt x="812800" y="125843"/>
                  </a:cubicBezTo>
                  <a:lnTo>
                    <a:pt x="812800" y="686957"/>
                  </a:lnTo>
                  <a:cubicBezTo>
                    <a:pt x="812800" y="756458"/>
                    <a:pt x="756458" y="812800"/>
                    <a:pt x="686957" y="812800"/>
                  </a:cubicBezTo>
                  <a:lnTo>
                    <a:pt x="125843" y="812800"/>
                  </a:lnTo>
                  <a:cubicBezTo>
                    <a:pt x="56342" y="812800"/>
                    <a:pt x="0" y="756458"/>
                    <a:pt x="0" y="686957"/>
                  </a:cubicBezTo>
                  <a:lnTo>
                    <a:pt x="0" y="125843"/>
                  </a:lnTo>
                  <a:cubicBezTo>
                    <a:pt x="0" y="56342"/>
                    <a:pt x="56342" y="0"/>
                    <a:pt x="125843" y="0"/>
                  </a:cubicBezTo>
                  <a:close/>
                </a:path>
              </a:pathLst>
            </a:custGeom>
            <a:blipFill>
              <a:blip r:embed="rId6"/>
              <a:stretch>
                <a:fillRect l="-11949" t="0" r="-22451" b="-95556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923002" y="3173337"/>
            <a:ext cx="2764772" cy="2764772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6009" y="0"/>
                  </a:moveTo>
                  <a:lnTo>
                    <a:pt x="686791" y="0"/>
                  </a:lnTo>
                  <a:cubicBezTo>
                    <a:pt x="720211" y="0"/>
                    <a:pt x="752261" y="13276"/>
                    <a:pt x="775893" y="36907"/>
                  </a:cubicBezTo>
                  <a:cubicBezTo>
                    <a:pt x="799524" y="60538"/>
                    <a:pt x="812800" y="92589"/>
                    <a:pt x="812800" y="126009"/>
                  </a:cubicBezTo>
                  <a:lnTo>
                    <a:pt x="812800" y="686791"/>
                  </a:lnTo>
                  <a:cubicBezTo>
                    <a:pt x="812800" y="720211"/>
                    <a:pt x="799524" y="752261"/>
                    <a:pt x="775893" y="775893"/>
                  </a:cubicBezTo>
                  <a:cubicBezTo>
                    <a:pt x="752261" y="799524"/>
                    <a:pt x="720211" y="812800"/>
                    <a:pt x="686791" y="812800"/>
                  </a:cubicBezTo>
                  <a:lnTo>
                    <a:pt x="126009" y="812800"/>
                  </a:lnTo>
                  <a:cubicBezTo>
                    <a:pt x="92589" y="812800"/>
                    <a:pt x="60538" y="799524"/>
                    <a:pt x="36907" y="775893"/>
                  </a:cubicBezTo>
                  <a:cubicBezTo>
                    <a:pt x="13276" y="752261"/>
                    <a:pt x="0" y="720211"/>
                    <a:pt x="0" y="686791"/>
                  </a:cubicBezTo>
                  <a:lnTo>
                    <a:pt x="0" y="126009"/>
                  </a:lnTo>
                  <a:cubicBezTo>
                    <a:pt x="0" y="92589"/>
                    <a:pt x="13276" y="60538"/>
                    <a:pt x="36907" y="36907"/>
                  </a:cubicBezTo>
                  <a:cubicBezTo>
                    <a:pt x="60538" y="13276"/>
                    <a:pt x="92589" y="0"/>
                    <a:pt x="126009" y="0"/>
                  </a:cubicBezTo>
                  <a:close/>
                </a:path>
              </a:pathLst>
            </a:custGeom>
            <a:blipFill>
              <a:blip r:embed="rId7"/>
              <a:stretch>
                <a:fillRect l="-14551" t="0" r="-22309" b="-99069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843905" y="3153123"/>
            <a:ext cx="2764772" cy="2764772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6009" y="0"/>
                  </a:moveTo>
                  <a:lnTo>
                    <a:pt x="686791" y="0"/>
                  </a:lnTo>
                  <a:cubicBezTo>
                    <a:pt x="720211" y="0"/>
                    <a:pt x="752261" y="13276"/>
                    <a:pt x="775893" y="36907"/>
                  </a:cubicBezTo>
                  <a:cubicBezTo>
                    <a:pt x="799524" y="60538"/>
                    <a:pt x="812800" y="92589"/>
                    <a:pt x="812800" y="126009"/>
                  </a:cubicBezTo>
                  <a:lnTo>
                    <a:pt x="812800" y="686791"/>
                  </a:lnTo>
                  <a:cubicBezTo>
                    <a:pt x="812800" y="720211"/>
                    <a:pt x="799524" y="752261"/>
                    <a:pt x="775893" y="775893"/>
                  </a:cubicBezTo>
                  <a:cubicBezTo>
                    <a:pt x="752261" y="799524"/>
                    <a:pt x="720211" y="812800"/>
                    <a:pt x="686791" y="812800"/>
                  </a:cubicBezTo>
                  <a:lnTo>
                    <a:pt x="126009" y="812800"/>
                  </a:lnTo>
                  <a:cubicBezTo>
                    <a:pt x="92589" y="812800"/>
                    <a:pt x="60538" y="799524"/>
                    <a:pt x="36907" y="775893"/>
                  </a:cubicBezTo>
                  <a:cubicBezTo>
                    <a:pt x="13276" y="752261"/>
                    <a:pt x="0" y="720211"/>
                    <a:pt x="0" y="686791"/>
                  </a:cubicBezTo>
                  <a:lnTo>
                    <a:pt x="0" y="126009"/>
                  </a:lnTo>
                  <a:cubicBezTo>
                    <a:pt x="0" y="92589"/>
                    <a:pt x="13276" y="60538"/>
                    <a:pt x="36907" y="36907"/>
                  </a:cubicBezTo>
                  <a:cubicBezTo>
                    <a:pt x="60538" y="13276"/>
                    <a:pt x="92589" y="0"/>
                    <a:pt x="126009" y="0"/>
                  </a:cubicBezTo>
                  <a:close/>
                </a:path>
              </a:pathLst>
            </a:custGeom>
            <a:blipFill>
              <a:blip r:embed="rId8"/>
              <a:stretch>
                <a:fillRect l="-11905" t="0" r="-24993" b="-99125"/>
              </a:stretch>
            </a:blipFill>
          </p:spPr>
        </p:sp>
      </p:grpSp>
      <p:sp>
        <p:nvSpPr>
          <p:cNvPr name="Freeform 27" id="27"/>
          <p:cNvSpPr/>
          <p:nvPr/>
        </p:nvSpPr>
        <p:spPr>
          <a:xfrm flipH="false" flipV="false" rot="0">
            <a:off x="2509178" y="7820419"/>
            <a:ext cx="950518" cy="950518"/>
          </a:xfrm>
          <a:custGeom>
            <a:avLst/>
            <a:gdLst/>
            <a:ahLst/>
            <a:cxnLst/>
            <a:rect r="r" b="b" t="t" l="l"/>
            <a:pathLst>
              <a:path h="950518" w="950518">
                <a:moveTo>
                  <a:pt x="0" y="0"/>
                </a:moveTo>
                <a:lnTo>
                  <a:pt x="950518" y="0"/>
                </a:lnTo>
                <a:lnTo>
                  <a:pt x="950518" y="950518"/>
                </a:lnTo>
                <a:lnTo>
                  <a:pt x="0" y="95051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6493502" y="7820419"/>
            <a:ext cx="957893" cy="957893"/>
          </a:xfrm>
          <a:custGeom>
            <a:avLst/>
            <a:gdLst/>
            <a:ahLst/>
            <a:cxnLst/>
            <a:rect r="r" b="b" t="t" l="l"/>
            <a:pathLst>
              <a:path h="957893" w="957893">
                <a:moveTo>
                  <a:pt x="0" y="0"/>
                </a:moveTo>
                <a:lnTo>
                  <a:pt x="957893" y="0"/>
                </a:lnTo>
                <a:lnTo>
                  <a:pt x="957893" y="957893"/>
                </a:lnTo>
                <a:lnTo>
                  <a:pt x="0" y="95789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8672847" y="6869901"/>
            <a:ext cx="950518" cy="950518"/>
          </a:xfrm>
          <a:custGeom>
            <a:avLst/>
            <a:gdLst/>
            <a:ahLst/>
            <a:cxnLst/>
            <a:rect r="r" b="b" t="t" l="l"/>
            <a:pathLst>
              <a:path h="950518" w="950518">
                <a:moveTo>
                  <a:pt x="0" y="0"/>
                </a:moveTo>
                <a:lnTo>
                  <a:pt x="950518" y="0"/>
                </a:lnTo>
                <a:lnTo>
                  <a:pt x="950518" y="950518"/>
                </a:lnTo>
                <a:lnTo>
                  <a:pt x="0" y="95051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7635241" y="9513626"/>
            <a:ext cx="3017517" cy="475259"/>
          </a:xfrm>
          <a:custGeom>
            <a:avLst/>
            <a:gdLst/>
            <a:ahLst/>
            <a:cxnLst/>
            <a:rect r="r" b="b" t="t" l="l"/>
            <a:pathLst>
              <a:path h="475259" w="3017517">
                <a:moveTo>
                  <a:pt x="0" y="0"/>
                </a:moveTo>
                <a:lnTo>
                  <a:pt x="3017518" y="0"/>
                </a:lnTo>
                <a:lnTo>
                  <a:pt x="3017518" y="475259"/>
                </a:lnTo>
                <a:lnTo>
                  <a:pt x="0" y="47525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4038847" y="6709753"/>
            <a:ext cx="950518" cy="950518"/>
          </a:xfrm>
          <a:custGeom>
            <a:avLst/>
            <a:gdLst/>
            <a:ahLst/>
            <a:cxnLst/>
            <a:rect r="r" b="b" t="t" l="l"/>
            <a:pathLst>
              <a:path h="950518" w="950518">
                <a:moveTo>
                  <a:pt x="0" y="0"/>
                </a:moveTo>
                <a:lnTo>
                  <a:pt x="950518" y="0"/>
                </a:lnTo>
                <a:lnTo>
                  <a:pt x="950518" y="950518"/>
                </a:lnTo>
                <a:lnTo>
                  <a:pt x="0" y="95051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7584809" y="7773321"/>
            <a:ext cx="950518" cy="950518"/>
          </a:xfrm>
          <a:custGeom>
            <a:avLst/>
            <a:gdLst/>
            <a:ahLst/>
            <a:cxnLst/>
            <a:rect r="r" b="b" t="t" l="l"/>
            <a:pathLst>
              <a:path h="950518" w="950518">
                <a:moveTo>
                  <a:pt x="0" y="0"/>
                </a:moveTo>
                <a:lnTo>
                  <a:pt x="950518" y="0"/>
                </a:lnTo>
                <a:lnTo>
                  <a:pt x="950518" y="950518"/>
                </a:lnTo>
                <a:lnTo>
                  <a:pt x="0" y="95051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4830129" y="7820419"/>
            <a:ext cx="950518" cy="950518"/>
          </a:xfrm>
          <a:custGeom>
            <a:avLst/>
            <a:gdLst/>
            <a:ahLst/>
            <a:cxnLst/>
            <a:rect r="r" b="b" t="t" l="l"/>
            <a:pathLst>
              <a:path h="950518" w="950518">
                <a:moveTo>
                  <a:pt x="0" y="0"/>
                </a:moveTo>
                <a:lnTo>
                  <a:pt x="950518" y="0"/>
                </a:lnTo>
                <a:lnTo>
                  <a:pt x="950518" y="950518"/>
                </a:lnTo>
                <a:lnTo>
                  <a:pt x="0" y="950518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5591925" y="9258300"/>
            <a:ext cx="950518" cy="950518"/>
          </a:xfrm>
          <a:custGeom>
            <a:avLst/>
            <a:gdLst/>
            <a:ahLst/>
            <a:cxnLst/>
            <a:rect r="r" b="b" t="t" l="l"/>
            <a:pathLst>
              <a:path h="950518" w="950518">
                <a:moveTo>
                  <a:pt x="0" y="0"/>
                </a:moveTo>
                <a:lnTo>
                  <a:pt x="950518" y="0"/>
                </a:lnTo>
                <a:lnTo>
                  <a:pt x="950518" y="950518"/>
                </a:lnTo>
                <a:lnTo>
                  <a:pt x="0" y="950518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7131407" y="6709753"/>
            <a:ext cx="950518" cy="950518"/>
          </a:xfrm>
          <a:custGeom>
            <a:avLst/>
            <a:gdLst/>
            <a:ahLst/>
            <a:cxnLst/>
            <a:rect r="r" b="b" t="t" l="l"/>
            <a:pathLst>
              <a:path h="950518" w="950518">
                <a:moveTo>
                  <a:pt x="0" y="0"/>
                </a:moveTo>
                <a:lnTo>
                  <a:pt x="950518" y="0"/>
                </a:lnTo>
                <a:lnTo>
                  <a:pt x="950518" y="950518"/>
                </a:lnTo>
                <a:lnTo>
                  <a:pt x="0" y="95051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>
            <a:off x="2984437" y="6870982"/>
            <a:ext cx="0" cy="949437"/>
          </a:xfrm>
          <a:custGeom>
            <a:avLst/>
            <a:gdLst/>
            <a:ahLst/>
            <a:cxnLst/>
            <a:rect r="r" b="b" t="t" l="l"/>
            <a:pathLst>
              <a:path h="949437" w="0">
                <a:moveTo>
                  <a:pt x="0" y="0"/>
                </a:moveTo>
                <a:lnTo>
                  <a:pt x="0" y="949437"/>
                </a:lnTo>
              </a:path>
            </a:pathLst>
          </a:custGeom>
          <a:ln cap="flat" w="38100">
            <a:solidFill>
              <a:srgbClr val="FF57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7" id="37"/>
          <p:cNvSpPr/>
          <p:nvPr/>
        </p:nvSpPr>
        <p:spPr>
          <a:xfrm>
            <a:off x="15174700" y="5938109"/>
            <a:ext cx="188767" cy="1937685"/>
          </a:xfrm>
          <a:custGeom>
            <a:avLst/>
            <a:gdLst/>
            <a:ahLst/>
            <a:cxnLst/>
            <a:rect r="r" b="b" t="t" l="l"/>
            <a:pathLst>
              <a:path h="1937685" w="188767">
                <a:moveTo>
                  <a:pt x="188767" y="0"/>
                </a:moveTo>
                <a:lnTo>
                  <a:pt x="188767" y="874460"/>
                </a:lnTo>
                <a:cubicBezTo>
                  <a:pt x="188767" y="926586"/>
                  <a:pt x="146511" y="968843"/>
                  <a:pt x="94383" y="968843"/>
                </a:cubicBezTo>
                <a:lnTo>
                  <a:pt x="94383" y="968843"/>
                </a:lnTo>
                <a:cubicBezTo>
                  <a:pt x="42256" y="968843"/>
                  <a:pt x="0" y="1011100"/>
                  <a:pt x="0" y="1063226"/>
                </a:cubicBezTo>
                <a:lnTo>
                  <a:pt x="0" y="1937685"/>
                </a:lnTo>
              </a:path>
            </a:pathLst>
          </a:custGeom>
          <a:ln cap="flat" w="38100">
            <a:solidFill>
              <a:srgbClr val="38B6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8" id="38"/>
          <p:cNvSpPr/>
          <p:nvPr/>
        </p:nvSpPr>
        <p:spPr>
          <a:xfrm>
            <a:off x="12189602" y="5917895"/>
            <a:ext cx="2590253" cy="2451260"/>
          </a:xfrm>
          <a:custGeom>
            <a:avLst/>
            <a:gdLst/>
            <a:ahLst/>
            <a:cxnLst/>
            <a:rect r="r" b="b" t="t" l="l"/>
            <a:pathLst>
              <a:path h="2451260" w="2590253">
                <a:moveTo>
                  <a:pt x="0" y="0"/>
                </a:moveTo>
                <a:lnTo>
                  <a:pt x="0" y="2149182"/>
                </a:lnTo>
                <a:cubicBezTo>
                  <a:pt x="0" y="2275434"/>
                  <a:pt x="102348" y="2377782"/>
                  <a:pt x="228600" y="2377782"/>
                </a:cubicBezTo>
                <a:lnTo>
                  <a:pt x="2553514" y="2377782"/>
                </a:lnTo>
                <a:cubicBezTo>
                  <a:pt x="2563257" y="2377782"/>
                  <a:pt x="2572602" y="2381653"/>
                  <a:pt x="2579492" y="2388543"/>
                </a:cubicBezTo>
                <a:cubicBezTo>
                  <a:pt x="2586381" y="2395433"/>
                  <a:pt x="2590252" y="2404778"/>
                  <a:pt x="2590252" y="2414522"/>
                </a:cubicBezTo>
                <a:lnTo>
                  <a:pt x="2590252" y="2451261"/>
                </a:lnTo>
              </a:path>
            </a:pathLst>
          </a:custGeom>
          <a:ln cap="flat" w="38100">
            <a:solidFill>
              <a:srgbClr val="7ED9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9" id="39"/>
          <p:cNvSpPr/>
          <p:nvPr/>
        </p:nvSpPr>
        <p:spPr>
          <a:xfrm>
            <a:off x="10770697" y="5886073"/>
            <a:ext cx="1320706" cy="3865183"/>
          </a:xfrm>
          <a:custGeom>
            <a:avLst/>
            <a:gdLst/>
            <a:ahLst/>
            <a:cxnLst/>
            <a:rect r="r" b="b" t="t" l="l"/>
            <a:pathLst>
              <a:path h="3865183" w="1320706">
                <a:moveTo>
                  <a:pt x="0" y="3865183"/>
                </a:moveTo>
                <a:lnTo>
                  <a:pt x="1092106" y="3865183"/>
                </a:lnTo>
                <a:cubicBezTo>
                  <a:pt x="1218358" y="3865183"/>
                  <a:pt x="1320706" y="3762835"/>
                  <a:pt x="1320706" y="3636583"/>
                </a:cubicBezTo>
                <a:lnTo>
                  <a:pt x="1320706" y="0"/>
                </a:lnTo>
              </a:path>
            </a:pathLst>
          </a:custGeom>
          <a:ln cap="flat" w="38100">
            <a:solidFill>
              <a:srgbClr val="7ED9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0" id="40"/>
          <p:cNvSpPr/>
          <p:nvPr/>
        </p:nvSpPr>
        <p:spPr>
          <a:xfrm>
            <a:off x="6542443" y="5917895"/>
            <a:ext cx="5683848" cy="3815664"/>
          </a:xfrm>
          <a:custGeom>
            <a:avLst/>
            <a:gdLst/>
            <a:ahLst/>
            <a:cxnLst/>
            <a:rect r="r" b="b" t="t" l="l"/>
            <a:pathLst>
              <a:path h="3815664" w="5683848">
                <a:moveTo>
                  <a:pt x="0" y="3815664"/>
                </a:moveTo>
                <a:lnTo>
                  <a:pt x="87553" y="3815664"/>
                </a:lnTo>
                <a:cubicBezTo>
                  <a:pt x="135908" y="3815664"/>
                  <a:pt x="175106" y="3776466"/>
                  <a:pt x="175106" y="3728112"/>
                </a:cubicBezTo>
                <a:lnTo>
                  <a:pt x="175106" y="3569005"/>
                </a:lnTo>
                <a:cubicBezTo>
                  <a:pt x="175106" y="3442753"/>
                  <a:pt x="277454" y="3340405"/>
                  <a:pt x="403706" y="3340405"/>
                </a:cubicBezTo>
                <a:lnTo>
                  <a:pt x="5455248" y="3340405"/>
                </a:lnTo>
                <a:cubicBezTo>
                  <a:pt x="5581500" y="3340405"/>
                  <a:pt x="5683848" y="3238057"/>
                  <a:pt x="5683848" y="3111805"/>
                </a:cubicBezTo>
                <a:lnTo>
                  <a:pt x="5683848" y="0"/>
                </a:lnTo>
              </a:path>
            </a:pathLst>
          </a:custGeom>
          <a:ln cap="flat" w="38100">
            <a:solidFill>
              <a:srgbClr val="7ED9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1" id="41"/>
          <p:cNvSpPr/>
          <p:nvPr/>
        </p:nvSpPr>
        <p:spPr>
          <a:xfrm>
            <a:off x="2984437" y="6025199"/>
            <a:ext cx="892255" cy="1205099"/>
          </a:xfrm>
          <a:custGeom>
            <a:avLst/>
            <a:gdLst/>
            <a:ahLst/>
            <a:cxnLst/>
            <a:rect r="r" b="b" t="t" l="l"/>
            <a:pathLst>
              <a:path h="1205099" w="892255">
                <a:moveTo>
                  <a:pt x="0" y="0"/>
                </a:moveTo>
                <a:lnTo>
                  <a:pt x="0" y="976499"/>
                </a:lnTo>
                <a:cubicBezTo>
                  <a:pt x="0" y="1037128"/>
                  <a:pt x="24085" y="1095273"/>
                  <a:pt x="66955" y="1138144"/>
                </a:cubicBezTo>
                <a:cubicBezTo>
                  <a:pt x="109826" y="1181015"/>
                  <a:pt x="167972" y="1205099"/>
                  <a:pt x="228600" y="1205099"/>
                </a:cubicBezTo>
                <a:lnTo>
                  <a:pt x="892255" y="1205099"/>
                </a:lnTo>
              </a:path>
            </a:pathLst>
          </a:custGeom>
          <a:ln cap="flat" w="38100">
            <a:solidFill>
              <a:srgbClr val="FF57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2" id="42"/>
          <p:cNvSpPr/>
          <p:nvPr/>
        </p:nvSpPr>
        <p:spPr>
          <a:xfrm>
            <a:off x="5071559" y="5857171"/>
            <a:ext cx="942130" cy="1373127"/>
          </a:xfrm>
          <a:custGeom>
            <a:avLst/>
            <a:gdLst/>
            <a:ahLst/>
            <a:cxnLst/>
            <a:rect r="r" b="b" t="t" l="l"/>
            <a:pathLst>
              <a:path h="1373127" w="942130">
                <a:moveTo>
                  <a:pt x="942131" y="0"/>
                </a:moveTo>
                <a:lnTo>
                  <a:pt x="942131" y="1144527"/>
                </a:lnTo>
                <a:cubicBezTo>
                  <a:pt x="942131" y="1205156"/>
                  <a:pt x="918046" y="1263301"/>
                  <a:pt x="875176" y="1306172"/>
                </a:cubicBezTo>
                <a:cubicBezTo>
                  <a:pt x="832305" y="1349043"/>
                  <a:pt x="774159" y="1373127"/>
                  <a:pt x="713531" y="1373127"/>
                </a:cubicBezTo>
                <a:lnTo>
                  <a:pt x="0" y="1373127"/>
                </a:lnTo>
              </a:path>
            </a:pathLst>
          </a:custGeom>
          <a:ln cap="flat" w="38100">
            <a:solidFill>
              <a:srgbClr val="FF914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3" id="43"/>
          <p:cNvSpPr/>
          <p:nvPr/>
        </p:nvSpPr>
        <p:spPr>
          <a:xfrm>
            <a:off x="6067184" y="7589923"/>
            <a:ext cx="0" cy="1668377"/>
          </a:xfrm>
          <a:custGeom>
            <a:avLst/>
            <a:gdLst/>
            <a:ahLst/>
            <a:cxnLst/>
            <a:rect r="r" b="b" t="t" l="l"/>
            <a:pathLst>
              <a:path h="1668377" w="0">
                <a:moveTo>
                  <a:pt x="0" y="0"/>
                </a:moveTo>
                <a:lnTo>
                  <a:pt x="0" y="1668377"/>
                </a:lnTo>
              </a:path>
            </a:pathLst>
          </a:custGeom>
          <a:ln cap="flat" w="38100">
            <a:solidFill>
              <a:srgbClr val="FF914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4" id="44"/>
          <p:cNvSpPr txBox="true"/>
          <p:nvPr/>
        </p:nvSpPr>
        <p:spPr>
          <a:xfrm rot="0">
            <a:off x="1028700" y="1028700"/>
            <a:ext cx="1623060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Répartition du travail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629501" y="2457798"/>
            <a:ext cx="259923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Cristophe VANDEVOIR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392972" y="2457798"/>
            <a:ext cx="182483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Olivier POUECH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8160802" y="2457798"/>
            <a:ext cx="1967309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Lou PELLEGRINO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420833" y="2457798"/>
            <a:ext cx="161091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Gianni TUERO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213193" y="2457798"/>
            <a:ext cx="160099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Nicolas TORO</a:t>
            </a:r>
          </a:p>
        </p:txBody>
      </p:sp>
      <p:sp>
        <p:nvSpPr>
          <p:cNvPr name="Freeform 50" id="50"/>
          <p:cNvSpPr/>
          <p:nvPr/>
        </p:nvSpPr>
        <p:spPr>
          <a:xfrm>
            <a:off x="9148106" y="5921545"/>
            <a:ext cx="0" cy="474178"/>
          </a:xfrm>
          <a:custGeom>
            <a:avLst/>
            <a:gdLst/>
            <a:ahLst/>
            <a:cxnLst/>
            <a:rect r="r" b="b" t="t" l="l"/>
            <a:pathLst>
              <a:path h="474178" w="0">
                <a:moveTo>
                  <a:pt x="0" y="474178"/>
                </a:moveTo>
                <a:lnTo>
                  <a:pt x="0" y="0"/>
                </a:lnTo>
              </a:path>
            </a:pathLst>
          </a:custGeom>
          <a:ln cap="flat" w="38100">
            <a:solidFill>
              <a:srgbClr val="FFDE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1" id="51"/>
          <p:cNvSpPr/>
          <p:nvPr/>
        </p:nvSpPr>
        <p:spPr>
          <a:xfrm>
            <a:off x="7531488" y="5979422"/>
            <a:ext cx="1647427" cy="484518"/>
          </a:xfrm>
          <a:custGeom>
            <a:avLst/>
            <a:gdLst/>
            <a:ahLst/>
            <a:cxnLst/>
            <a:rect r="r" b="b" t="t" l="l"/>
            <a:pathLst>
              <a:path h="484518" w="1647427">
                <a:moveTo>
                  <a:pt x="0" y="484518"/>
                </a:moveTo>
                <a:lnTo>
                  <a:pt x="595113" y="484518"/>
                </a:lnTo>
                <a:cubicBezTo>
                  <a:pt x="721365" y="484518"/>
                  <a:pt x="823713" y="382170"/>
                  <a:pt x="823713" y="255918"/>
                </a:cubicBezTo>
                <a:lnTo>
                  <a:pt x="823713" y="228600"/>
                </a:lnTo>
                <a:cubicBezTo>
                  <a:pt x="823713" y="102347"/>
                  <a:pt x="926061" y="0"/>
                  <a:pt x="1052313" y="0"/>
                </a:cubicBezTo>
                <a:lnTo>
                  <a:pt x="1647427" y="0"/>
                </a:lnTo>
              </a:path>
            </a:pathLst>
          </a:custGeom>
          <a:ln cap="flat" w="38100">
            <a:solidFill>
              <a:srgbClr val="FFDE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2" id="52"/>
          <p:cNvSpPr/>
          <p:nvPr/>
        </p:nvSpPr>
        <p:spPr>
          <a:xfrm>
            <a:off x="6013690" y="5997195"/>
            <a:ext cx="374090" cy="1776126"/>
          </a:xfrm>
          <a:custGeom>
            <a:avLst/>
            <a:gdLst/>
            <a:ahLst/>
            <a:cxnLst/>
            <a:rect r="r" b="b" t="t" l="l"/>
            <a:pathLst>
              <a:path h="1776126" w="374090">
                <a:moveTo>
                  <a:pt x="0" y="0"/>
                </a:moveTo>
                <a:lnTo>
                  <a:pt x="0" y="1589081"/>
                </a:lnTo>
                <a:cubicBezTo>
                  <a:pt x="0" y="1638689"/>
                  <a:pt x="19706" y="1686264"/>
                  <a:pt x="54784" y="1721342"/>
                </a:cubicBezTo>
                <a:cubicBezTo>
                  <a:pt x="89862" y="1756419"/>
                  <a:pt x="137438" y="1776126"/>
                  <a:pt x="187045" y="1776126"/>
                </a:cubicBezTo>
                <a:lnTo>
                  <a:pt x="374090" y="1776126"/>
                </a:lnTo>
              </a:path>
            </a:pathLst>
          </a:custGeom>
          <a:ln cap="flat" w="38100">
            <a:solidFill>
              <a:srgbClr val="FF914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3" id="53"/>
          <p:cNvSpPr/>
          <p:nvPr/>
        </p:nvSpPr>
        <p:spPr>
          <a:xfrm>
            <a:off x="9102954" y="5999244"/>
            <a:ext cx="890046" cy="3555900"/>
          </a:xfrm>
          <a:custGeom>
            <a:avLst/>
            <a:gdLst/>
            <a:ahLst/>
            <a:cxnLst/>
            <a:rect r="r" b="b" t="t" l="l"/>
            <a:pathLst>
              <a:path h="3555900" w="890046">
                <a:moveTo>
                  <a:pt x="161301" y="0"/>
                </a:moveTo>
                <a:lnTo>
                  <a:pt x="161301" y="112505"/>
                </a:lnTo>
                <a:cubicBezTo>
                  <a:pt x="161301" y="174639"/>
                  <a:pt x="211671" y="225009"/>
                  <a:pt x="273806" y="225009"/>
                </a:cubicBezTo>
                <a:lnTo>
                  <a:pt x="661446" y="225009"/>
                </a:lnTo>
                <a:cubicBezTo>
                  <a:pt x="787698" y="225009"/>
                  <a:pt x="890046" y="327357"/>
                  <a:pt x="890046" y="453609"/>
                </a:cubicBezTo>
                <a:lnTo>
                  <a:pt x="890046" y="2819556"/>
                </a:lnTo>
                <a:cubicBezTo>
                  <a:pt x="890046" y="2880185"/>
                  <a:pt x="865962" y="2938330"/>
                  <a:pt x="823091" y="2981200"/>
                </a:cubicBezTo>
                <a:cubicBezTo>
                  <a:pt x="780220" y="3024071"/>
                  <a:pt x="722075" y="3048156"/>
                  <a:pt x="661446" y="3048156"/>
                </a:cubicBezTo>
                <a:lnTo>
                  <a:pt x="228600" y="3048156"/>
                </a:lnTo>
                <a:cubicBezTo>
                  <a:pt x="167971" y="3048156"/>
                  <a:pt x="109826" y="3072240"/>
                  <a:pt x="66955" y="3115111"/>
                </a:cubicBezTo>
                <a:cubicBezTo>
                  <a:pt x="24084" y="3157982"/>
                  <a:pt x="0" y="3216127"/>
                  <a:pt x="0" y="3276756"/>
                </a:cubicBezTo>
                <a:lnTo>
                  <a:pt x="0" y="3555900"/>
                </a:lnTo>
              </a:path>
            </a:pathLst>
          </a:custGeom>
          <a:ln cap="flat" w="38100">
            <a:solidFill>
              <a:srgbClr val="FFDE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4" id="54"/>
          <p:cNvSpPr/>
          <p:nvPr/>
        </p:nvSpPr>
        <p:spPr>
          <a:xfrm>
            <a:off x="6067184" y="5972841"/>
            <a:ext cx="3009367" cy="3503094"/>
          </a:xfrm>
          <a:custGeom>
            <a:avLst/>
            <a:gdLst/>
            <a:ahLst/>
            <a:cxnLst/>
            <a:rect r="r" b="b" t="t" l="l"/>
            <a:pathLst>
              <a:path h="3503094" w="3009367">
                <a:moveTo>
                  <a:pt x="0" y="0"/>
                </a:moveTo>
                <a:lnTo>
                  <a:pt x="0" y="2845959"/>
                </a:lnTo>
                <a:cubicBezTo>
                  <a:pt x="0" y="2906588"/>
                  <a:pt x="24085" y="2964733"/>
                  <a:pt x="66955" y="3007603"/>
                </a:cubicBezTo>
                <a:cubicBezTo>
                  <a:pt x="109826" y="3050474"/>
                  <a:pt x="167971" y="3074559"/>
                  <a:pt x="228600" y="3074559"/>
                </a:cubicBezTo>
                <a:lnTo>
                  <a:pt x="2795099" y="3074559"/>
                </a:lnTo>
                <a:cubicBezTo>
                  <a:pt x="2851927" y="3074559"/>
                  <a:pt x="2906426" y="3097133"/>
                  <a:pt x="2946609" y="3137316"/>
                </a:cubicBezTo>
                <a:cubicBezTo>
                  <a:pt x="2986792" y="3177499"/>
                  <a:pt x="3009367" y="3231999"/>
                  <a:pt x="3009367" y="3288826"/>
                </a:cubicBezTo>
                <a:lnTo>
                  <a:pt x="3009367" y="3503094"/>
                </a:lnTo>
              </a:path>
            </a:pathLst>
          </a:custGeom>
          <a:ln cap="flat" w="38100">
            <a:solidFill>
              <a:srgbClr val="FF914D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3952084" y="-4090321"/>
            <a:ext cx="10365838" cy="18475204"/>
            <a:chOff x="0" y="0"/>
            <a:chExt cx="13821118" cy="246336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821156" cy="24633555"/>
            </a:xfrm>
            <a:custGeom>
              <a:avLst/>
              <a:gdLst/>
              <a:ahLst/>
              <a:cxnLst/>
              <a:rect r="r" b="b" t="t" l="l"/>
              <a:pathLst>
                <a:path h="24633555" w="13821156">
                  <a:moveTo>
                    <a:pt x="0" y="0"/>
                  </a:moveTo>
                  <a:lnTo>
                    <a:pt x="13821156" y="0"/>
                  </a:lnTo>
                  <a:lnTo>
                    <a:pt x="13821156" y="24633555"/>
                  </a:lnTo>
                  <a:lnTo>
                    <a:pt x="0" y="24633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873" t="-1350" r="-225516" b="-353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3997085" y="-4000138"/>
            <a:ext cx="10275837" cy="18287276"/>
            <a:chOff x="0" y="0"/>
            <a:chExt cx="13701116" cy="2438303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01140" cy="24382985"/>
            </a:xfrm>
            <a:custGeom>
              <a:avLst/>
              <a:gdLst/>
              <a:ahLst/>
              <a:cxnLst/>
              <a:rect r="r" b="b" t="t" l="l"/>
              <a:pathLst>
                <a:path h="24382985" w="13701140">
                  <a:moveTo>
                    <a:pt x="0" y="0"/>
                  </a:moveTo>
                  <a:lnTo>
                    <a:pt x="13701140" y="0"/>
                  </a:lnTo>
                  <a:lnTo>
                    <a:pt x="13701140" y="24382985"/>
                  </a:lnTo>
                  <a:lnTo>
                    <a:pt x="0" y="24382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 l="-16966" t="-3901" r="-46200" b="5233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679116" y="6689522"/>
            <a:ext cx="4324" cy="1438"/>
            <a:chOff x="0" y="0"/>
            <a:chExt cx="5766" cy="19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089038" y="7070398"/>
            <a:ext cx="43920" cy="12964"/>
            <a:chOff x="0" y="0"/>
            <a:chExt cx="58560" cy="172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135120" y="7083362"/>
            <a:ext cx="8639" cy="3600"/>
            <a:chOff x="0" y="0"/>
            <a:chExt cx="11519" cy="48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145922" y="7087676"/>
            <a:ext cx="10801" cy="5763"/>
            <a:chOff x="0" y="0"/>
            <a:chExt cx="14402" cy="76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54"/>
              <a:ext cx="14097" cy="7493"/>
            </a:xfrm>
            <a:custGeom>
              <a:avLst/>
              <a:gdLst/>
              <a:ahLst/>
              <a:cxnLst/>
              <a:rect r="r" b="b" t="t" l="l"/>
              <a:pathLst>
                <a:path h="7493" w="14097">
                  <a:moveTo>
                    <a:pt x="0" y="0"/>
                  </a:moveTo>
                  <a:cubicBezTo>
                    <a:pt x="0" y="2540"/>
                    <a:pt x="0" y="2540"/>
                    <a:pt x="0" y="2540"/>
                  </a:cubicBezTo>
                  <a:cubicBezTo>
                    <a:pt x="5588" y="2540"/>
                    <a:pt x="8509" y="5080"/>
                    <a:pt x="14097" y="7493"/>
                  </a:cubicBezTo>
                  <a:cubicBezTo>
                    <a:pt x="8509" y="4953"/>
                    <a:pt x="5588" y="241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679840" y="6697437"/>
            <a:ext cx="4324" cy="1438"/>
            <a:chOff x="0" y="0"/>
            <a:chExt cx="5766" cy="191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089038" y="7077599"/>
            <a:ext cx="43920" cy="12964"/>
            <a:chOff x="0" y="0"/>
            <a:chExt cx="58560" cy="1728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135120" y="7090562"/>
            <a:ext cx="8639" cy="3600"/>
            <a:chOff x="0" y="0"/>
            <a:chExt cx="11519" cy="480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5145922" y="7094877"/>
            <a:ext cx="10801" cy="5763"/>
            <a:chOff x="0" y="0"/>
            <a:chExt cx="14402" cy="76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254"/>
              <a:ext cx="14097" cy="7493"/>
            </a:xfrm>
            <a:custGeom>
              <a:avLst/>
              <a:gdLst/>
              <a:ahLst/>
              <a:cxnLst/>
              <a:rect r="r" b="b" t="t" l="l"/>
              <a:pathLst>
                <a:path h="7493" w="14097">
                  <a:moveTo>
                    <a:pt x="0" y="0"/>
                  </a:moveTo>
                  <a:cubicBezTo>
                    <a:pt x="0" y="2540"/>
                    <a:pt x="0" y="2540"/>
                    <a:pt x="0" y="2540"/>
                  </a:cubicBezTo>
                  <a:cubicBezTo>
                    <a:pt x="5588" y="2540"/>
                    <a:pt x="8509" y="5080"/>
                    <a:pt x="14097" y="7493"/>
                  </a:cubicBezTo>
                  <a:cubicBezTo>
                    <a:pt x="8509" y="4953"/>
                    <a:pt x="5588" y="241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3950285" y="1028700"/>
            <a:ext cx="10387430" cy="1325753"/>
            <a:chOff x="0" y="0"/>
            <a:chExt cx="13849906" cy="176767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849902" cy="1767673"/>
            </a:xfrm>
            <a:custGeom>
              <a:avLst/>
              <a:gdLst/>
              <a:ahLst/>
              <a:cxnLst/>
              <a:rect r="r" b="b" t="t" l="l"/>
              <a:pathLst>
                <a:path h="1767673" w="13849902">
                  <a:moveTo>
                    <a:pt x="0" y="0"/>
                  </a:moveTo>
                  <a:lnTo>
                    <a:pt x="13849902" y="0"/>
                  </a:lnTo>
                  <a:lnTo>
                    <a:pt x="13849902" y="1767673"/>
                  </a:lnTo>
                  <a:lnTo>
                    <a:pt x="0" y="176767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0910" t="0" r="13621" b="-22758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3849906" cy="176767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8399"/>
                </a:lnSpc>
              </a:pPr>
              <a:r>
                <a:rPr lang="en-US" sz="6999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Difficultées rencontré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2479331" y="3236919"/>
            <a:ext cx="3813163" cy="3813163"/>
          </a:xfrm>
          <a:custGeom>
            <a:avLst/>
            <a:gdLst/>
            <a:ahLst/>
            <a:cxnLst/>
            <a:rect r="r" b="b" t="t" l="l"/>
            <a:pathLst>
              <a:path h="3813163" w="3813163">
                <a:moveTo>
                  <a:pt x="0" y="0"/>
                </a:moveTo>
                <a:lnTo>
                  <a:pt x="3813163" y="0"/>
                </a:lnTo>
                <a:lnTo>
                  <a:pt x="3813163" y="3813162"/>
                </a:lnTo>
                <a:lnTo>
                  <a:pt x="0" y="3813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995506" y="3236919"/>
            <a:ext cx="3813163" cy="3813163"/>
          </a:xfrm>
          <a:custGeom>
            <a:avLst/>
            <a:gdLst/>
            <a:ahLst/>
            <a:cxnLst/>
            <a:rect r="r" b="b" t="t" l="l"/>
            <a:pathLst>
              <a:path h="3813163" w="3813163">
                <a:moveTo>
                  <a:pt x="0" y="0"/>
                </a:moveTo>
                <a:lnTo>
                  <a:pt x="3813163" y="0"/>
                </a:lnTo>
                <a:lnTo>
                  <a:pt x="3813163" y="3813162"/>
                </a:lnTo>
                <a:lnTo>
                  <a:pt x="0" y="38131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7237419" y="3240700"/>
            <a:ext cx="3813163" cy="3813163"/>
          </a:xfrm>
          <a:custGeom>
            <a:avLst/>
            <a:gdLst/>
            <a:ahLst/>
            <a:cxnLst/>
            <a:rect r="r" b="b" t="t" l="l"/>
            <a:pathLst>
              <a:path h="3813163" w="3813163">
                <a:moveTo>
                  <a:pt x="0" y="0"/>
                </a:moveTo>
                <a:lnTo>
                  <a:pt x="3813162" y="0"/>
                </a:lnTo>
                <a:lnTo>
                  <a:pt x="3813162" y="3813163"/>
                </a:lnTo>
                <a:lnTo>
                  <a:pt x="0" y="38131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3952084" y="-4090321"/>
            <a:ext cx="10365838" cy="18475204"/>
            <a:chOff x="0" y="0"/>
            <a:chExt cx="13821118" cy="246336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821156" cy="24633555"/>
            </a:xfrm>
            <a:custGeom>
              <a:avLst/>
              <a:gdLst/>
              <a:ahLst/>
              <a:cxnLst/>
              <a:rect r="r" b="b" t="t" l="l"/>
              <a:pathLst>
                <a:path h="24633555" w="13821156">
                  <a:moveTo>
                    <a:pt x="0" y="0"/>
                  </a:moveTo>
                  <a:lnTo>
                    <a:pt x="13821156" y="0"/>
                  </a:lnTo>
                  <a:lnTo>
                    <a:pt x="13821156" y="24633555"/>
                  </a:lnTo>
                  <a:lnTo>
                    <a:pt x="0" y="24633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873" t="-1350" r="-225516" b="-353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3997085" y="-3994556"/>
            <a:ext cx="10275837" cy="18287276"/>
            <a:chOff x="0" y="0"/>
            <a:chExt cx="13701116" cy="2438303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01140" cy="24382985"/>
            </a:xfrm>
            <a:custGeom>
              <a:avLst/>
              <a:gdLst/>
              <a:ahLst/>
              <a:cxnLst/>
              <a:rect r="r" b="b" t="t" l="l"/>
              <a:pathLst>
                <a:path h="24382985" w="13701140">
                  <a:moveTo>
                    <a:pt x="0" y="0"/>
                  </a:moveTo>
                  <a:lnTo>
                    <a:pt x="13701140" y="0"/>
                  </a:lnTo>
                  <a:lnTo>
                    <a:pt x="13701140" y="24382985"/>
                  </a:lnTo>
                  <a:lnTo>
                    <a:pt x="0" y="24382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16966" t="-3901" r="-46200" b="5233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679116" y="6689522"/>
            <a:ext cx="4324" cy="1438"/>
            <a:chOff x="0" y="0"/>
            <a:chExt cx="5766" cy="19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089038" y="7070398"/>
            <a:ext cx="43920" cy="12964"/>
            <a:chOff x="0" y="0"/>
            <a:chExt cx="58560" cy="172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135120" y="7083362"/>
            <a:ext cx="8639" cy="3600"/>
            <a:chOff x="0" y="0"/>
            <a:chExt cx="11519" cy="48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145922" y="7087676"/>
            <a:ext cx="10801" cy="5763"/>
            <a:chOff x="0" y="0"/>
            <a:chExt cx="14402" cy="76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54"/>
              <a:ext cx="14097" cy="7493"/>
            </a:xfrm>
            <a:custGeom>
              <a:avLst/>
              <a:gdLst/>
              <a:ahLst/>
              <a:cxnLst/>
              <a:rect r="r" b="b" t="t" l="l"/>
              <a:pathLst>
                <a:path h="7493" w="14097">
                  <a:moveTo>
                    <a:pt x="0" y="0"/>
                  </a:moveTo>
                  <a:cubicBezTo>
                    <a:pt x="0" y="2540"/>
                    <a:pt x="0" y="2540"/>
                    <a:pt x="0" y="2540"/>
                  </a:cubicBezTo>
                  <a:cubicBezTo>
                    <a:pt x="5588" y="2540"/>
                    <a:pt x="8509" y="5080"/>
                    <a:pt x="14097" y="7493"/>
                  </a:cubicBezTo>
                  <a:cubicBezTo>
                    <a:pt x="8509" y="4953"/>
                    <a:pt x="5588" y="241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679840" y="6697437"/>
            <a:ext cx="4324" cy="1438"/>
            <a:chOff x="0" y="0"/>
            <a:chExt cx="5766" cy="191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089038" y="7077599"/>
            <a:ext cx="43920" cy="12964"/>
            <a:chOff x="0" y="0"/>
            <a:chExt cx="58560" cy="1728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135120" y="7090562"/>
            <a:ext cx="8639" cy="3600"/>
            <a:chOff x="0" y="0"/>
            <a:chExt cx="11519" cy="480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5145922" y="7094877"/>
            <a:ext cx="10801" cy="5763"/>
            <a:chOff x="0" y="0"/>
            <a:chExt cx="14402" cy="76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254"/>
              <a:ext cx="14097" cy="7493"/>
            </a:xfrm>
            <a:custGeom>
              <a:avLst/>
              <a:gdLst/>
              <a:ahLst/>
              <a:cxnLst/>
              <a:rect r="r" b="b" t="t" l="l"/>
              <a:pathLst>
                <a:path h="7493" w="14097">
                  <a:moveTo>
                    <a:pt x="0" y="0"/>
                  </a:moveTo>
                  <a:cubicBezTo>
                    <a:pt x="0" y="2540"/>
                    <a:pt x="0" y="2540"/>
                    <a:pt x="0" y="2540"/>
                  </a:cubicBezTo>
                  <a:cubicBezTo>
                    <a:pt x="5588" y="2540"/>
                    <a:pt x="8509" y="5080"/>
                    <a:pt x="14097" y="7493"/>
                  </a:cubicBezTo>
                  <a:cubicBezTo>
                    <a:pt x="8509" y="4953"/>
                    <a:pt x="5588" y="241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5457051" y="4524375"/>
            <a:ext cx="7373898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  <a:spcBef>
                <a:spcPct val="0"/>
              </a:spcBef>
            </a:pPr>
            <a:r>
              <a:rPr lang="en-US" b="true" sz="80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Démonstration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3952084" y="-4090321"/>
            <a:ext cx="10365838" cy="18475204"/>
            <a:chOff x="0" y="0"/>
            <a:chExt cx="13821118" cy="246336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821156" cy="24633555"/>
            </a:xfrm>
            <a:custGeom>
              <a:avLst/>
              <a:gdLst/>
              <a:ahLst/>
              <a:cxnLst/>
              <a:rect r="r" b="b" t="t" l="l"/>
              <a:pathLst>
                <a:path h="24633555" w="13821156">
                  <a:moveTo>
                    <a:pt x="0" y="0"/>
                  </a:moveTo>
                  <a:lnTo>
                    <a:pt x="13821156" y="0"/>
                  </a:lnTo>
                  <a:lnTo>
                    <a:pt x="13821156" y="24633555"/>
                  </a:lnTo>
                  <a:lnTo>
                    <a:pt x="0" y="24633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873" t="-1350" r="-225516" b="-353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3997085" y="-4000138"/>
            <a:ext cx="10275837" cy="18287276"/>
            <a:chOff x="0" y="0"/>
            <a:chExt cx="13701116" cy="2438303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01140" cy="24382985"/>
            </a:xfrm>
            <a:custGeom>
              <a:avLst/>
              <a:gdLst/>
              <a:ahLst/>
              <a:cxnLst/>
              <a:rect r="r" b="b" t="t" l="l"/>
              <a:pathLst>
                <a:path h="24382985" w="13701140">
                  <a:moveTo>
                    <a:pt x="0" y="0"/>
                  </a:moveTo>
                  <a:lnTo>
                    <a:pt x="13701140" y="0"/>
                  </a:lnTo>
                  <a:lnTo>
                    <a:pt x="13701140" y="24382985"/>
                  </a:lnTo>
                  <a:lnTo>
                    <a:pt x="0" y="24382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16966" t="-3901" r="-46200" b="5233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679116" y="6689522"/>
            <a:ext cx="4324" cy="1438"/>
            <a:chOff x="0" y="0"/>
            <a:chExt cx="5766" cy="19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089038" y="7070398"/>
            <a:ext cx="43920" cy="12964"/>
            <a:chOff x="0" y="0"/>
            <a:chExt cx="58560" cy="172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135120" y="7083362"/>
            <a:ext cx="8639" cy="3600"/>
            <a:chOff x="0" y="0"/>
            <a:chExt cx="11519" cy="48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145922" y="7087676"/>
            <a:ext cx="10801" cy="5763"/>
            <a:chOff x="0" y="0"/>
            <a:chExt cx="14402" cy="76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54"/>
              <a:ext cx="14097" cy="7493"/>
            </a:xfrm>
            <a:custGeom>
              <a:avLst/>
              <a:gdLst/>
              <a:ahLst/>
              <a:cxnLst/>
              <a:rect r="r" b="b" t="t" l="l"/>
              <a:pathLst>
                <a:path h="7493" w="14097">
                  <a:moveTo>
                    <a:pt x="0" y="0"/>
                  </a:moveTo>
                  <a:cubicBezTo>
                    <a:pt x="0" y="2540"/>
                    <a:pt x="0" y="2540"/>
                    <a:pt x="0" y="2540"/>
                  </a:cubicBezTo>
                  <a:cubicBezTo>
                    <a:pt x="5588" y="2540"/>
                    <a:pt x="8509" y="5080"/>
                    <a:pt x="14097" y="7493"/>
                  </a:cubicBezTo>
                  <a:cubicBezTo>
                    <a:pt x="8509" y="4953"/>
                    <a:pt x="5588" y="241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679840" y="6697437"/>
            <a:ext cx="4324" cy="1438"/>
            <a:chOff x="0" y="0"/>
            <a:chExt cx="5766" cy="191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089038" y="7077599"/>
            <a:ext cx="43920" cy="12964"/>
            <a:chOff x="0" y="0"/>
            <a:chExt cx="58560" cy="1728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135120" y="7090562"/>
            <a:ext cx="8639" cy="3600"/>
            <a:chOff x="0" y="0"/>
            <a:chExt cx="11519" cy="480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5145922" y="7094877"/>
            <a:ext cx="10801" cy="5763"/>
            <a:chOff x="0" y="0"/>
            <a:chExt cx="14402" cy="76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254"/>
              <a:ext cx="14097" cy="7493"/>
            </a:xfrm>
            <a:custGeom>
              <a:avLst/>
              <a:gdLst/>
              <a:ahLst/>
              <a:cxnLst/>
              <a:rect r="r" b="b" t="t" l="l"/>
              <a:pathLst>
                <a:path h="7493" w="14097">
                  <a:moveTo>
                    <a:pt x="0" y="0"/>
                  </a:moveTo>
                  <a:cubicBezTo>
                    <a:pt x="0" y="2540"/>
                    <a:pt x="0" y="2540"/>
                    <a:pt x="0" y="2540"/>
                  </a:cubicBezTo>
                  <a:cubicBezTo>
                    <a:pt x="5588" y="2540"/>
                    <a:pt x="8509" y="5080"/>
                    <a:pt x="14097" y="7493"/>
                  </a:cubicBezTo>
                  <a:cubicBezTo>
                    <a:pt x="8509" y="4953"/>
                    <a:pt x="5588" y="241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3706060" y="1028700"/>
            <a:ext cx="10875880" cy="1325753"/>
            <a:chOff x="0" y="0"/>
            <a:chExt cx="14501173" cy="176767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501168" cy="1767673"/>
            </a:xfrm>
            <a:custGeom>
              <a:avLst/>
              <a:gdLst/>
              <a:ahLst/>
              <a:cxnLst/>
              <a:rect r="r" b="b" t="t" l="l"/>
              <a:pathLst>
                <a:path h="1767673" w="14501168">
                  <a:moveTo>
                    <a:pt x="0" y="0"/>
                  </a:moveTo>
                  <a:lnTo>
                    <a:pt x="14501168" y="0"/>
                  </a:lnTo>
                  <a:lnTo>
                    <a:pt x="14501168" y="1767673"/>
                  </a:lnTo>
                  <a:lnTo>
                    <a:pt x="0" y="17676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971" t="0" r="17501" b="-22758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4501173" cy="176767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8399"/>
                </a:lnSpc>
              </a:pPr>
              <a:r>
                <a:rPr lang="en-US" sz="6999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État des fonctionnalitées</a:t>
              </a:r>
            </a:p>
          </p:txBody>
        </p:sp>
      </p:grpSp>
      <p:graphicFrame>
        <p:nvGraphicFramePr>
          <p:cNvPr name="Table 25" id="25"/>
          <p:cNvGraphicFramePr>
            <a:graphicFrameLocks noGrp="true"/>
          </p:cNvGraphicFramePr>
          <p:nvPr/>
        </p:nvGraphicFramePr>
        <p:xfrm>
          <a:off x="1028700" y="2476500"/>
          <a:ext cx="16230600" cy="6781800"/>
        </p:xfrm>
        <a:graphic>
          <a:graphicData uri="http://schemas.openxmlformats.org/drawingml/2006/table">
            <a:tbl>
              <a:tblPr/>
              <a:tblGrid>
                <a:gridCol w="11268021"/>
                <a:gridCol w="4962579"/>
              </a:tblGrid>
              <a:tr h="6781800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5599"/>
                        </a:lnSpc>
                        <a:defRPr/>
                      </a:pPr>
                      <a:r>
                        <a:rPr lang="en-US" sz="39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IA - Analyse de pose 2D (Média Pipe)</a:t>
                      </a:r>
                      <a:endParaRPr lang="en-US" sz="1100"/>
                    </a:p>
                    <a:p>
                      <a:pPr algn="r">
                        <a:lnSpc>
                          <a:spcPts val="5599"/>
                        </a:lnSpc>
                      </a:pPr>
                      <a:r>
                        <a:rPr lang="en-US" sz="39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IA - Analyse de pose 3D (Sam3D)</a:t>
                      </a:r>
                    </a:p>
                    <a:p>
                      <a:pPr algn="r">
                        <a:lnSpc>
                          <a:spcPts val="5599"/>
                        </a:lnSpc>
                      </a:pPr>
                      <a:r>
                        <a:rPr lang="en-US" sz="39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IA - Worker</a:t>
                      </a:r>
                    </a:p>
                    <a:p>
                      <a:pPr algn="r">
                        <a:lnSpc>
                          <a:spcPts val="5599"/>
                        </a:lnSpc>
                      </a:pPr>
                      <a:r>
                        <a:rPr lang="en-US" sz="39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Backend - Rust (actuel)</a:t>
                      </a:r>
                    </a:p>
                    <a:p>
                      <a:pPr algn="r">
                        <a:lnSpc>
                          <a:spcPts val="5599"/>
                        </a:lnSpc>
                      </a:pPr>
                      <a:r>
                        <a:rPr lang="en-US" sz="39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Backend - Go</a:t>
                      </a:r>
                    </a:p>
                    <a:p>
                      <a:pPr algn="r">
                        <a:lnSpc>
                          <a:spcPts val="5599"/>
                        </a:lnSpc>
                      </a:pPr>
                      <a:r>
                        <a:rPr lang="en-US" sz="39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Client</a:t>
                      </a:r>
                    </a:p>
                    <a:p>
                      <a:pPr algn="r">
                        <a:lnSpc>
                          <a:spcPts val="5599"/>
                        </a:lnSpc>
                      </a:pPr>
                      <a:r>
                        <a:rPr lang="en-US" sz="39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CI/CD</a:t>
                      </a:r>
                    </a:p>
                    <a:p>
                      <a:pPr algn="r">
                        <a:lnSpc>
                          <a:spcPts val="5599"/>
                        </a:lnSpc>
                      </a:pPr>
                      <a:r>
                        <a:rPr lang="en-US" sz="39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Architecture globale</a:t>
                      </a:r>
                    </a:p>
                    <a:p>
                      <a:pPr algn="r">
                        <a:lnSpc>
                          <a:spcPts val="5599"/>
                        </a:lnSpc>
                      </a:pPr>
                      <a:r>
                        <a:rPr lang="en-US" sz="39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Documentation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599"/>
                        </a:lnSpc>
                        <a:defRPr/>
                      </a:pPr>
                      <a:r>
                        <a:rPr lang="en-US" sz="39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✅</a:t>
                      </a:r>
                      <a:endParaRPr lang="en-US" sz="1100"/>
                    </a:p>
                    <a:p>
                      <a:pPr algn="l">
                        <a:lnSpc>
                          <a:spcPts val="5599"/>
                        </a:lnSpc>
                      </a:pPr>
                      <a:r>
                        <a:rPr lang="en-US" sz="39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〰️ (80%)</a:t>
                      </a:r>
                    </a:p>
                    <a:p>
                      <a:pPr algn="l">
                        <a:lnSpc>
                          <a:spcPts val="5599"/>
                        </a:lnSpc>
                      </a:pPr>
                      <a:r>
                        <a:rPr lang="en-US" sz="39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✅</a:t>
                      </a:r>
                    </a:p>
                    <a:p>
                      <a:pPr algn="l">
                        <a:lnSpc>
                          <a:spcPts val="5599"/>
                        </a:lnSpc>
                      </a:pPr>
                      <a:r>
                        <a:rPr lang="en-US" sz="39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❌</a:t>
                      </a:r>
                    </a:p>
                    <a:p>
                      <a:pPr algn="l">
                        <a:lnSpc>
                          <a:spcPts val="5599"/>
                        </a:lnSpc>
                      </a:pPr>
                      <a:r>
                        <a:rPr lang="en-US" sz="39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〰️ (70%)</a:t>
                      </a:r>
                    </a:p>
                    <a:p>
                      <a:pPr algn="l">
                        <a:lnSpc>
                          <a:spcPts val="5599"/>
                        </a:lnSpc>
                      </a:pPr>
                      <a:r>
                        <a:rPr lang="en-US" sz="39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🔁</a:t>
                      </a:r>
                    </a:p>
                    <a:p>
                      <a:pPr algn="l">
                        <a:lnSpc>
                          <a:spcPts val="5599"/>
                        </a:lnSpc>
                      </a:pPr>
                      <a:r>
                        <a:rPr lang="en-US" sz="39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✅</a:t>
                      </a:r>
                    </a:p>
                    <a:p>
                      <a:pPr algn="l">
                        <a:lnSpc>
                          <a:spcPts val="5599"/>
                        </a:lnSpc>
                      </a:pPr>
                      <a:r>
                        <a:rPr lang="en-US" sz="39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✅</a:t>
                      </a:r>
                    </a:p>
                    <a:p>
                      <a:pPr algn="l">
                        <a:lnSpc>
                          <a:spcPts val="5599"/>
                        </a:lnSpc>
                      </a:pPr>
                      <a:r>
                        <a:rPr lang="en-US" sz="39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✅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3952084" y="-4090321"/>
            <a:ext cx="10365838" cy="18475204"/>
            <a:chOff x="0" y="0"/>
            <a:chExt cx="13821118" cy="246336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821156" cy="24633555"/>
            </a:xfrm>
            <a:custGeom>
              <a:avLst/>
              <a:gdLst/>
              <a:ahLst/>
              <a:cxnLst/>
              <a:rect r="r" b="b" t="t" l="l"/>
              <a:pathLst>
                <a:path h="24633555" w="13821156">
                  <a:moveTo>
                    <a:pt x="0" y="0"/>
                  </a:moveTo>
                  <a:lnTo>
                    <a:pt x="13821156" y="0"/>
                  </a:lnTo>
                  <a:lnTo>
                    <a:pt x="13821156" y="24633555"/>
                  </a:lnTo>
                  <a:lnTo>
                    <a:pt x="0" y="24633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873" t="-1350" r="-225516" b="-353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3997085" y="-4000138"/>
            <a:ext cx="10275837" cy="18287276"/>
            <a:chOff x="0" y="0"/>
            <a:chExt cx="13701116" cy="2438303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01140" cy="24382985"/>
            </a:xfrm>
            <a:custGeom>
              <a:avLst/>
              <a:gdLst/>
              <a:ahLst/>
              <a:cxnLst/>
              <a:rect r="r" b="b" t="t" l="l"/>
              <a:pathLst>
                <a:path h="24382985" w="13701140">
                  <a:moveTo>
                    <a:pt x="0" y="0"/>
                  </a:moveTo>
                  <a:lnTo>
                    <a:pt x="13701140" y="0"/>
                  </a:lnTo>
                  <a:lnTo>
                    <a:pt x="13701140" y="24382985"/>
                  </a:lnTo>
                  <a:lnTo>
                    <a:pt x="0" y="24382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16966" t="-3901" r="-46200" b="5233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679116" y="6689522"/>
            <a:ext cx="4324" cy="1438"/>
            <a:chOff x="0" y="0"/>
            <a:chExt cx="5766" cy="19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089038" y="7070398"/>
            <a:ext cx="43920" cy="12964"/>
            <a:chOff x="0" y="0"/>
            <a:chExt cx="58560" cy="172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135120" y="7083362"/>
            <a:ext cx="8639" cy="3600"/>
            <a:chOff x="0" y="0"/>
            <a:chExt cx="11519" cy="48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145922" y="7087676"/>
            <a:ext cx="10801" cy="5763"/>
            <a:chOff x="0" y="0"/>
            <a:chExt cx="14402" cy="76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54"/>
              <a:ext cx="14097" cy="7493"/>
            </a:xfrm>
            <a:custGeom>
              <a:avLst/>
              <a:gdLst/>
              <a:ahLst/>
              <a:cxnLst/>
              <a:rect r="r" b="b" t="t" l="l"/>
              <a:pathLst>
                <a:path h="7493" w="14097">
                  <a:moveTo>
                    <a:pt x="0" y="0"/>
                  </a:moveTo>
                  <a:cubicBezTo>
                    <a:pt x="0" y="2540"/>
                    <a:pt x="0" y="2540"/>
                    <a:pt x="0" y="2540"/>
                  </a:cubicBezTo>
                  <a:cubicBezTo>
                    <a:pt x="5588" y="2540"/>
                    <a:pt x="8509" y="5080"/>
                    <a:pt x="14097" y="7493"/>
                  </a:cubicBezTo>
                  <a:cubicBezTo>
                    <a:pt x="8509" y="4953"/>
                    <a:pt x="5588" y="241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679840" y="6697437"/>
            <a:ext cx="4324" cy="1438"/>
            <a:chOff x="0" y="0"/>
            <a:chExt cx="5766" cy="191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089038" y="7077599"/>
            <a:ext cx="43920" cy="12964"/>
            <a:chOff x="0" y="0"/>
            <a:chExt cx="58560" cy="1728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135120" y="7090562"/>
            <a:ext cx="8639" cy="3600"/>
            <a:chOff x="0" y="0"/>
            <a:chExt cx="11519" cy="480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5145922" y="7094877"/>
            <a:ext cx="10801" cy="5763"/>
            <a:chOff x="0" y="0"/>
            <a:chExt cx="14402" cy="76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254"/>
              <a:ext cx="14097" cy="7493"/>
            </a:xfrm>
            <a:custGeom>
              <a:avLst/>
              <a:gdLst/>
              <a:ahLst/>
              <a:cxnLst/>
              <a:rect r="r" b="b" t="t" l="l"/>
              <a:pathLst>
                <a:path h="7493" w="14097">
                  <a:moveTo>
                    <a:pt x="0" y="0"/>
                  </a:moveTo>
                  <a:cubicBezTo>
                    <a:pt x="0" y="2540"/>
                    <a:pt x="0" y="2540"/>
                    <a:pt x="0" y="2540"/>
                  </a:cubicBezTo>
                  <a:cubicBezTo>
                    <a:pt x="5588" y="2540"/>
                    <a:pt x="8509" y="5080"/>
                    <a:pt x="14097" y="7493"/>
                  </a:cubicBezTo>
                  <a:cubicBezTo>
                    <a:pt x="8509" y="4953"/>
                    <a:pt x="5588" y="241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3706060" y="1028700"/>
            <a:ext cx="10875880" cy="1325753"/>
            <a:chOff x="0" y="0"/>
            <a:chExt cx="14501173" cy="176767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501168" cy="1767673"/>
            </a:xfrm>
            <a:custGeom>
              <a:avLst/>
              <a:gdLst/>
              <a:ahLst/>
              <a:cxnLst/>
              <a:rect r="r" b="b" t="t" l="l"/>
              <a:pathLst>
                <a:path h="1767673" w="14501168">
                  <a:moveTo>
                    <a:pt x="0" y="0"/>
                  </a:moveTo>
                  <a:lnTo>
                    <a:pt x="14501168" y="0"/>
                  </a:lnTo>
                  <a:lnTo>
                    <a:pt x="14501168" y="1767673"/>
                  </a:lnTo>
                  <a:lnTo>
                    <a:pt x="0" y="17676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971" t="0" r="17501" b="-22758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4501173" cy="176767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8399"/>
                </a:lnSpc>
              </a:pPr>
              <a:r>
                <a:rPr lang="en-US" sz="6999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Politique de tests</a:t>
              </a:r>
            </a:p>
          </p:txBody>
        </p:sp>
      </p:grpSp>
      <p:graphicFrame>
        <p:nvGraphicFramePr>
          <p:cNvPr name="Table 25" id="25"/>
          <p:cNvGraphicFramePr>
            <a:graphicFrameLocks noGrp="true"/>
          </p:cNvGraphicFramePr>
          <p:nvPr/>
        </p:nvGraphicFramePr>
        <p:xfrm>
          <a:off x="1028700" y="2354453"/>
          <a:ext cx="16230600" cy="6156198"/>
        </p:xfrm>
        <a:graphic>
          <a:graphicData uri="http://schemas.openxmlformats.org/drawingml/2006/table">
            <a:tbl>
              <a:tblPr/>
              <a:tblGrid>
                <a:gridCol w="8115300"/>
                <a:gridCol w="8115300"/>
              </a:tblGrid>
              <a:tr h="10926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Domaine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État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42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Aucun tests pour le moment,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prévu pour le jury GreenLight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9753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Backend - Rust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Unitaire, seulement sur le CRUD user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42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Backend - Go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Aucun tests pour le moment,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prévu pour le jury GreenLight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9753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Client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Unitaire, seulement sur l’accessibilité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3952084" y="-4090321"/>
            <a:ext cx="10365838" cy="18475204"/>
            <a:chOff x="0" y="0"/>
            <a:chExt cx="13821118" cy="246336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821156" cy="24633555"/>
            </a:xfrm>
            <a:custGeom>
              <a:avLst/>
              <a:gdLst/>
              <a:ahLst/>
              <a:cxnLst/>
              <a:rect r="r" b="b" t="t" l="l"/>
              <a:pathLst>
                <a:path h="24633555" w="13821156">
                  <a:moveTo>
                    <a:pt x="0" y="0"/>
                  </a:moveTo>
                  <a:lnTo>
                    <a:pt x="13821156" y="0"/>
                  </a:lnTo>
                  <a:lnTo>
                    <a:pt x="13821156" y="24633555"/>
                  </a:lnTo>
                  <a:lnTo>
                    <a:pt x="0" y="24633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873" t="-1350" r="-225516" b="-353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3997085" y="-4000138"/>
            <a:ext cx="10275837" cy="18287276"/>
            <a:chOff x="0" y="0"/>
            <a:chExt cx="13701116" cy="2438303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01140" cy="24382985"/>
            </a:xfrm>
            <a:custGeom>
              <a:avLst/>
              <a:gdLst/>
              <a:ahLst/>
              <a:cxnLst/>
              <a:rect r="r" b="b" t="t" l="l"/>
              <a:pathLst>
                <a:path h="24382985" w="13701140">
                  <a:moveTo>
                    <a:pt x="0" y="0"/>
                  </a:moveTo>
                  <a:lnTo>
                    <a:pt x="13701140" y="0"/>
                  </a:lnTo>
                  <a:lnTo>
                    <a:pt x="13701140" y="24382985"/>
                  </a:lnTo>
                  <a:lnTo>
                    <a:pt x="0" y="24382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16966" t="-3901" r="-46200" b="5233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679116" y="6689522"/>
            <a:ext cx="4324" cy="1438"/>
            <a:chOff x="0" y="0"/>
            <a:chExt cx="5766" cy="19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089038" y="7070398"/>
            <a:ext cx="43920" cy="12964"/>
            <a:chOff x="0" y="0"/>
            <a:chExt cx="58560" cy="172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135120" y="7083362"/>
            <a:ext cx="8639" cy="3600"/>
            <a:chOff x="0" y="0"/>
            <a:chExt cx="11519" cy="48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145922" y="7087676"/>
            <a:ext cx="10801" cy="5763"/>
            <a:chOff x="0" y="0"/>
            <a:chExt cx="14402" cy="76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54"/>
              <a:ext cx="14097" cy="7493"/>
            </a:xfrm>
            <a:custGeom>
              <a:avLst/>
              <a:gdLst/>
              <a:ahLst/>
              <a:cxnLst/>
              <a:rect r="r" b="b" t="t" l="l"/>
              <a:pathLst>
                <a:path h="7493" w="14097">
                  <a:moveTo>
                    <a:pt x="0" y="0"/>
                  </a:moveTo>
                  <a:cubicBezTo>
                    <a:pt x="0" y="2540"/>
                    <a:pt x="0" y="2540"/>
                    <a:pt x="0" y="2540"/>
                  </a:cubicBezTo>
                  <a:cubicBezTo>
                    <a:pt x="5588" y="2540"/>
                    <a:pt x="8509" y="5080"/>
                    <a:pt x="14097" y="7493"/>
                  </a:cubicBezTo>
                  <a:cubicBezTo>
                    <a:pt x="8509" y="4953"/>
                    <a:pt x="5588" y="241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679840" y="6697437"/>
            <a:ext cx="4324" cy="1438"/>
            <a:chOff x="0" y="0"/>
            <a:chExt cx="5766" cy="191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089038" y="7077599"/>
            <a:ext cx="43920" cy="12964"/>
            <a:chOff x="0" y="0"/>
            <a:chExt cx="58560" cy="1728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135120" y="7090562"/>
            <a:ext cx="8639" cy="3600"/>
            <a:chOff x="0" y="0"/>
            <a:chExt cx="11519" cy="480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5145922" y="7094877"/>
            <a:ext cx="10801" cy="5763"/>
            <a:chOff x="0" y="0"/>
            <a:chExt cx="14402" cy="76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254"/>
              <a:ext cx="14097" cy="7493"/>
            </a:xfrm>
            <a:custGeom>
              <a:avLst/>
              <a:gdLst/>
              <a:ahLst/>
              <a:cxnLst/>
              <a:rect r="r" b="b" t="t" l="l"/>
              <a:pathLst>
                <a:path h="7493" w="14097">
                  <a:moveTo>
                    <a:pt x="0" y="0"/>
                  </a:moveTo>
                  <a:cubicBezTo>
                    <a:pt x="0" y="2540"/>
                    <a:pt x="0" y="2540"/>
                    <a:pt x="0" y="2540"/>
                  </a:cubicBezTo>
                  <a:cubicBezTo>
                    <a:pt x="5588" y="2540"/>
                    <a:pt x="8509" y="5080"/>
                    <a:pt x="14097" y="7493"/>
                  </a:cubicBezTo>
                  <a:cubicBezTo>
                    <a:pt x="8509" y="4953"/>
                    <a:pt x="5588" y="241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707857" y="1028700"/>
            <a:ext cx="14872286" cy="1325753"/>
            <a:chOff x="0" y="0"/>
            <a:chExt cx="19829715" cy="176767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829707" cy="1767673"/>
            </a:xfrm>
            <a:custGeom>
              <a:avLst/>
              <a:gdLst/>
              <a:ahLst/>
              <a:cxnLst/>
              <a:rect r="r" b="b" t="t" l="l"/>
              <a:pathLst>
                <a:path h="1767673" w="19829707">
                  <a:moveTo>
                    <a:pt x="0" y="0"/>
                  </a:moveTo>
                  <a:lnTo>
                    <a:pt x="19829707" y="0"/>
                  </a:lnTo>
                  <a:lnTo>
                    <a:pt x="19829707" y="1767673"/>
                  </a:lnTo>
                  <a:lnTo>
                    <a:pt x="0" y="17676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604" t="0" r="39669" b="-22758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9829715" cy="176767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8399"/>
                </a:lnSpc>
              </a:pPr>
              <a:r>
                <a:rPr lang="en-US" sz="6999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Qualité du code</a:t>
              </a:r>
            </a:p>
          </p:txBody>
        </p:sp>
      </p:grpSp>
      <p:graphicFrame>
        <p:nvGraphicFramePr>
          <p:cNvPr name="Table 25" id="25"/>
          <p:cNvGraphicFramePr>
            <a:graphicFrameLocks noGrp="true"/>
          </p:cNvGraphicFramePr>
          <p:nvPr/>
        </p:nvGraphicFramePr>
        <p:xfrm>
          <a:off x="1028700" y="2354453"/>
          <a:ext cx="16230600" cy="6840474"/>
        </p:xfrm>
        <a:graphic>
          <a:graphicData uri="http://schemas.openxmlformats.org/drawingml/2006/table">
            <a:tbl>
              <a:tblPr/>
              <a:tblGrid>
                <a:gridCol w="8115300"/>
                <a:gridCol w="8115300"/>
              </a:tblGrid>
              <a:tr h="10919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Domaine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État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330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Architecture à amliorer, code à documenter, code propre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4096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Backend - Rust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Architecture hexagonale, code pas très propre, à supprimer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330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Backend - Go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Architecture hexagonale, code propre, à documenter et finir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4096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Client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Pas très propre, architecture à refactoriser, à documenter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3952084" y="-4090321"/>
            <a:ext cx="10365838" cy="18475204"/>
            <a:chOff x="0" y="0"/>
            <a:chExt cx="13821118" cy="246336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821156" cy="24633555"/>
            </a:xfrm>
            <a:custGeom>
              <a:avLst/>
              <a:gdLst/>
              <a:ahLst/>
              <a:cxnLst/>
              <a:rect r="r" b="b" t="t" l="l"/>
              <a:pathLst>
                <a:path h="24633555" w="13821156">
                  <a:moveTo>
                    <a:pt x="0" y="0"/>
                  </a:moveTo>
                  <a:lnTo>
                    <a:pt x="13821156" y="0"/>
                  </a:lnTo>
                  <a:lnTo>
                    <a:pt x="13821156" y="24633555"/>
                  </a:lnTo>
                  <a:lnTo>
                    <a:pt x="0" y="24633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873" t="-1350" r="-225516" b="-353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3997085" y="-4000138"/>
            <a:ext cx="10275837" cy="18287276"/>
            <a:chOff x="0" y="0"/>
            <a:chExt cx="13701116" cy="2438303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01140" cy="24382985"/>
            </a:xfrm>
            <a:custGeom>
              <a:avLst/>
              <a:gdLst/>
              <a:ahLst/>
              <a:cxnLst/>
              <a:rect r="r" b="b" t="t" l="l"/>
              <a:pathLst>
                <a:path h="24382985" w="13701140">
                  <a:moveTo>
                    <a:pt x="0" y="0"/>
                  </a:moveTo>
                  <a:lnTo>
                    <a:pt x="13701140" y="0"/>
                  </a:lnTo>
                  <a:lnTo>
                    <a:pt x="13701140" y="24382985"/>
                  </a:lnTo>
                  <a:lnTo>
                    <a:pt x="0" y="24382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16966" t="-3901" r="-46200" b="5233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679116" y="6689522"/>
            <a:ext cx="4324" cy="1438"/>
            <a:chOff x="0" y="0"/>
            <a:chExt cx="5766" cy="19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089038" y="7070398"/>
            <a:ext cx="43920" cy="12964"/>
            <a:chOff x="0" y="0"/>
            <a:chExt cx="58560" cy="172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135120" y="7083362"/>
            <a:ext cx="8639" cy="3600"/>
            <a:chOff x="0" y="0"/>
            <a:chExt cx="11519" cy="48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145922" y="7087676"/>
            <a:ext cx="10801" cy="5763"/>
            <a:chOff x="0" y="0"/>
            <a:chExt cx="14402" cy="76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54"/>
              <a:ext cx="14097" cy="7493"/>
            </a:xfrm>
            <a:custGeom>
              <a:avLst/>
              <a:gdLst/>
              <a:ahLst/>
              <a:cxnLst/>
              <a:rect r="r" b="b" t="t" l="l"/>
              <a:pathLst>
                <a:path h="7493" w="14097">
                  <a:moveTo>
                    <a:pt x="0" y="0"/>
                  </a:moveTo>
                  <a:cubicBezTo>
                    <a:pt x="0" y="2540"/>
                    <a:pt x="0" y="2540"/>
                    <a:pt x="0" y="2540"/>
                  </a:cubicBezTo>
                  <a:cubicBezTo>
                    <a:pt x="5588" y="2540"/>
                    <a:pt x="8509" y="5080"/>
                    <a:pt x="14097" y="7493"/>
                  </a:cubicBezTo>
                  <a:cubicBezTo>
                    <a:pt x="8509" y="4953"/>
                    <a:pt x="5588" y="241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679840" y="6697437"/>
            <a:ext cx="4324" cy="1438"/>
            <a:chOff x="0" y="0"/>
            <a:chExt cx="5766" cy="191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089038" y="7077599"/>
            <a:ext cx="43920" cy="12964"/>
            <a:chOff x="0" y="0"/>
            <a:chExt cx="58560" cy="1728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135120" y="7090562"/>
            <a:ext cx="8639" cy="3600"/>
            <a:chOff x="0" y="0"/>
            <a:chExt cx="11519" cy="480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5145922" y="7094877"/>
            <a:ext cx="10801" cy="5763"/>
            <a:chOff x="0" y="0"/>
            <a:chExt cx="14402" cy="76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254"/>
              <a:ext cx="14097" cy="7493"/>
            </a:xfrm>
            <a:custGeom>
              <a:avLst/>
              <a:gdLst/>
              <a:ahLst/>
              <a:cxnLst/>
              <a:rect r="r" b="b" t="t" l="l"/>
              <a:pathLst>
                <a:path h="7493" w="14097">
                  <a:moveTo>
                    <a:pt x="0" y="0"/>
                  </a:moveTo>
                  <a:cubicBezTo>
                    <a:pt x="0" y="2540"/>
                    <a:pt x="0" y="2540"/>
                    <a:pt x="0" y="2540"/>
                  </a:cubicBezTo>
                  <a:cubicBezTo>
                    <a:pt x="5588" y="2540"/>
                    <a:pt x="8509" y="5080"/>
                    <a:pt x="14097" y="7493"/>
                  </a:cubicBezTo>
                  <a:cubicBezTo>
                    <a:pt x="8509" y="4953"/>
                    <a:pt x="5588" y="241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707857" y="1028700"/>
            <a:ext cx="14872286" cy="1325753"/>
            <a:chOff x="0" y="0"/>
            <a:chExt cx="19829715" cy="176767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829707" cy="1767673"/>
            </a:xfrm>
            <a:custGeom>
              <a:avLst/>
              <a:gdLst/>
              <a:ahLst/>
              <a:cxnLst/>
              <a:rect r="r" b="b" t="t" l="l"/>
              <a:pathLst>
                <a:path h="1767673" w="19829707">
                  <a:moveTo>
                    <a:pt x="0" y="0"/>
                  </a:moveTo>
                  <a:lnTo>
                    <a:pt x="19829707" y="0"/>
                  </a:lnTo>
                  <a:lnTo>
                    <a:pt x="19829707" y="1767673"/>
                  </a:lnTo>
                  <a:lnTo>
                    <a:pt x="0" y="17676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604" t="0" r="39669" b="-22758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9829715" cy="176767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8399"/>
                </a:lnSpc>
              </a:pPr>
              <a:r>
                <a:rPr lang="en-US" sz="6999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Qualité de la documentation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2591617" y="3042083"/>
            <a:ext cx="13086772" cy="6216217"/>
          </a:xfrm>
          <a:custGeom>
            <a:avLst/>
            <a:gdLst/>
            <a:ahLst/>
            <a:cxnLst/>
            <a:rect r="r" b="b" t="t" l="l"/>
            <a:pathLst>
              <a:path h="6216217" w="13086772">
                <a:moveTo>
                  <a:pt x="0" y="0"/>
                </a:moveTo>
                <a:lnTo>
                  <a:pt x="13086773" y="0"/>
                </a:lnTo>
                <a:lnTo>
                  <a:pt x="13086773" y="6216217"/>
                </a:lnTo>
                <a:lnTo>
                  <a:pt x="0" y="62162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3952084" y="-4090321"/>
            <a:ext cx="10365838" cy="18475204"/>
            <a:chOff x="0" y="0"/>
            <a:chExt cx="13821118" cy="246336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821156" cy="24633555"/>
            </a:xfrm>
            <a:custGeom>
              <a:avLst/>
              <a:gdLst/>
              <a:ahLst/>
              <a:cxnLst/>
              <a:rect r="r" b="b" t="t" l="l"/>
              <a:pathLst>
                <a:path h="24633555" w="13821156">
                  <a:moveTo>
                    <a:pt x="0" y="0"/>
                  </a:moveTo>
                  <a:lnTo>
                    <a:pt x="13821156" y="0"/>
                  </a:lnTo>
                  <a:lnTo>
                    <a:pt x="13821156" y="24633555"/>
                  </a:lnTo>
                  <a:lnTo>
                    <a:pt x="0" y="24633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873" t="-1350" r="-225516" b="-353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3997085" y="-4000138"/>
            <a:ext cx="10275837" cy="18287276"/>
            <a:chOff x="0" y="0"/>
            <a:chExt cx="13701116" cy="2438303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01140" cy="24382985"/>
            </a:xfrm>
            <a:custGeom>
              <a:avLst/>
              <a:gdLst/>
              <a:ahLst/>
              <a:cxnLst/>
              <a:rect r="r" b="b" t="t" l="l"/>
              <a:pathLst>
                <a:path h="24382985" w="13701140">
                  <a:moveTo>
                    <a:pt x="0" y="0"/>
                  </a:moveTo>
                  <a:lnTo>
                    <a:pt x="13701140" y="0"/>
                  </a:lnTo>
                  <a:lnTo>
                    <a:pt x="13701140" y="24382985"/>
                  </a:lnTo>
                  <a:lnTo>
                    <a:pt x="0" y="24382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16966" t="-3901" r="-46200" b="5233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679116" y="6689522"/>
            <a:ext cx="4324" cy="1438"/>
            <a:chOff x="0" y="0"/>
            <a:chExt cx="5766" cy="19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089038" y="7070398"/>
            <a:ext cx="43920" cy="12964"/>
            <a:chOff x="0" y="0"/>
            <a:chExt cx="58560" cy="172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135120" y="7083362"/>
            <a:ext cx="8639" cy="3600"/>
            <a:chOff x="0" y="0"/>
            <a:chExt cx="11519" cy="48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145922" y="7087676"/>
            <a:ext cx="10801" cy="5763"/>
            <a:chOff x="0" y="0"/>
            <a:chExt cx="14402" cy="76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54"/>
              <a:ext cx="14097" cy="7493"/>
            </a:xfrm>
            <a:custGeom>
              <a:avLst/>
              <a:gdLst/>
              <a:ahLst/>
              <a:cxnLst/>
              <a:rect r="r" b="b" t="t" l="l"/>
              <a:pathLst>
                <a:path h="7493" w="14097">
                  <a:moveTo>
                    <a:pt x="0" y="0"/>
                  </a:moveTo>
                  <a:cubicBezTo>
                    <a:pt x="0" y="2540"/>
                    <a:pt x="0" y="2540"/>
                    <a:pt x="0" y="2540"/>
                  </a:cubicBezTo>
                  <a:cubicBezTo>
                    <a:pt x="5588" y="2540"/>
                    <a:pt x="8509" y="5080"/>
                    <a:pt x="14097" y="7493"/>
                  </a:cubicBezTo>
                  <a:cubicBezTo>
                    <a:pt x="8509" y="4953"/>
                    <a:pt x="5588" y="241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679840" y="6697437"/>
            <a:ext cx="4324" cy="1438"/>
            <a:chOff x="0" y="0"/>
            <a:chExt cx="5766" cy="191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089038" y="7077599"/>
            <a:ext cx="43920" cy="12964"/>
            <a:chOff x="0" y="0"/>
            <a:chExt cx="58560" cy="1728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135120" y="7090562"/>
            <a:ext cx="8639" cy="3600"/>
            <a:chOff x="0" y="0"/>
            <a:chExt cx="11519" cy="480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5145922" y="7094877"/>
            <a:ext cx="10801" cy="5763"/>
            <a:chOff x="0" y="0"/>
            <a:chExt cx="14402" cy="76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254"/>
              <a:ext cx="14097" cy="7493"/>
            </a:xfrm>
            <a:custGeom>
              <a:avLst/>
              <a:gdLst/>
              <a:ahLst/>
              <a:cxnLst/>
              <a:rect r="r" b="b" t="t" l="l"/>
              <a:pathLst>
                <a:path h="7493" w="14097">
                  <a:moveTo>
                    <a:pt x="0" y="0"/>
                  </a:moveTo>
                  <a:cubicBezTo>
                    <a:pt x="0" y="2540"/>
                    <a:pt x="0" y="2540"/>
                    <a:pt x="0" y="2540"/>
                  </a:cubicBezTo>
                  <a:cubicBezTo>
                    <a:pt x="5588" y="2540"/>
                    <a:pt x="8509" y="5080"/>
                    <a:pt x="14097" y="7493"/>
                  </a:cubicBezTo>
                  <a:cubicBezTo>
                    <a:pt x="8509" y="4953"/>
                    <a:pt x="5588" y="241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707857" y="1028700"/>
            <a:ext cx="14872286" cy="1325753"/>
            <a:chOff x="0" y="0"/>
            <a:chExt cx="19829715" cy="176767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829707" cy="1767673"/>
            </a:xfrm>
            <a:custGeom>
              <a:avLst/>
              <a:gdLst/>
              <a:ahLst/>
              <a:cxnLst/>
              <a:rect r="r" b="b" t="t" l="l"/>
              <a:pathLst>
                <a:path h="1767673" w="19829707">
                  <a:moveTo>
                    <a:pt x="0" y="0"/>
                  </a:moveTo>
                  <a:lnTo>
                    <a:pt x="19829707" y="0"/>
                  </a:lnTo>
                  <a:lnTo>
                    <a:pt x="19829707" y="1767673"/>
                  </a:lnTo>
                  <a:lnTo>
                    <a:pt x="0" y="17676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604" t="0" r="39669" b="-22758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9829715" cy="176767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8399"/>
                </a:lnSpc>
              </a:pPr>
              <a:r>
                <a:rPr lang="en-US" sz="6999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Situation individuel</a:t>
              </a:r>
            </a:p>
          </p:txBody>
        </p:sp>
      </p:grpSp>
      <p:graphicFrame>
        <p:nvGraphicFramePr>
          <p:cNvPr name="Table 25" id="25"/>
          <p:cNvGraphicFramePr>
            <a:graphicFrameLocks noGrp="true"/>
          </p:cNvGraphicFramePr>
          <p:nvPr/>
        </p:nvGraphicFramePr>
        <p:xfrm>
          <a:off x="1028700" y="2354453"/>
          <a:ext cx="16230600" cy="6915150"/>
        </p:xfrm>
        <a:graphic>
          <a:graphicData uri="http://schemas.openxmlformats.org/drawingml/2006/table">
            <a:tbl>
              <a:tblPr/>
              <a:tblGrid>
                <a:gridCol w="8115300"/>
                <a:gridCol w="8115300"/>
              </a:tblGrid>
              <a:tr h="109186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Personne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État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031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Christophe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Triste du décé de sa voiture, très prit par le stage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031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Gianni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Va plutôt bien, très prit par le stage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4088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Lou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Ses camarades d’Ascension lui manque, très prit par le stage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4088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Nicolas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Tout va bien, travaille un peu sur Ascension durant le stage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4088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Olivier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Blessé suite à un accident de moto, prit par le stage et fait du sport tous les jours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fade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3952084" y="-4090321"/>
            <a:ext cx="10365838" cy="18475204"/>
            <a:chOff x="0" y="0"/>
            <a:chExt cx="13821118" cy="246336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821156" cy="24633555"/>
            </a:xfrm>
            <a:custGeom>
              <a:avLst/>
              <a:gdLst/>
              <a:ahLst/>
              <a:cxnLst/>
              <a:rect r="r" b="b" t="t" l="l"/>
              <a:pathLst>
                <a:path h="24633555" w="13821156">
                  <a:moveTo>
                    <a:pt x="0" y="0"/>
                  </a:moveTo>
                  <a:lnTo>
                    <a:pt x="13821156" y="0"/>
                  </a:lnTo>
                  <a:lnTo>
                    <a:pt x="13821156" y="24633555"/>
                  </a:lnTo>
                  <a:lnTo>
                    <a:pt x="0" y="24633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873" t="-1350" r="-225516" b="-353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3997085" y="-4000138"/>
            <a:ext cx="10275837" cy="18287276"/>
            <a:chOff x="0" y="0"/>
            <a:chExt cx="13701116" cy="2438303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01140" cy="24382985"/>
            </a:xfrm>
            <a:custGeom>
              <a:avLst/>
              <a:gdLst/>
              <a:ahLst/>
              <a:cxnLst/>
              <a:rect r="r" b="b" t="t" l="l"/>
              <a:pathLst>
                <a:path h="24382985" w="13701140">
                  <a:moveTo>
                    <a:pt x="0" y="0"/>
                  </a:moveTo>
                  <a:lnTo>
                    <a:pt x="13701140" y="0"/>
                  </a:lnTo>
                  <a:lnTo>
                    <a:pt x="13701140" y="24382985"/>
                  </a:lnTo>
                  <a:lnTo>
                    <a:pt x="0" y="24382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16966" t="-3901" r="-46200" b="5233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679116" y="6689522"/>
            <a:ext cx="4324" cy="1438"/>
            <a:chOff x="0" y="0"/>
            <a:chExt cx="5766" cy="19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089038" y="7070398"/>
            <a:ext cx="43920" cy="12964"/>
            <a:chOff x="0" y="0"/>
            <a:chExt cx="58560" cy="172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135120" y="7083362"/>
            <a:ext cx="8639" cy="3600"/>
            <a:chOff x="0" y="0"/>
            <a:chExt cx="11519" cy="48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145922" y="7087676"/>
            <a:ext cx="10801" cy="5763"/>
            <a:chOff x="0" y="0"/>
            <a:chExt cx="14402" cy="76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54"/>
              <a:ext cx="14097" cy="7493"/>
            </a:xfrm>
            <a:custGeom>
              <a:avLst/>
              <a:gdLst/>
              <a:ahLst/>
              <a:cxnLst/>
              <a:rect r="r" b="b" t="t" l="l"/>
              <a:pathLst>
                <a:path h="7493" w="14097">
                  <a:moveTo>
                    <a:pt x="0" y="0"/>
                  </a:moveTo>
                  <a:cubicBezTo>
                    <a:pt x="0" y="2540"/>
                    <a:pt x="0" y="2540"/>
                    <a:pt x="0" y="2540"/>
                  </a:cubicBezTo>
                  <a:cubicBezTo>
                    <a:pt x="5588" y="2540"/>
                    <a:pt x="8509" y="5080"/>
                    <a:pt x="14097" y="7493"/>
                  </a:cubicBezTo>
                  <a:cubicBezTo>
                    <a:pt x="8509" y="4953"/>
                    <a:pt x="5588" y="241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679840" y="6697437"/>
            <a:ext cx="4324" cy="1438"/>
            <a:chOff x="0" y="0"/>
            <a:chExt cx="5766" cy="191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089038" y="7077599"/>
            <a:ext cx="43920" cy="12964"/>
            <a:chOff x="0" y="0"/>
            <a:chExt cx="58560" cy="1728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135120" y="7090562"/>
            <a:ext cx="8639" cy="3600"/>
            <a:chOff x="0" y="0"/>
            <a:chExt cx="11519" cy="480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5145922" y="7094877"/>
            <a:ext cx="10801" cy="5763"/>
            <a:chOff x="0" y="0"/>
            <a:chExt cx="14402" cy="76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254"/>
              <a:ext cx="14097" cy="7493"/>
            </a:xfrm>
            <a:custGeom>
              <a:avLst/>
              <a:gdLst/>
              <a:ahLst/>
              <a:cxnLst/>
              <a:rect r="r" b="b" t="t" l="l"/>
              <a:pathLst>
                <a:path h="7493" w="14097">
                  <a:moveTo>
                    <a:pt x="0" y="0"/>
                  </a:moveTo>
                  <a:cubicBezTo>
                    <a:pt x="0" y="2540"/>
                    <a:pt x="0" y="2540"/>
                    <a:pt x="0" y="2540"/>
                  </a:cubicBezTo>
                  <a:cubicBezTo>
                    <a:pt x="5588" y="2540"/>
                    <a:pt x="8509" y="5080"/>
                    <a:pt x="14097" y="7493"/>
                  </a:cubicBezTo>
                  <a:cubicBezTo>
                    <a:pt x="8509" y="4953"/>
                    <a:pt x="5588" y="241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707857" y="1028700"/>
            <a:ext cx="14872286" cy="1325753"/>
            <a:chOff x="0" y="0"/>
            <a:chExt cx="19829715" cy="176767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829707" cy="1767673"/>
            </a:xfrm>
            <a:custGeom>
              <a:avLst/>
              <a:gdLst/>
              <a:ahLst/>
              <a:cxnLst/>
              <a:rect r="r" b="b" t="t" l="l"/>
              <a:pathLst>
                <a:path h="1767673" w="19829707">
                  <a:moveTo>
                    <a:pt x="0" y="0"/>
                  </a:moveTo>
                  <a:lnTo>
                    <a:pt x="19829707" y="0"/>
                  </a:lnTo>
                  <a:lnTo>
                    <a:pt x="19829707" y="1767673"/>
                  </a:lnTo>
                  <a:lnTo>
                    <a:pt x="0" y="17676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604" t="0" r="39669" b="-22758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9829715" cy="176767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8399"/>
                </a:lnSpc>
              </a:pPr>
              <a:r>
                <a:rPr lang="en-US" sz="6999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Période de risques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698861" y="3342704"/>
            <a:ext cx="14872286" cy="3601593"/>
            <a:chOff x="0" y="0"/>
            <a:chExt cx="19829715" cy="480212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9829707" cy="4802127"/>
            </a:xfrm>
            <a:custGeom>
              <a:avLst/>
              <a:gdLst/>
              <a:ahLst/>
              <a:cxnLst/>
              <a:rect r="r" b="b" t="t" l="l"/>
              <a:pathLst>
                <a:path h="4802127" w="19829707">
                  <a:moveTo>
                    <a:pt x="0" y="0"/>
                  </a:moveTo>
                  <a:lnTo>
                    <a:pt x="19829707" y="0"/>
                  </a:lnTo>
                  <a:lnTo>
                    <a:pt x="19829707" y="4802127"/>
                  </a:lnTo>
                  <a:lnTo>
                    <a:pt x="0" y="480212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604" t="0" r="39669" b="-2058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19829715" cy="4811649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Stage:</a:t>
              </a:r>
              <a:r>
                <a:rPr lang="en-US" sz="45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avril à août → 0 jours de travail par semaine</a:t>
              </a:r>
            </a:p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Départ à l’étranger:</a:t>
              </a:r>
              <a:r>
                <a:rPr lang="en-US" sz="45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septembre → besoin d’un possible temps d’adaptation</a:t>
              </a:r>
            </a:p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4ème année:</a:t>
              </a:r>
              <a:r>
                <a:rPr lang="en-US" sz="45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septembre 2026 à juin 2027 → 2 jours de travail par semaine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3952084" y="-4090321"/>
            <a:ext cx="10365838" cy="18475204"/>
            <a:chOff x="0" y="0"/>
            <a:chExt cx="13821118" cy="246336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821156" cy="24633555"/>
            </a:xfrm>
            <a:custGeom>
              <a:avLst/>
              <a:gdLst/>
              <a:ahLst/>
              <a:cxnLst/>
              <a:rect r="r" b="b" t="t" l="l"/>
              <a:pathLst>
                <a:path h="24633555" w="13821156">
                  <a:moveTo>
                    <a:pt x="0" y="0"/>
                  </a:moveTo>
                  <a:lnTo>
                    <a:pt x="13821156" y="0"/>
                  </a:lnTo>
                  <a:lnTo>
                    <a:pt x="13821156" y="24633555"/>
                  </a:lnTo>
                  <a:lnTo>
                    <a:pt x="0" y="24633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873" t="-1350" r="-225516" b="-353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3997085" y="-4000138"/>
            <a:ext cx="10275837" cy="18287276"/>
            <a:chOff x="0" y="0"/>
            <a:chExt cx="13701116" cy="2438303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01140" cy="24382985"/>
            </a:xfrm>
            <a:custGeom>
              <a:avLst/>
              <a:gdLst/>
              <a:ahLst/>
              <a:cxnLst/>
              <a:rect r="r" b="b" t="t" l="l"/>
              <a:pathLst>
                <a:path h="24382985" w="13701140">
                  <a:moveTo>
                    <a:pt x="0" y="0"/>
                  </a:moveTo>
                  <a:lnTo>
                    <a:pt x="13701140" y="0"/>
                  </a:lnTo>
                  <a:lnTo>
                    <a:pt x="13701140" y="24382985"/>
                  </a:lnTo>
                  <a:lnTo>
                    <a:pt x="0" y="24382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16966" t="-3901" r="-46200" b="5233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679116" y="6689522"/>
            <a:ext cx="4324" cy="1438"/>
            <a:chOff x="0" y="0"/>
            <a:chExt cx="5766" cy="19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089038" y="7070398"/>
            <a:ext cx="43920" cy="12964"/>
            <a:chOff x="0" y="0"/>
            <a:chExt cx="58560" cy="172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135120" y="7083362"/>
            <a:ext cx="8639" cy="3600"/>
            <a:chOff x="0" y="0"/>
            <a:chExt cx="11519" cy="48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145922" y="7087676"/>
            <a:ext cx="10801" cy="5763"/>
            <a:chOff x="0" y="0"/>
            <a:chExt cx="14402" cy="76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54"/>
              <a:ext cx="14097" cy="7493"/>
            </a:xfrm>
            <a:custGeom>
              <a:avLst/>
              <a:gdLst/>
              <a:ahLst/>
              <a:cxnLst/>
              <a:rect r="r" b="b" t="t" l="l"/>
              <a:pathLst>
                <a:path h="7493" w="14097">
                  <a:moveTo>
                    <a:pt x="0" y="0"/>
                  </a:moveTo>
                  <a:cubicBezTo>
                    <a:pt x="0" y="2540"/>
                    <a:pt x="0" y="2540"/>
                    <a:pt x="0" y="2540"/>
                  </a:cubicBezTo>
                  <a:cubicBezTo>
                    <a:pt x="5588" y="2540"/>
                    <a:pt x="8509" y="5080"/>
                    <a:pt x="14097" y="7493"/>
                  </a:cubicBezTo>
                  <a:cubicBezTo>
                    <a:pt x="8509" y="4953"/>
                    <a:pt x="5588" y="241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679840" y="6697437"/>
            <a:ext cx="4324" cy="1438"/>
            <a:chOff x="0" y="0"/>
            <a:chExt cx="5766" cy="191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089038" y="7077599"/>
            <a:ext cx="43920" cy="12964"/>
            <a:chOff x="0" y="0"/>
            <a:chExt cx="58560" cy="1728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135120" y="7090562"/>
            <a:ext cx="8639" cy="3600"/>
            <a:chOff x="0" y="0"/>
            <a:chExt cx="11519" cy="480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5145922" y="7094877"/>
            <a:ext cx="10801" cy="5763"/>
            <a:chOff x="0" y="0"/>
            <a:chExt cx="14402" cy="76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254"/>
              <a:ext cx="14097" cy="7493"/>
            </a:xfrm>
            <a:custGeom>
              <a:avLst/>
              <a:gdLst/>
              <a:ahLst/>
              <a:cxnLst/>
              <a:rect r="r" b="b" t="t" l="l"/>
              <a:pathLst>
                <a:path h="7493" w="14097">
                  <a:moveTo>
                    <a:pt x="0" y="0"/>
                  </a:moveTo>
                  <a:cubicBezTo>
                    <a:pt x="0" y="2540"/>
                    <a:pt x="0" y="2540"/>
                    <a:pt x="0" y="2540"/>
                  </a:cubicBezTo>
                  <a:cubicBezTo>
                    <a:pt x="5588" y="2540"/>
                    <a:pt x="8509" y="5080"/>
                    <a:pt x="14097" y="7493"/>
                  </a:cubicBezTo>
                  <a:cubicBezTo>
                    <a:pt x="8509" y="4953"/>
                    <a:pt x="5588" y="241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707857" y="1028700"/>
            <a:ext cx="14872286" cy="1325753"/>
            <a:chOff x="0" y="0"/>
            <a:chExt cx="19829715" cy="176767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829707" cy="1767673"/>
            </a:xfrm>
            <a:custGeom>
              <a:avLst/>
              <a:gdLst/>
              <a:ahLst/>
              <a:cxnLst/>
              <a:rect r="r" b="b" t="t" l="l"/>
              <a:pathLst>
                <a:path h="1767673" w="19829707">
                  <a:moveTo>
                    <a:pt x="0" y="0"/>
                  </a:moveTo>
                  <a:lnTo>
                    <a:pt x="19829707" y="0"/>
                  </a:lnTo>
                  <a:lnTo>
                    <a:pt x="19829707" y="1767673"/>
                  </a:lnTo>
                  <a:lnTo>
                    <a:pt x="0" y="17676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604" t="0" r="39669" b="-22758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9829715" cy="176767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8399"/>
                </a:lnSpc>
              </a:pPr>
              <a:r>
                <a:rPr lang="en-US" sz="6999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REX de Piscine</a:t>
              </a:r>
            </a:p>
          </p:txBody>
        </p:sp>
      </p:grpSp>
      <p:graphicFrame>
        <p:nvGraphicFramePr>
          <p:cNvPr name="Table 25" id="25"/>
          <p:cNvGraphicFramePr>
            <a:graphicFrameLocks noGrp="true"/>
          </p:cNvGraphicFramePr>
          <p:nvPr/>
        </p:nvGraphicFramePr>
        <p:xfrm>
          <a:off x="1019704" y="3071812"/>
          <a:ext cx="16230600" cy="3609975"/>
        </p:xfrm>
        <a:graphic>
          <a:graphicData uri="http://schemas.openxmlformats.org/drawingml/2006/table">
            <a:tbl>
              <a:tblPr/>
              <a:tblGrid>
                <a:gridCol w="8115300"/>
                <a:gridCol w="8115300"/>
              </a:tblGrid>
              <a:tr h="10477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Points positifs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Points négatifs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25">
                <a:tc>
                  <a:txBody>
                    <a:bodyPr anchor="t" rtlCol="false"/>
                    <a:lstStyle/>
                    <a:p>
                      <a:pPr algn="l" marL="647700" indent="-323850" lvl="1">
                        <a:lnSpc>
                          <a:spcPts val="42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Amélioration de la vision produit</a:t>
                      </a:r>
                      <a:endParaRPr lang="en-US" sz="1100"/>
                    </a:p>
                    <a:p>
                      <a:pPr algn="l" marL="647700" indent="-323850" lvl="1">
                        <a:lnSpc>
                          <a:spcPts val="4200"/>
                        </a:lnSpc>
                        <a:buFont typeface="Arial"/>
                        <a:buChar char="•"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Changement du langage du back-end</a:t>
                      </a:r>
                    </a:p>
                    <a:p>
                      <a:pPr algn="l" marL="647700" indent="-323850" lvl="1">
                        <a:lnSpc>
                          <a:spcPts val="4200"/>
                        </a:lnSpc>
                        <a:buFont typeface="Arial"/>
                        <a:buChar char="•"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Maitrise de nouvelles technologies (Média Pipe, MinIO, RabbitMQ, Flutter, ...)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647700" indent="-323850" lvl="1">
                        <a:lnSpc>
                          <a:spcPts val="42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Contrainte d’utiliser de l’IA pour le code</a:t>
                      </a:r>
                      <a:endParaRPr lang="en-US" sz="1100"/>
                    </a:p>
                    <a:p>
                      <a:pPr algn="l" marL="647700" indent="-323850" lvl="1">
                        <a:lnSpc>
                          <a:spcPts val="4200"/>
                        </a:lnSpc>
                        <a:buFont typeface="Arial"/>
                        <a:buChar char="•"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Organisation de la piscine parfois floue</a:t>
                      </a:r>
                    </a:p>
                    <a:p>
                      <a:pPr algn="l" marL="647700" indent="-323850" lvl="1">
                        <a:lnSpc>
                          <a:spcPts val="4200"/>
                        </a:lnSpc>
                        <a:buFont typeface="Arial"/>
                        <a:buChar char="•"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Ratio documentation/administratif et code pas équilibré 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26" id="26"/>
          <p:cNvGraphicFramePr>
            <a:graphicFrameLocks noGrp="true"/>
          </p:cNvGraphicFramePr>
          <p:nvPr/>
        </p:nvGraphicFramePr>
        <p:xfrm>
          <a:off x="4246548" y="8239125"/>
          <a:ext cx="9776912" cy="1019175"/>
        </p:xfrm>
        <a:graphic>
          <a:graphicData uri="http://schemas.openxmlformats.org/drawingml/2006/table">
            <a:tbl>
              <a:tblPr/>
              <a:tblGrid>
                <a:gridCol w="9776912"/>
              </a:tblGrid>
              <a:tr h="101917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Plus de détails sont disponible dans notre document.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fade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506882" y="-296637"/>
            <a:ext cx="19295278" cy="10865520"/>
            <a:chOff x="0" y="0"/>
            <a:chExt cx="25727038" cy="144873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727025" cy="14487398"/>
            </a:xfrm>
            <a:custGeom>
              <a:avLst/>
              <a:gdLst/>
              <a:ahLst/>
              <a:cxnLst/>
              <a:rect r="r" b="b" t="t" l="l"/>
              <a:pathLst>
                <a:path h="14487398" w="25727025">
                  <a:moveTo>
                    <a:pt x="0" y="0"/>
                  </a:moveTo>
                  <a:lnTo>
                    <a:pt x="25727025" y="0"/>
                  </a:lnTo>
                  <a:lnTo>
                    <a:pt x="25727025" y="14487398"/>
                  </a:lnTo>
                  <a:lnTo>
                    <a:pt x="0" y="144873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2378" t="2613" r="2559" b="244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724" y="-5039"/>
            <a:ext cx="18311755" cy="10298163"/>
            <a:chOff x="0" y="0"/>
            <a:chExt cx="24415674" cy="1373088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15623" cy="13730860"/>
            </a:xfrm>
            <a:custGeom>
              <a:avLst/>
              <a:gdLst/>
              <a:ahLst/>
              <a:cxnLst/>
              <a:rect r="r" b="b" t="t" l="l"/>
              <a:pathLst>
                <a:path h="13730860" w="24415623">
                  <a:moveTo>
                    <a:pt x="0" y="0"/>
                  </a:moveTo>
                  <a:lnTo>
                    <a:pt x="24415623" y="0"/>
                  </a:lnTo>
                  <a:lnTo>
                    <a:pt x="24415623" y="13730860"/>
                  </a:lnTo>
                  <a:lnTo>
                    <a:pt x="0" y="13730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1109" t="0" r="-6578" b="-769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679116" y="6689522"/>
            <a:ext cx="4324" cy="1438"/>
            <a:chOff x="0" y="0"/>
            <a:chExt cx="5766" cy="19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089038" y="7070398"/>
            <a:ext cx="43920" cy="12964"/>
            <a:chOff x="0" y="0"/>
            <a:chExt cx="58560" cy="172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135120" y="7083362"/>
            <a:ext cx="8639" cy="3600"/>
            <a:chOff x="0" y="0"/>
            <a:chExt cx="11519" cy="48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145922" y="7087676"/>
            <a:ext cx="10801" cy="5763"/>
            <a:chOff x="0" y="0"/>
            <a:chExt cx="14402" cy="76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54"/>
              <a:ext cx="14097" cy="7493"/>
            </a:xfrm>
            <a:custGeom>
              <a:avLst/>
              <a:gdLst/>
              <a:ahLst/>
              <a:cxnLst/>
              <a:rect r="r" b="b" t="t" l="l"/>
              <a:pathLst>
                <a:path h="7493" w="14097">
                  <a:moveTo>
                    <a:pt x="0" y="0"/>
                  </a:moveTo>
                  <a:cubicBezTo>
                    <a:pt x="0" y="2540"/>
                    <a:pt x="0" y="2540"/>
                    <a:pt x="0" y="2540"/>
                  </a:cubicBezTo>
                  <a:cubicBezTo>
                    <a:pt x="5588" y="2540"/>
                    <a:pt x="8509" y="5080"/>
                    <a:pt x="14097" y="7493"/>
                  </a:cubicBezTo>
                  <a:cubicBezTo>
                    <a:pt x="8509" y="4953"/>
                    <a:pt x="5588" y="241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679840" y="6697437"/>
            <a:ext cx="4324" cy="1438"/>
            <a:chOff x="0" y="0"/>
            <a:chExt cx="5766" cy="191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089038" y="7077599"/>
            <a:ext cx="43920" cy="12964"/>
            <a:chOff x="0" y="0"/>
            <a:chExt cx="58560" cy="1728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135120" y="7090562"/>
            <a:ext cx="8639" cy="3600"/>
            <a:chOff x="0" y="0"/>
            <a:chExt cx="11519" cy="480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5145922" y="7094877"/>
            <a:ext cx="10801" cy="5763"/>
            <a:chOff x="0" y="0"/>
            <a:chExt cx="14402" cy="76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254"/>
              <a:ext cx="14097" cy="7493"/>
            </a:xfrm>
            <a:custGeom>
              <a:avLst/>
              <a:gdLst/>
              <a:ahLst/>
              <a:cxnLst/>
              <a:rect r="r" b="b" t="t" l="l"/>
              <a:pathLst>
                <a:path h="7493" w="14097">
                  <a:moveTo>
                    <a:pt x="0" y="0"/>
                  </a:moveTo>
                  <a:cubicBezTo>
                    <a:pt x="0" y="2540"/>
                    <a:pt x="0" y="2540"/>
                    <a:pt x="0" y="2540"/>
                  </a:cubicBezTo>
                  <a:cubicBezTo>
                    <a:pt x="5588" y="2540"/>
                    <a:pt x="8509" y="5080"/>
                    <a:pt x="14097" y="7493"/>
                  </a:cubicBezTo>
                  <a:cubicBezTo>
                    <a:pt x="8509" y="4953"/>
                    <a:pt x="5588" y="241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572474" y="1028700"/>
            <a:ext cx="2855705" cy="3336041"/>
            <a:chOff x="0" y="0"/>
            <a:chExt cx="3807607" cy="444805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807607" cy="3807607"/>
            </a:xfrm>
            <a:custGeom>
              <a:avLst/>
              <a:gdLst/>
              <a:ahLst/>
              <a:cxnLst/>
              <a:rect r="r" b="b" t="t" l="l"/>
              <a:pathLst>
                <a:path h="3807607" w="3807607">
                  <a:moveTo>
                    <a:pt x="0" y="0"/>
                  </a:moveTo>
                  <a:lnTo>
                    <a:pt x="3807607" y="0"/>
                  </a:lnTo>
                  <a:lnTo>
                    <a:pt x="3807607" y="3807607"/>
                  </a:lnTo>
                  <a:lnTo>
                    <a:pt x="0" y="38076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0" y="3714892"/>
              <a:ext cx="3807607" cy="7331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92"/>
                </a:lnSpc>
              </a:pPr>
              <a:r>
                <a:rPr lang="en-US" sz="1827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Notre communautée</a:t>
              </a:r>
            </a:p>
            <a:p>
              <a:pPr algn="ctr">
                <a:lnSpc>
                  <a:spcPts val="2192"/>
                </a:lnSpc>
              </a:pPr>
              <a:r>
                <a:rPr lang="en-US" sz="1827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Discord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557699" y="5926099"/>
            <a:ext cx="2885257" cy="3332201"/>
            <a:chOff x="0" y="0"/>
            <a:chExt cx="3847009" cy="444293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3844" y="0"/>
              <a:ext cx="3819321" cy="3819321"/>
            </a:xfrm>
            <a:custGeom>
              <a:avLst/>
              <a:gdLst/>
              <a:ahLst/>
              <a:cxnLst/>
              <a:rect r="r" b="b" t="t" l="l"/>
              <a:pathLst>
                <a:path h="3819321" w="3819321">
                  <a:moveTo>
                    <a:pt x="0" y="0"/>
                  </a:moveTo>
                  <a:lnTo>
                    <a:pt x="3819321" y="0"/>
                  </a:lnTo>
                  <a:lnTo>
                    <a:pt x="3819321" y="3819321"/>
                  </a:lnTo>
                  <a:lnTo>
                    <a:pt x="0" y="38193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0" y="3692561"/>
              <a:ext cx="3847009" cy="7503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15"/>
                </a:lnSpc>
              </a:pPr>
              <a:r>
                <a:rPr lang="en-US" sz="1846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Notre organisation</a:t>
              </a:r>
            </a:p>
            <a:p>
              <a:pPr algn="ctr">
                <a:lnSpc>
                  <a:spcPts val="2215"/>
                </a:lnSpc>
              </a:pPr>
              <a:r>
                <a:rPr lang="en-US" sz="1846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GitHub</a:t>
              </a: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5208033" y="7429500"/>
            <a:ext cx="2384096" cy="2384096"/>
          </a:xfrm>
          <a:custGeom>
            <a:avLst/>
            <a:gdLst/>
            <a:ahLst/>
            <a:cxnLst/>
            <a:rect r="r" b="b" t="t" l="l"/>
            <a:pathLst>
              <a:path h="2384096" w="2384096">
                <a:moveTo>
                  <a:pt x="0" y="0"/>
                </a:moveTo>
                <a:lnTo>
                  <a:pt x="2384096" y="0"/>
                </a:lnTo>
                <a:lnTo>
                  <a:pt x="2384096" y="2384096"/>
                </a:lnTo>
                <a:lnTo>
                  <a:pt x="0" y="23840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2015280" y="1028700"/>
            <a:ext cx="8769601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Merci.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015280" y="3076575"/>
            <a:ext cx="8769601" cy="412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Hésitez pas à nous suivre !</a:t>
            </a:r>
          </a:p>
          <a:p>
            <a:pPr algn="ctr">
              <a:lnSpc>
                <a:spcPts val="3600"/>
              </a:lnSpc>
            </a:pPr>
          </a:p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Si vous avez des questions hésitez pas à contacter nos membres :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olivier.pouech@epitech.eu (CEO)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gianni.tuero@epitech.eu (chef de projet)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nicolas.toro@epitech.eu (chef d’équipe) 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christophe.vandevoir@epitech.eu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lou.pellegrino@epitech.eu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DAHHXx8FUiI</dc:identifier>
  <dcterms:modified xsi:type="dcterms:W3CDTF">2011-08-01T06:04:30Z</dcterms:modified>
  <cp:revision>1</cp:revision>
  <dc:title>Ascension - Suivi EIP 1</dc:title>
</cp:coreProperties>
</file>